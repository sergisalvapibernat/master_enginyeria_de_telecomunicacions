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62850"/>
  <p:notesSz cx="10693400" cy="7562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02847" y="2010410"/>
            <a:ext cx="6887705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24345" y="1163066"/>
            <a:ext cx="4044708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89576" y="2352547"/>
            <a:ext cx="7714246" cy="3390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86205" marR="5080" indent="-137414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Introduction to Web &amp; Mobile </a:t>
            </a:r>
            <a:r>
              <a:rPr dirty="0" spc="-1085"/>
              <a:t> </a:t>
            </a:r>
            <a:r>
              <a:rPr dirty="0" spc="-5"/>
              <a:t>App</a:t>
            </a:r>
            <a:r>
              <a:rPr dirty="0" spc="-10"/>
              <a:t> </a:t>
            </a:r>
            <a:r>
              <a:rPr dirty="0" spc="-5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08025" y="4518152"/>
            <a:ext cx="319532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10">
                <a:latin typeface="Times New Roman"/>
                <a:cs typeface="Times New Roman"/>
              </a:rPr>
              <a:t>Juan-Luis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Gorricho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1865" y="1163066"/>
            <a:ext cx="278955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349500"/>
            <a:ext cx="6635115" cy="4099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6235" algn="l"/>
              </a:tabLst>
            </a:pPr>
            <a:r>
              <a:rPr dirty="0" sz="3200" spc="-5">
                <a:latin typeface="Times New Roman"/>
                <a:cs typeface="Times New Roman"/>
              </a:rPr>
              <a:t>Goal: to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learn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those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5" b="1">
                <a:latin typeface="Times New Roman"/>
                <a:cs typeface="Times New Roman"/>
              </a:rPr>
              <a:t>basic</a:t>
            </a:r>
            <a:r>
              <a:rPr dirty="0" sz="3200" spc="5" b="1">
                <a:latin typeface="Times New Roman"/>
                <a:cs typeface="Times New Roman"/>
              </a:rPr>
              <a:t> </a:t>
            </a:r>
            <a:r>
              <a:rPr dirty="0" sz="3200" spc="-5" b="1">
                <a:latin typeface="Times New Roman"/>
                <a:cs typeface="Times New Roman"/>
              </a:rPr>
              <a:t>tools</a:t>
            </a:r>
            <a:r>
              <a:rPr dirty="0" sz="3200" spc="5" b="1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for the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 spc="-5" i="1">
                <a:latin typeface="Times New Roman"/>
                <a:cs typeface="Times New Roman"/>
              </a:rPr>
              <a:t>design and implementation</a:t>
            </a:r>
            <a:r>
              <a:rPr dirty="0" sz="3200" spc="-10" i="1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of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web </a:t>
            </a:r>
            <a:r>
              <a:rPr dirty="0" sz="3200" spc="-5">
                <a:latin typeface="Times New Roman"/>
                <a:cs typeface="Times New Roman"/>
              </a:rPr>
              <a:t> applications using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HTTP for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 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client/server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communication.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Main topics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to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work on:</a:t>
            </a:r>
            <a:endParaRPr sz="32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dirty="0" sz="2800" spc="-5">
                <a:latin typeface="Times New Roman"/>
                <a:cs typeface="Times New Roman"/>
              </a:rPr>
              <a:t>Classical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web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applications</a:t>
            </a:r>
            <a:endParaRPr sz="28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dirty="0" sz="2800" spc="-5">
                <a:latin typeface="Times New Roman"/>
                <a:cs typeface="Times New Roman"/>
              </a:rPr>
              <a:t>Interactive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applications</a:t>
            </a:r>
            <a:endParaRPr sz="28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dirty="0" sz="2800" spc="-5">
                <a:latin typeface="Times New Roman"/>
                <a:cs typeface="Times New Roman"/>
              </a:rPr>
              <a:t>Mobile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applications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6729" y="1163066"/>
            <a:ext cx="267906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Main</a:t>
            </a:r>
            <a:r>
              <a:rPr dirty="0" spc="-75"/>
              <a:t> </a:t>
            </a:r>
            <a:r>
              <a:rPr dirty="0" spc="-5"/>
              <a:t>topics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286254"/>
            <a:ext cx="4803140" cy="3775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200" spc="-5">
                <a:latin typeface="Times New Roman"/>
                <a:cs typeface="Times New Roman"/>
              </a:rPr>
              <a:t>Web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applications:</a:t>
            </a:r>
            <a:endParaRPr sz="2200">
              <a:latin typeface="Times New Roman"/>
              <a:cs typeface="Times New Roman"/>
            </a:endParaRPr>
          </a:p>
          <a:p>
            <a:pPr lvl="1" marL="755015" indent="-286385">
              <a:lnSpc>
                <a:spcPct val="100000"/>
              </a:lnSpc>
              <a:spcBef>
                <a:spcPts val="10"/>
              </a:spcBef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Times New Roman"/>
                <a:cs typeface="Times New Roman"/>
              </a:rPr>
              <a:t>Servlets</a:t>
            </a:r>
            <a:endParaRPr sz="20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Times New Roman"/>
                <a:cs typeface="Times New Roman"/>
              </a:rPr>
              <a:t>Persistence</a:t>
            </a:r>
            <a:endParaRPr sz="2000">
              <a:latin typeface="Times New Roman"/>
              <a:cs typeface="Times New Roman"/>
            </a:endParaRPr>
          </a:p>
          <a:p>
            <a:pPr lvl="1" marL="755015" indent="-285750">
              <a:lnSpc>
                <a:spcPts val="2395"/>
              </a:lnSpc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Times New Roman"/>
                <a:cs typeface="Times New Roman"/>
              </a:rPr>
              <a:t>MVC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pattern</a:t>
            </a:r>
            <a:endParaRPr sz="2000">
              <a:latin typeface="Times New Roman"/>
              <a:cs typeface="Times New Roman"/>
            </a:endParaRPr>
          </a:p>
          <a:p>
            <a:pPr marL="354965" indent="-342900">
              <a:lnSpc>
                <a:spcPts val="2635"/>
              </a:lnSpc>
              <a:buChar char="•"/>
              <a:tabLst>
                <a:tab pos="354965" algn="l"/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Interactive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applications:</a:t>
            </a:r>
            <a:endParaRPr sz="22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spcBef>
                <a:spcPts val="5"/>
              </a:spcBef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Times New Roman"/>
                <a:cs typeface="Times New Roman"/>
              </a:rPr>
              <a:t>Polling/pushing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options</a:t>
            </a:r>
            <a:endParaRPr sz="20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dirty="0" sz="2000" spc="-10">
                <a:latin typeface="Times New Roman"/>
                <a:cs typeface="Times New Roman"/>
              </a:rPr>
              <a:t>Publisher/subscriber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pattern</a:t>
            </a:r>
            <a:endParaRPr sz="2000">
              <a:latin typeface="Times New Roman"/>
              <a:cs typeface="Times New Roman"/>
            </a:endParaRPr>
          </a:p>
          <a:p>
            <a:pPr lvl="1" marL="755015" indent="-285750">
              <a:lnSpc>
                <a:spcPts val="2395"/>
              </a:lnSpc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Times New Roman"/>
                <a:cs typeface="Times New Roman"/>
              </a:rPr>
              <a:t>RESTful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web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services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WebSockets</a:t>
            </a:r>
            <a:endParaRPr sz="2000">
              <a:latin typeface="Times New Roman"/>
              <a:cs typeface="Times New Roman"/>
            </a:endParaRPr>
          </a:p>
          <a:p>
            <a:pPr marL="354965" indent="-342900">
              <a:lnSpc>
                <a:spcPts val="2635"/>
              </a:lnSpc>
              <a:buChar char="•"/>
              <a:tabLst>
                <a:tab pos="354965" algn="l"/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Mobile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applications:</a:t>
            </a:r>
            <a:endParaRPr sz="22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spcBef>
                <a:spcPts val="10"/>
              </a:spcBef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Times New Roman"/>
                <a:cs typeface="Times New Roman"/>
              </a:rPr>
              <a:t>User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interface</a:t>
            </a:r>
            <a:endParaRPr sz="20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Times New Roman"/>
                <a:cs typeface="Times New Roman"/>
              </a:rPr>
              <a:t>Communication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with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a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remote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server</a:t>
            </a:r>
            <a:endParaRPr sz="2000">
              <a:latin typeface="Times New Roman"/>
              <a:cs typeface="Times New Roman"/>
            </a:endParaRPr>
          </a:p>
          <a:p>
            <a:pPr lvl="1" marL="755015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dirty="0" sz="2000" spc="-5">
                <a:latin typeface="Times New Roman"/>
                <a:cs typeface="Times New Roman"/>
              </a:rPr>
              <a:t>Local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persistance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7569" y="1163066"/>
            <a:ext cx="447992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Laboratory</a:t>
            </a:r>
            <a:r>
              <a:rPr dirty="0" spc="-35"/>
              <a:t> </a:t>
            </a:r>
            <a:r>
              <a:rPr dirty="0" spc="-5"/>
              <a:t>sessions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7849" y="1968829"/>
            <a:ext cx="7903209" cy="488188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Required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software: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1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Java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SE </a:t>
            </a:r>
            <a:r>
              <a:rPr dirty="0" sz="2800">
                <a:latin typeface="Times New Roman"/>
                <a:cs typeface="Times New Roman"/>
              </a:rPr>
              <a:t>(JDK8)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(version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8!!!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otherwise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NetBeans</a:t>
            </a:r>
            <a:endParaRPr sz="2800">
              <a:latin typeface="Times New Roman"/>
              <a:cs typeface="Times New Roman"/>
            </a:endParaRPr>
          </a:p>
          <a:p>
            <a:pPr marL="755650">
              <a:lnSpc>
                <a:spcPct val="100000"/>
              </a:lnSpc>
            </a:pPr>
            <a:r>
              <a:rPr dirty="0" sz="2800">
                <a:latin typeface="Times New Roman"/>
                <a:cs typeface="Times New Roman"/>
              </a:rPr>
              <a:t>8.2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doesn't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work)</a:t>
            </a:r>
            <a:endParaRPr sz="2800">
              <a:latin typeface="Times New Roman"/>
              <a:cs typeface="Times New Roman"/>
            </a:endParaRPr>
          </a:p>
          <a:p>
            <a:pPr marL="755650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dirty="0" sz="2800" spc="-5">
                <a:latin typeface="Times New Roman"/>
                <a:cs typeface="Times New Roman"/>
              </a:rPr>
              <a:t>NetBeans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IDE 8.2,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J2EE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edition</a:t>
            </a:r>
            <a:endParaRPr sz="2800">
              <a:latin typeface="Times New Roman"/>
              <a:cs typeface="Times New Roman"/>
            </a:endParaRPr>
          </a:p>
          <a:p>
            <a:pPr marL="755650" marR="5080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dirty="0" sz="2800">
                <a:latin typeface="Times New Roman"/>
                <a:cs typeface="Times New Roman"/>
              </a:rPr>
              <a:t>MySQL 5.7 Community Server (version 5.7!!!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otherwise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ddbb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connection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from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NetBeans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8.2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doesn't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work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(install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only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server!!!)</a:t>
            </a:r>
            <a:endParaRPr sz="2800">
              <a:latin typeface="Times New Roman"/>
              <a:cs typeface="Times New Roman"/>
            </a:endParaRPr>
          </a:p>
          <a:p>
            <a:pPr marL="755650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dirty="0" sz="2800">
                <a:latin typeface="Times New Roman"/>
                <a:cs typeface="Times New Roman"/>
              </a:rPr>
              <a:t>MySQL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Workbench,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any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version</a:t>
            </a:r>
            <a:endParaRPr sz="2800">
              <a:latin typeface="Times New Roman"/>
              <a:cs typeface="Times New Roman"/>
            </a:endParaRPr>
          </a:p>
          <a:p>
            <a:pPr marL="755650" marR="269875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dirty="0" sz="2800">
                <a:latin typeface="Times New Roman"/>
                <a:cs typeface="Times New Roman"/>
              </a:rPr>
              <a:t>Android Studio IDE 2.3.3. and emulator-API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21/22/23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(otherwise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websocket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library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problem)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0113" y="1163066"/>
            <a:ext cx="3392804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Required</a:t>
            </a:r>
            <a:r>
              <a:rPr dirty="0" spc="-50"/>
              <a:t> </a:t>
            </a:r>
            <a:r>
              <a:rPr dirty="0" spc="-5"/>
              <a:t>setup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05130" marR="8445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404495" algn="l"/>
                <a:tab pos="405130" algn="l"/>
              </a:tabLst>
            </a:pPr>
            <a:r>
              <a:rPr dirty="0"/>
              <a:t>Due to a bug of </a:t>
            </a:r>
            <a:r>
              <a:rPr dirty="0" spc="-5"/>
              <a:t>GlassFish </a:t>
            </a:r>
            <a:r>
              <a:rPr dirty="0"/>
              <a:t>4.1.1. you have to go to the </a:t>
            </a:r>
            <a:r>
              <a:rPr dirty="0" spc="5"/>
              <a:t> </a:t>
            </a:r>
            <a:r>
              <a:rPr dirty="0"/>
              <a:t>directory </a:t>
            </a:r>
            <a:r>
              <a:rPr dirty="0" spc="-5"/>
              <a:t>where </a:t>
            </a:r>
            <a:r>
              <a:rPr dirty="0"/>
              <a:t>you have the </a:t>
            </a:r>
            <a:r>
              <a:rPr dirty="0" spc="-5"/>
              <a:t>GlassFish </a:t>
            </a:r>
            <a:r>
              <a:rPr dirty="0"/>
              <a:t>4.1.1 installed and </a:t>
            </a:r>
            <a:r>
              <a:rPr dirty="0" spc="-585"/>
              <a:t> </a:t>
            </a:r>
            <a:r>
              <a:rPr dirty="0"/>
              <a:t>access to the </a:t>
            </a:r>
            <a:r>
              <a:rPr dirty="0" spc="-5"/>
              <a:t>subfolder: "glassfish-4.1.1\glassfish\modules" </a:t>
            </a:r>
            <a:r>
              <a:rPr dirty="0" spc="-585"/>
              <a:t> </a:t>
            </a:r>
            <a:r>
              <a:rPr dirty="0" spc="-5"/>
              <a:t>to:</a:t>
            </a:r>
          </a:p>
          <a:p>
            <a:pPr lvl="1" marL="804545" indent="-285750">
              <a:lnSpc>
                <a:spcPct val="100000"/>
              </a:lnSpc>
              <a:spcBef>
                <a:spcPts val="495"/>
              </a:spcBef>
              <a:buChar char="–"/>
              <a:tabLst>
                <a:tab pos="804545" algn="l"/>
                <a:tab pos="805180" algn="l"/>
              </a:tabLst>
            </a:pPr>
            <a:r>
              <a:rPr dirty="0" sz="2000" spc="-5">
                <a:latin typeface="Times New Roman"/>
                <a:cs typeface="Times New Roman"/>
              </a:rPr>
              <a:t>add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the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file: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jackson-module-jaxb-annotations-2.5.1.jar</a:t>
            </a:r>
            <a:endParaRPr sz="2000">
              <a:latin typeface="Times New Roman"/>
              <a:cs typeface="Times New Roman"/>
            </a:endParaRPr>
          </a:p>
          <a:p>
            <a:pPr lvl="1" marL="804545" indent="-285750">
              <a:lnSpc>
                <a:spcPct val="100000"/>
              </a:lnSpc>
              <a:spcBef>
                <a:spcPts val="480"/>
              </a:spcBef>
              <a:buChar char="–"/>
              <a:tabLst>
                <a:tab pos="804545" algn="l"/>
                <a:tab pos="805180" algn="l"/>
              </a:tabLst>
            </a:pPr>
            <a:r>
              <a:rPr dirty="0" sz="2000" spc="-5">
                <a:latin typeface="Times New Roman"/>
                <a:cs typeface="Times New Roman"/>
              </a:rPr>
              <a:t>replace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the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file: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org.eclipse.persistence.moxy.jar</a:t>
            </a:r>
            <a:endParaRPr sz="2000">
              <a:latin typeface="Times New Roman"/>
              <a:cs typeface="Times New Roman"/>
            </a:endParaRPr>
          </a:p>
          <a:p>
            <a:pPr marL="405130" marR="5080" indent="-342900">
              <a:lnSpc>
                <a:spcPct val="100000"/>
              </a:lnSpc>
              <a:spcBef>
                <a:spcPts val="560"/>
              </a:spcBef>
              <a:buChar char="•"/>
              <a:tabLst>
                <a:tab pos="404495" algn="l"/>
                <a:tab pos="405130" algn="l"/>
              </a:tabLst>
            </a:pPr>
            <a:r>
              <a:rPr dirty="0"/>
              <a:t>Define a new </a:t>
            </a:r>
            <a:r>
              <a:rPr dirty="0" spc="-5"/>
              <a:t>GlassFish </a:t>
            </a:r>
            <a:r>
              <a:rPr dirty="0"/>
              <a:t>server and corresponding domain, 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changes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take</a:t>
            </a:r>
            <a:r>
              <a:rPr dirty="0" spc="-25"/>
              <a:t> </a:t>
            </a:r>
            <a:r>
              <a:rPr dirty="0"/>
              <a:t>effect,</a:t>
            </a:r>
            <a:r>
              <a:rPr dirty="0" spc="-25"/>
              <a:t> </a:t>
            </a:r>
            <a:r>
              <a:rPr dirty="0"/>
              <a:t>check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default</a:t>
            </a:r>
            <a:r>
              <a:rPr dirty="0" spc="-25"/>
              <a:t> </a:t>
            </a:r>
            <a:r>
              <a:rPr dirty="0"/>
              <a:t>checkbox</a:t>
            </a:r>
            <a:r>
              <a:rPr dirty="0" spc="-25"/>
              <a:t> </a:t>
            </a:r>
            <a:r>
              <a:rPr dirty="0"/>
              <a:t>at </a:t>
            </a:r>
            <a:r>
              <a:rPr dirty="0" spc="-58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ports</a:t>
            </a:r>
            <a:r>
              <a:rPr dirty="0" spc="-5"/>
              <a:t> windows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/>
              <a:t>use</a:t>
            </a:r>
            <a:r>
              <a:rPr dirty="0" spc="-5"/>
              <a:t> </a:t>
            </a:r>
            <a:r>
              <a:rPr dirty="0"/>
              <a:t>8080.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0113" y="1163066"/>
            <a:ext cx="3392804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Required</a:t>
            </a:r>
            <a:r>
              <a:rPr dirty="0" spc="-50"/>
              <a:t> </a:t>
            </a:r>
            <a:r>
              <a:rPr dirty="0" spc="-5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251659"/>
            <a:ext cx="7445375" cy="275653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Import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database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ecommerce.sql</a:t>
            </a:r>
            <a:endParaRPr sz="3200">
              <a:latin typeface="Times New Roman"/>
              <a:cs typeface="Times New Roman"/>
            </a:endParaRPr>
          </a:p>
          <a:p>
            <a:pPr marL="355600" marR="166370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Create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user/password: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ecomm/ecomm,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and give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it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DBA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privileges.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Define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ecommerce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database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connection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from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NetBeans.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0113" y="1163066"/>
            <a:ext cx="3392804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Required</a:t>
            </a:r>
            <a:r>
              <a:rPr dirty="0" spc="-50"/>
              <a:t> </a:t>
            </a:r>
            <a:r>
              <a:rPr dirty="0" spc="-5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7849" y="1970481"/>
            <a:ext cx="7419975" cy="475615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Create a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web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project.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Create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an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entity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package.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Create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new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entity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classes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from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database.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Create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web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application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listener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using: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dirty="0" sz="1800" spc="-5">
                <a:latin typeface="Times New Roman"/>
                <a:cs typeface="Times New Roman"/>
              </a:rPr>
              <a:t>@Resource</a:t>
            </a:r>
            <a:endParaRPr sz="1800">
              <a:latin typeface="Times New Roman"/>
              <a:cs typeface="Times New Roman"/>
            </a:endParaRPr>
          </a:p>
          <a:p>
            <a:pPr marL="469900" marR="4389755">
              <a:lnSpc>
                <a:spcPct val="120000"/>
              </a:lnSpc>
            </a:pPr>
            <a:r>
              <a:rPr dirty="0" sz="1800" spc="-5">
                <a:latin typeface="Times New Roman"/>
                <a:cs typeface="Times New Roman"/>
              </a:rPr>
              <a:t>public UserTransaction utx; </a:t>
            </a:r>
            <a:r>
              <a:rPr dirty="0" sz="1800" spc="-434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@PersistenceContext 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public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EntityManager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em;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71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Run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web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project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only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to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check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it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is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deployed properly, nothing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else.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0113" y="1163066"/>
            <a:ext cx="3392804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Required</a:t>
            </a:r>
            <a:r>
              <a:rPr dirty="0" spc="-50"/>
              <a:t> </a:t>
            </a:r>
            <a:r>
              <a:rPr dirty="0" spc="-5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349500"/>
            <a:ext cx="7581265" cy="4341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113664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After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installing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Android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Studio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IDE 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2.3.3: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for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Android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exercise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you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have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to: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1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"Import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project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(Eclipse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ADT,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Gradle,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etc.)"</a:t>
            </a:r>
            <a:endParaRPr sz="2800">
              <a:latin typeface="Times New Roman"/>
              <a:cs typeface="Times New Roman"/>
            </a:endParaRPr>
          </a:p>
          <a:p>
            <a:pPr marL="418465">
              <a:lnSpc>
                <a:spcPct val="100000"/>
              </a:lnSpc>
              <a:spcBef>
                <a:spcPts val="750"/>
              </a:spcBef>
            </a:pPr>
            <a:r>
              <a:rPr dirty="0" sz="3200" spc="-5">
                <a:latin typeface="Times New Roman"/>
                <a:cs typeface="Times New Roman"/>
              </a:rPr>
              <a:t>do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not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try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to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start/open/import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code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sample.</a:t>
            </a:r>
            <a:endParaRPr sz="3200">
              <a:latin typeface="Times New Roman"/>
              <a:cs typeface="Times New Roman"/>
            </a:endParaRPr>
          </a:p>
          <a:p>
            <a:pPr marL="355600" marR="67945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After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creating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exercise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project,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update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it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requested.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Create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an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Emulator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only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with API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21/22/23.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Run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exercise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as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onto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emulator.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5293" y="1163066"/>
            <a:ext cx="432244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Subject</a:t>
            </a:r>
            <a:r>
              <a:rPr dirty="0" spc="-30"/>
              <a:t> </a:t>
            </a:r>
            <a:r>
              <a:rPr dirty="0" spc="-5"/>
              <a:t>assessment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250007"/>
            <a:ext cx="7593965" cy="373380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Submission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of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following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exercises:</a:t>
            </a:r>
            <a:endParaRPr sz="32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dirty="0" sz="2800">
                <a:latin typeface="Times New Roman"/>
                <a:cs typeface="Times New Roman"/>
              </a:rPr>
              <a:t>Virtual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grocery</a:t>
            </a:r>
            <a:endParaRPr sz="28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dirty="0" sz="2800">
                <a:latin typeface="Times New Roman"/>
                <a:cs typeface="Times New Roman"/>
              </a:rPr>
              <a:t>Message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wall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service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(2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versions)</a:t>
            </a:r>
            <a:endParaRPr sz="28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dirty="0" sz="2800">
                <a:latin typeface="Times New Roman"/>
                <a:cs typeface="Times New Roman"/>
              </a:rPr>
              <a:t>Instant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messaging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service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(3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versions)</a:t>
            </a:r>
            <a:endParaRPr sz="2800">
              <a:latin typeface="Times New Roman"/>
              <a:cs typeface="Times New Roman"/>
            </a:endParaRPr>
          </a:p>
          <a:p>
            <a:pPr lvl="1" marL="755650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dirty="0" sz="2800" spc="-5">
                <a:latin typeface="Times New Roman"/>
                <a:cs typeface="Times New Roman"/>
              </a:rPr>
              <a:t>Chat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mobile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application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75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Individual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interview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end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of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term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if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necessary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Exercises</a:t>
            </a:r>
            <a:r>
              <a:rPr dirty="0" spc="-25"/>
              <a:t> </a:t>
            </a:r>
            <a:r>
              <a:rPr dirty="0" spc="-10"/>
              <a:t>weights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73" y="2251659"/>
            <a:ext cx="7301230" cy="236664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20%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eCommerce</a:t>
            </a:r>
            <a:endParaRPr sz="3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6235" algn="l"/>
              </a:tabLst>
            </a:pPr>
            <a:r>
              <a:rPr dirty="0" sz="3200" spc="-5">
                <a:latin typeface="Times New Roman"/>
                <a:cs typeface="Times New Roman"/>
              </a:rPr>
              <a:t>10%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messageWall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35% instantMessaging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(15%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/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10%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/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10%)</a:t>
            </a:r>
            <a:endParaRPr sz="32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35%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whatsApp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upcnet</dc:creator>
  <dc:title>Microsoft PowerPoint - 0 Introduction.ppt [Modo de compatibilidad]</dc:title>
  <dcterms:created xsi:type="dcterms:W3CDTF">2023-09-18T18:43:41Z</dcterms:created>
  <dcterms:modified xsi:type="dcterms:W3CDTF">2023-09-18T18:43:41Z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2023-09-18T00:00:00Z</vt:filetime>
  </property>
</Properties>
</file>