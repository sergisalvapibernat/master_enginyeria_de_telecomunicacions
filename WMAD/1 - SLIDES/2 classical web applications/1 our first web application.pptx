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10707" y="2498407"/>
            <a:ext cx="3922585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88690" y="814069"/>
            <a:ext cx="21666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4540" y="1959355"/>
            <a:ext cx="7614919" cy="2927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java.sun.com/xml/ns/javaee" TargetMode="External"/><Relationship Id="rId3" Type="http://schemas.openxmlformats.org/officeDocument/2006/relationships/hyperlink" Target="http://www.w3.org/2001/XMLSchema-" TargetMode="External"/><Relationship Id="rId4" Type="http://schemas.openxmlformats.org/officeDocument/2006/relationships/hyperlink" Target="http://java.sun.com/xml/ns/javaee/web-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Web</a:t>
            </a:r>
            <a:r>
              <a:rPr dirty="0" spc="-60"/>
              <a:t> </a:t>
            </a:r>
            <a:r>
              <a:rPr dirty="0" spc="-5"/>
              <a:t>applications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89484" y="3905503"/>
            <a:ext cx="316547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5">
                <a:latin typeface="Times New Roman"/>
                <a:cs typeface="Times New Roman"/>
              </a:rPr>
              <a:t>Juan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Luis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Gorricho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6892" y="814069"/>
            <a:ext cx="603186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Creating</a:t>
            </a:r>
            <a:r>
              <a:rPr dirty="0" spc="-15"/>
              <a:t> </a:t>
            </a:r>
            <a:r>
              <a:rPr dirty="0" spc="-5"/>
              <a:t>a</a:t>
            </a:r>
            <a:r>
              <a:rPr dirty="0" spc="-15"/>
              <a:t> </a:t>
            </a:r>
            <a:r>
              <a:rPr dirty="0" spc="-5"/>
              <a:t>web</a:t>
            </a:r>
            <a:r>
              <a:rPr dirty="0" spc="-15"/>
              <a:t> </a:t>
            </a:r>
            <a:r>
              <a:rPr dirty="0" spc="-5"/>
              <a:t>application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02663"/>
            <a:ext cx="7427595" cy="285432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New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Project / Java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Web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/ Web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Application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Choose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project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name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/ server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/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context path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No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frameworks</a:t>
            </a:r>
            <a:endParaRPr sz="3200">
              <a:latin typeface="Times New Roman"/>
              <a:cs typeface="Times New Roman"/>
            </a:endParaRPr>
          </a:p>
          <a:p>
            <a:pPr marL="355600" marR="82550" indent="-342900">
              <a:lnSpc>
                <a:spcPct val="100000"/>
              </a:lnSpc>
              <a:spcBef>
                <a:spcPts val="76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Run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the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created</a:t>
            </a:r>
            <a:r>
              <a:rPr dirty="0" sz="3200" spc="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web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application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project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by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default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675" y="814069"/>
            <a:ext cx="342265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Project</a:t>
            </a:r>
            <a:r>
              <a:rPr dirty="0" spc="-75"/>
              <a:t> </a:t>
            </a:r>
            <a:r>
              <a:rPr dirty="0" spc="-5"/>
              <a:t>scheme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2000504"/>
            <a:ext cx="7179945" cy="3171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Web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pages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folder containing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all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html, jsp 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and auxiliary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files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to display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web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content.</a:t>
            </a: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Configuration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file:</a:t>
            </a:r>
            <a:endParaRPr sz="32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685"/>
              </a:spcBef>
            </a:pPr>
            <a:r>
              <a:rPr dirty="0" sz="2800">
                <a:latin typeface="Times New Roman"/>
                <a:cs typeface="Times New Roman"/>
              </a:rPr>
              <a:t>–</a:t>
            </a:r>
            <a:r>
              <a:rPr dirty="0" sz="2800" spc="1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web.xml</a:t>
            </a:r>
            <a:endParaRPr sz="2800">
              <a:latin typeface="Times New Roman"/>
              <a:cs typeface="Times New Roman"/>
            </a:endParaRPr>
          </a:p>
          <a:p>
            <a:pPr marL="355600" marR="695325" indent="-342900">
              <a:lnSpc>
                <a:spcPct val="100000"/>
              </a:lnSpc>
              <a:spcBef>
                <a:spcPts val="75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3200" spc="-5">
                <a:latin typeface="Times New Roman"/>
                <a:cs typeface="Times New Roman"/>
              </a:rPr>
              <a:t>Source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packages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folder containing all </a:t>
            </a:r>
            <a:r>
              <a:rPr dirty="0" sz="3200" spc="-78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source</a:t>
            </a:r>
            <a:r>
              <a:rPr dirty="0" sz="3200" spc="5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code</a:t>
            </a:r>
            <a:r>
              <a:rPr dirty="0" sz="320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including Servlet</a:t>
            </a:r>
            <a:r>
              <a:rPr dirty="0" sz="3200" spc="-10">
                <a:latin typeface="Times New Roman"/>
                <a:cs typeface="Times New Roman"/>
              </a:rPr>
              <a:t> </a:t>
            </a:r>
            <a:r>
              <a:rPr dirty="0" sz="3200" spc="-5">
                <a:latin typeface="Times New Roman"/>
                <a:cs typeface="Times New Roman"/>
              </a:rPr>
              <a:t>files.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98788" y="204469"/>
            <a:ext cx="399796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web.xml</a:t>
            </a:r>
            <a:r>
              <a:rPr dirty="0" spc="-60"/>
              <a:t> </a:t>
            </a:r>
            <a:r>
              <a:rPr dirty="0" spc="-5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052" y="1120457"/>
            <a:ext cx="8333740" cy="4690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">
                <a:latin typeface="Courier New"/>
                <a:cs typeface="Courier New"/>
              </a:rPr>
              <a:t>&lt;?xml</a:t>
            </a:r>
            <a:r>
              <a:rPr dirty="0" sz="1000" spc="-30">
                <a:latin typeface="Courier New"/>
                <a:cs typeface="Courier New"/>
              </a:rPr>
              <a:t> </a:t>
            </a:r>
            <a:r>
              <a:rPr dirty="0" sz="1000" spc="-5">
                <a:latin typeface="Courier New"/>
                <a:cs typeface="Courier New"/>
              </a:rPr>
              <a:t>version="1.0"</a:t>
            </a:r>
            <a:r>
              <a:rPr dirty="0" sz="1000" spc="-25">
                <a:latin typeface="Courier New"/>
                <a:cs typeface="Courier New"/>
              </a:rPr>
              <a:t> </a:t>
            </a:r>
            <a:r>
              <a:rPr dirty="0" sz="1000" spc="-5">
                <a:latin typeface="Courier New"/>
                <a:cs typeface="Courier New"/>
              </a:rPr>
              <a:t>encoding="UTF-8"?&gt;</a:t>
            </a:r>
            <a:endParaRPr sz="1000">
              <a:latin typeface="Courier New"/>
              <a:cs typeface="Courier New"/>
            </a:endParaRPr>
          </a:p>
          <a:p>
            <a:pPr marL="355600" marR="5080" indent="-343535">
              <a:lnSpc>
                <a:spcPct val="80000"/>
              </a:lnSpc>
              <a:spcBef>
                <a:spcPts val="240"/>
              </a:spcBef>
            </a:pPr>
            <a:r>
              <a:rPr dirty="0" sz="1000" spc="-5">
                <a:latin typeface="Courier New"/>
                <a:cs typeface="Courier New"/>
              </a:rPr>
              <a:t>&lt;web-app</a:t>
            </a:r>
            <a:r>
              <a:rPr dirty="0" sz="1000" spc="5">
                <a:latin typeface="Courier New"/>
                <a:cs typeface="Courier New"/>
              </a:rPr>
              <a:t> </a:t>
            </a:r>
            <a:r>
              <a:rPr dirty="0" sz="1000" spc="-5">
                <a:latin typeface="Courier New"/>
                <a:cs typeface="Courier New"/>
              </a:rPr>
              <a:t>version="2.5"</a:t>
            </a:r>
            <a:r>
              <a:rPr dirty="0" sz="1000" spc="10">
                <a:latin typeface="Courier New"/>
                <a:cs typeface="Courier New"/>
              </a:rPr>
              <a:t> </a:t>
            </a:r>
            <a:r>
              <a:rPr dirty="0" sz="1000" spc="-5">
                <a:latin typeface="Courier New"/>
                <a:cs typeface="Courier New"/>
                <a:hlinkClick r:id="rId2"/>
              </a:rPr>
              <a:t>xmlns="http://java.sun.com/xml/ns/javaee"</a:t>
            </a:r>
            <a:r>
              <a:rPr dirty="0" sz="1000" spc="5">
                <a:latin typeface="Courier New"/>
                <a:cs typeface="Courier New"/>
                <a:hlinkClick r:id="rId2"/>
              </a:rPr>
              <a:t> </a:t>
            </a:r>
            <a:r>
              <a:rPr dirty="0" sz="1000" spc="-5">
                <a:latin typeface="Courier New"/>
                <a:cs typeface="Courier New"/>
                <a:hlinkClick r:id="rId3"/>
              </a:rPr>
              <a:t>xmlns:xsi="http://www.w3.org/2001/XMLSchema</a:t>
            </a:r>
            <a:r>
              <a:rPr dirty="0" sz="1000" spc="-5">
                <a:latin typeface="Courier New"/>
                <a:cs typeface="Courier New"/>
              </a:rPr>
              <a:t>- </a:t>
            </a:r>
            <a:r>
              <a:rPr dirty="0" sz="1000" spc="-585">
                <a:latin typeface="Courier New"/>
                <a:cs typeface="Courier New"/>
              </a:rPr>
              <a:t> </a:t>
            </a:r>
            <a:r>
              <a:rPr dirty="0" sz="1000" spc="-5">
                <a:latin typeface="Courier New"/>
                <a:cs typeface="Courier New"/>
              </a:rPr>
              <a:t>instance"</a:t>
            </a:r>
            <a:r>
              <a:rPr dirty="0" sz="1000">
                <a:latin typeface="Courier New"/>
                <a:cs typeface="Courier New"/>
              </a:rPr>
              <a:t> </a:t>
            </a:r>
            <a:r>
              <a:rPr dirty="0" sz="1000" spc="-5">
                <a:latin typeface="Courier New"/>
                <a:cs typeface="Courier New"/>
                <a:hlinkClick r:id="rId2"/>
              </a:rPr>
              <a:t>xsi:schemaLocation="http://java.sun.com/xml/ns/javaee</a:t>
            </a:r>
            <a:r>
              <a:rPr dirty="0" sz="1000">
                <a:latin typeface="Courier New"/>
                <a:cs typeface="Courier New"/>
                <a:hlinkClick r:id="rId2"/>
              </a:rPr>
              <a:t> </a:t>
            </a:r>
            <a:r>
              <a:rPr dirty="0" sz="1000" spc="-5">
                <a:latin typeface="Courier New"/>
                <a:cs typeface="Courier New"/>
                <a:hlinkClick r:id="rId4"/>
              </a:rPr>
              <a:t>http://java.sun.com/xml/ns/javaee/web- </a:t>
            </a:r>
            <a:r>
              <a:rPr dirty="0" sz="1000">
                <a:latin typeface="Courier New"/>
                <a:cs typeface="Courier New"/>
              </a:rPr>
              <a:t> </a:t>
            </a:r>
            <a:r>
              <a:rPr dirty="0" sz="1000" spc="-5">
                <a:latin typeface="Courier New"/>
                <a:cs typeface="Courier New"/>
              </a:rPr>
              <a:t>app_2_5.xsd"&gt;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&lt;listener&gt;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dirty="0" sz="1000" spc="-5">
                <a:latin typeface="Courier New"/>
                <a:cs typeface="Courier New"/>
              </a:rPr>
              <a:t>&lt;description&gt;ServletContextListener&lt;/description&gt;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&lt;listener-class&gt;util.ContextListener&lt;/listener-class&gt;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&lt;/listener&gt;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&lt;servlet&gt;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&lt;servlet-name&gt;controller&lt;/servlet-name&gt;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&lt;servlet-class&gt;web.ControllerServlet&lt;/servlet-class&gt;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&lt;/servlet&gt;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&lt;servlet-mapping&gt;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5"/>
              </a:spcBef>
            </a:pPr>
            <a:r>
              <a:rPr dirty="0" sz="1000" spc="-5">
                <a:latin typeface="Courier New"/>
                <a:cs typeface="Courier New"/>
              </a:rPr>
              <a:t>&lt;servlet-name&gt;controller&lt;/servlet-name&gt;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&lt;url-pattern&gt;*.do&lt;/url-pattern&gt;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&lt;/servlet-mapping&gt;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&lt;session-config&gt;</a:t>
            </a:r>
            <a:endParaRPr sz="1000">
              <a:latin typeface="Courier New"/>
              <a:cs typeface="Courier New"/>
            </a:endParaRPr>
          </a:p>
          <a:p>
            <a:pPr marL="927100" marR="6407150" indent="-305435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&lt;session-timeout&gt;  </a:t>
            </a:r>
            <a:r>
              <a:rPr dirty="0" sz="1000" spc="-5">
                <a:latin typeface="Courier New"/>
                <a:cs typeface="Courier New"/>
              </a:rPr>
              <a:t>10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&lt;/session-timeout&gt;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&lt;/session-config&gt;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  <a:spcBef>
                <a:spcPts val="5"/>
              </a:spcBef>
            </a:pPr>
            <a:r>
              <a:rPr dirty="0" sz="1000" spc="-5">
                <a:latin typeface="Courier New"/>
                <a:cs typeface="Courier New"/>
              </a:rPr>
              <a:t>&lt;welcome-file-list&gt;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&lt;welcome-file&gt;index.jsp&lt;/welcome-file&gt;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&lt;/welcome-file-list&gt;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dirty="0" sz="1000" spc="-5">
                <a:latin typeface="Courier New"/>
                <a:cs typeface="Courier New"/>
              </a:rPr>
              <a:t>&lt;/web-app&gt;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4094" y="814069"/>
            <a:ext cx="559562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Creating</a:t>
            </a:r>
            <a:r>
              <a:rPr dirty="0" spc="-15"/>
              <a:t> </a:t>
            </a:r>
            <a:r>
              <a:rPr dirty="0" spc="-5"/>
              <a:t>our</a:t>
            </a:r>
            <a:r>
              <a:rPr dirty="0" spc="-20"/>
              <a:t> </a:t>
            </a:r>
            <a:r>
              <a:rPr dirty="0" spc="-5"/>
              <a:t>first</a:t>
            </a:r>
            <a:r>
              <a:rPr dirty="0" spc="-20"/>
              <a:t> </a:t>
            </a:r>
            <a:r>
              <a:rPr dirty="0" spc="-5"/>
              <a:t>Servlet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6988"/>
            <a:ext cx="7304405" cy="343916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Create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new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package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at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source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packages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Create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new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Servlet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at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new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package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>
                <a:latin typeface="Times New Roman"/>
                <a:cs typeface="Times New Roman"/>
              </a:rPr>
              <a:t>Allow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add information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deployment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descriptor</a:t>
            </a:r>
            <a:endParaRPr sz="2800">
              <a:latin typeface="Times New Roman"/>
              <a:cs typeface="Times New Roman"/>
            </a:endParaRPr>
          </a:p>
          <a:p>
            <a:pPr marL="355600" marR="39243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Deploy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web application </a:t>
            </a:r>
            <a:r>
              <a:rPr dirty="0" sz="2800">
                <a:latin typeface="Times New Roman"/>
                <a:cs typeface="Times New Roman"/>
              </a:rPr>
              <a:t>on the </a:t>
            </a:r>
            <a:r>
              <a:rPr dirty="0" sz="2800" spc="-5">
                <a:latin typeface="Times New Roman"/>
                <a:cs typeface="Times New Roman"/>
              </a:rPr>
              <a:t>application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server</a:t>
            </a:r>
            <a:endParaRPr sz="28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Check </a:t>
            </a:r>
            <a:r>
              <a:rPr dirty="0" sz="2800">
                <a:latin typeface="Times New Roman"/>
                <a:cs typeface="Times New Roman"/>
              </a:rPr>
              <a:t>out the </a:t>
            </a:r>
            <a:r>
              <a:rPr dirty="0" sz="2800" spc="-5">
                <a:latin typeface="Times New Roman"/>
                <a:cs typeface="Times New Roman"/>
              </a:rPr>
              <a:t>Servlet execution </a:t>
            </a:r>
            <a:r>
              <a:rPr dirty="0" sz="2800">
                <a:latin typeface="Times New Roman"/>
                <a:cs typeface="Times New Roman"/>
              </a:rPr>
              <a:t>from </a:t>
            </a:r>
            <a:r>
              <a:rPr dirty="0" sz="2800" spc="-5">
                <a:latin typeface="Times New Roman"/>
                <a:cs typeface="Times New Roman"/>
              </a:rPr>
              <a:t>an Internet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browser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typing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appropriate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URL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Exercises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59355"/>
            <a:ext cx="7554595" cy="292735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355600" marR="253365" indent="-342900">
              <a:lnSpc>
                <a:spcPts val="3020"/>
              </a:lnSpc>
              <a:spcBef>
                <a:spcPts val="484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Add </a:t>
            </a:r>
            <a:r>
              <a:rPr dirty="0" sz="2800">
                <a:latin typeface="Times New Roman"/>
                <a:cs typeface="Times New Roman"/>
              </a:rPr>
              <a:t>a </a:t>
            </a:r>
            <a:r>
              <a:rPr dirty="0" sz="2800" spc="-5">
                <a:latin typeface="Times New Roman"/>
                <a:cs typeface="Times New Roman"/>
              </a:rPr>
              <a:t>counter field and </a:t>
            </a:r>
            <a:r>
              <a:rPr dirty="0" sz="2800">
                <a:latin typeface="Times New Roman"/>
                <a:cs typeface="Times New Roman"/>
              </a:rPr>
              <a:t>show how it is </a:t>
            </a:r>
            <a:r>
              <a:rPr dirty="0" sz="2800" spc="-5">
                <a:latin typeface="Times New Roman"/>
                <a:cs typeface="Times New Roman"/>
              </a:rPr>
              <a:t>increased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independently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 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browser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you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access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</a:t>
            </a:r>
            <a:endParaRPr sz="2800">
              <a:latin typeface="Times New Roman"/>
              <a:cs typeface="Times New Roman"/>
            </a:endParaRPr>
          </a:p>
          <a:p>
            <a:pPr marL="354965" marR="5080" indent="-342900">
              <a:lnSpc>
                <a:spcPts val="3020"/>
              </a:lnSpc>
              <a:spcBef>
                <a:spcPts val="68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Obtain </a:t>
            </a:r>
            <a:r>
              <a:rPr dirty="0" sz="2800">
                <a:latin typeface="Times New Roman"/>
                <a:cs typeface="Times New Roman"/>
              </a:rPr>
              <a:t>the </a:t>
            </a:r>
            <a:r>
              <a:rPr dirty="0" sz="2800" spc="-5">
                <a:latin typeface="Times New Roman"/>
                <a:cs typeface="Times New Roman"/>
              </a:rPr>
              <a:t>HttpSession and </a:t>
            </a:r>
            <a:r>
              <a:rPr dirty="0" sz="2800">
                <a:latin typeface="Times New Roman"/>
                <a:cs typeface="Times New Roman"/>
              </a:rPr>
              <a:t>show its </a:t>
            </a:r>
            <a:r>
              <a:rPr dirty="0" sz="2800" spc="-5">
                <a:latin typeface="Times New Roman"/>
                <a:cs typeface="Times New Roman"/>
              </a:rPr>
              <a:t>session </a:t>
            </a:r>
            <a:r>
              <a:rPr dirty="0" sz="2800">
                <a:latin typeface="Times New Roman"/>
                <a:cs typeface="Times New Roman"/>
              </a:rPr>
              <a:t>ID on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two different browsers, check </a:t>
            </a:r>
            <a:r>
              <a:rPr dirty="0" sz="2800">
                <a:latin typeface="Times New Roman"/>
                <a:cs typeface="Times New Roman"/>
              </a:rPr>
              <a:t>out the </a:t>
            </a:r>
            <a:r>
              <a:rPr dirty="0" sz="2800" spc="-5">
                <a:latin typeface="Times New Roman"/>
                <a:cs typeface="Times New Roman"/>
              </a:rPr>
              <a:t>time-out at </a:t>
            </a:r>
            <a:r>
              <a:rPr dirty="0" sz="280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web.xml</a:t>
            </a:r>
            <a:endParaRPr sz="2800">
              <a:latin typeface="Times New Roman"/>
              <a:cs typeface="Times New Roman"/>
            </a:endParaRPr>
          </a:p>
          <a:p>
            <a:pPr marL="355600" marR="499745" indent="-342900">
              <a:lnSpc>
                <a:spcPts val="3020"/>
              </a:lnSpc>
              <a:spcBef>
                <a:spcPts val="68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800" spc="-5">
                <a:latin typeface="Times New Roman"/>
                <a:cs typeface="Times New Roman"/>
              </a:rPr>
              <a:t>Add </a:t>
            </a:r>
            <a:r>
              <a:rPr dirty="0" sz="2800">
                <a:latin typeface="Times New Roman"/>
                <a:cs typeface="Times New Roman"/>
              </a:rPr>
              <a:t>a </a:t>
            </a:r>
            <a:r>
              <a:rPr dirty="0" sz="2800" spc="-5">
                <a:latin typeface="Times New Roman"/>
                <a:cs typeface="Times New Roman"/>
              </a:rPr>
              <a:t>query </a:t>
            </a:r>
            <a:r>
              <a:rPr dirty="0" sz="2800">
                <a:latin typeface="Times New Roman"/>
                <a:cs typeface="Times New Roman"/>
              </a:rPr>
              <a:t>string </a:t>
            </a:r>
            <a:r>
              <a:rPr dirty="0" sz="2800" spc="-5">
                <a:latin typeface="Times New Roman"/>
                <a:cs typeface="Times New Roman"/>
              </a:rPr>
              <a:t>with </a:t>
            </a:r>
            <a:r>
              <a:rPr dirty="0" sz="2800">
                <a:latin typeface="Times New Roman"/>
                <a:cs typeface="Times New Roman"/>
              </a:rPr>
              <a:t>a </a:t>
            </a:r>
            <a:r>
              <a:rPr dirty="0" sz="2800" spc="-5">
                <a:latin typeface="Times New Roman"/>
                <a:cs typeface="Times New Roman"/>
              </a:rPr>
              <a:t>couple </a:t>
            </a:r>
            <a:r>
              <a:rPr dirty="0" sz="2800">
                <a:latin typeface="Times New Roman"/>
                <a:cs typeface="Times New Roman"/>
              </a:rPr>
              <a:t>of </a:t>
            </a:r>
            <a:r>
              <a:rPr dirty="0" sz="2800" spc="-5">
                <a:latin typeface="Times New Roman"/>
                <a:cs typeface="Times New Roman"/>
              </a:rPr>
              <a:t>parameters </a:t>
            </a:r>
            <a:r>
              <a:rPr dirty="0" sz="2800" spc="-68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and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retrieve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them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with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5">
                <a:latin typeface="Times New Roman"/>
                <a:cs typeface="Times New Roman"/>
              </a:rPr>
              <a:t>req.getParameter()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terms:created xsi:type="dcterms:W3CDTF">2023-09-18T18:45:07Z</dcterms:created>
  <dcterms:modified xsi:type="dcterms:W3CDTF">2023-09-18T18:45:07Z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2022-02-11T00:00:00Z</vt:filetime>
  </property>
  <property fmtid="{D5CDD505-2E9C-101B-9397-08002B2CF9AE}" pid="3" name="Creator">
    <vt:lpwstr>Acrobat PDFMaker 21 for PowerPoint</vt:lpwstr>
  </property>
  <property fmtid="{D5CDD505-2E9C-101B-9397-08002B2CF9AE}" pid="4" name="LastSaved">
    <vt:filetime>2023-09-18T00:00:00Z</vt:filetime>
  </property>
</Properties>
</file>