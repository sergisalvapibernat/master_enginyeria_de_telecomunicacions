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7840" y="299811"/>
            <a:ext cx="5786429" cy="6918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7832" y="287832"/>
            <a:ext cx="2143118" cy="65245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512" y="6405562"/>
            <a:ext cx="2095499" cy="171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04222" y="220472"/>
            <a:ext cx="5009515" cy="681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1538541"/>
            <a:ext cx="8072120" cy="3853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7" y="2818406"/>
            <a:ext cx="7143748" cy="159130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895" y="837107"/>
            <a:ext cx="3357557" cy="102234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579302" y="881126"/>
            <a:ext cx="18421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5C082C"/>
                </a:solidFill>
                <a:latin typeface="Arial MT"/>
                <a:cs typeface="Arial MT"/>
              </a:rPr>
              <a:t>Postgrado</a:t>
            </a:r>
            <a:r>
              <a:rPr dirty="0" sz="2400" spc="-100">
                <a:solidFill>
                  <a:srgbClr val="5C082C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5C082C"/>
                </a:solidFill>
                <a:latin typeface="Arial MT"/>
                <a:cs typeface="Arial MT"/>
              </a:rPr>
              <a:t>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9302" y="1344422"/>
            <a:ext cx="3884929" cy="512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Mobile</a:t>
            </a:r>
            <a:r>
              <a:rPr dirty="0" sz="3200" spc="-215">
                <a:solidFill>
                  <a:srgbClr val="5C082C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5C082C"/>
                </a:solidFill>
                <a:latin typeface="Arial"/>
                <a:cs typeface="Arial"/>
              </a:rPr>
              <a:t>Apps</a:t>
            </a:r>
            <a:r>
              <a:rPr dirty="0" sz="3200" spc="-45">
                <a:solidFill>
                  <a:srgbClr val="5C082C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Design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63750" y="3174428"/>
            <a:ext cx="60147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3E3E3E"/>
                </a:solidFill>
                <a:latin typeface="Calibri"/>
                <a:cs typeface="Calibri"/>
              </a:rPr>
              <a:t>BROADCAST</a:t>
            </a:r>
            <a:r>
              <a:rPr dirty="0" sz="4800" spc="-195" b="1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dirty="0" sz="4800" spc="-10" b="1">
                <a:solidFill>
                  <a:srgbClr val="3E3E3E"/>
                </a:solidFill>
                <a:latin typeface="Calibri"/>
                <a:cs typeface="Calibri"/>
              </a:rPr>
              <a:t>RECEIVERS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57595" y="5095938"/>
            <a:ext cx="3429000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>
                <a:latin typeface="Arial MT"/>
                <a:cs typeface="Arial MT"/>
              </a:rPr>
              <a:t>Juan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Luis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5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BROADCAST</a:t>
            </a:r>
            <a:r>
              <a:rPr dirty="0" spc="-105"/>
              <a:t> </a:t>
            </a:r>
            <a:r>
              <a:rPr dirty="0" spc="-10"/>
              <a:t>RECEIVERS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532445"/>
            <a:ext cx="7943850" cy="412178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56870" marR="258445" indent="-346075">
              <a:lnSpc>
                <a:spcPts val="3460"/>
              </a:lnSpc>
              <a:spcBef>
                <a:spcPts val="525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56870" algn="l"/>
                <a:tab pos="374015" algn="l"/>
              </a:tabLst>
            </a:pP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programming</a:t>
            </a:r>
            <a:r>
              <a:rPr dirty="0" sz="3200" spc="-6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broadcast</a:t>
            </a:r>
            <a:r>
              <a:rPr dirty="0" sz="3200" spc="-8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receivers </a:t>
            </a:r>
            <a:r>
              <a:rPr dirty="0" sz="3200">
                <a:latin typeface="Arial MT"/>
                <a:cs typeface="Arial MT"/>
              </a:rPr>
              <a:t>is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useful</a:t>
            </a:r>
            <a:r>
              <a:rPr dirty="0" sz="3200" spc="-6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communications</a:t>
            </a:r>
            <a:r>
              <a:rPr dirty="0" sz="3200" spc="-8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tool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among </a:t>
            </a:r>
            <a:r>
              <a:rPr dirty="0" sz="3200">
                <a:latin typeface="Arial MT"/>
                <a:cs typeface="Arial MT"/>
              </a:rPr>
              <a:t>components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same</a:t>
            </a:r>
            <a:r>
              <a:rPr dirty="0" sz="3200" spc="-7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app.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or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of </a:t>
            </a:r>
            <a:r>
              <a:rPr dirty="0" sz="3200">
                <a:latin typeface="Arial MT"/>
                <a:cs typeface="Arial MT"/>
              </a:rPr>
              <a:t>different</a:t>
            </a:r>
            <a:r>
              <a:rPr dirty="0" sz="3200" spc="-13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apps.</a:t>
            </a:r>
            <a:endParaRPr sz="3200">
              <a:latin typeface="Arial MT"/>
              <a:cs typeface="Arial MT"/>
            </a:endParaRPr>
          </a:p>
          <a:p>
            <a:pPr marL="356870" marR="5080" indent="-346075">
              <a:lnSpc>
                <a:spcPts val="3460"/>
              </a:lnSpc>
              <a:spcBef>
                <a:spcPts val="75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56870" algn="l"/>
                <a:tab pos="374015" algn="l"/>
              </a:tabLst>
            </a:pP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>
                <a:latin typeface="Arial MT"/>
                <a:cs typeface="Arial MT"/>
              </a:rPr>
              <a:t>It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is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also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communication</a:t>
            </a:r>
            <a:r>
              <a:rPr dirty="0" sz="3200" spc="-7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tool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for </a:t>
            </a:r>
            <a:r>
              <a:rPr dirty="0" sz="3200">
                <a:latin typeface="Arial MT"/>
                <a:cs typeface="Arial MT"/>
              </a:rPr>
              <a:t>system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events</a:t>
            </a:r>
            <a:r>
              <a:rPr dirty="0" sz="3200" spc="-7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like:</a:t>
            </a:r>
            <a:r>
              <a:rPr dirty="0" sz="3200" spc="-8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receiving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SMS,</a:t>
            </a:r>
            <a:r>
              <a:rPr dirty="0" sz="3200" spc="-60">
                <a:latin typeface="Arial MT"/>
                <a:cs typeface="Arial MT"/>
              </a:rPr>
              <a:t> </a:t>
            </a:r>
            <a:r>
              <a:rPr dirty="0" sz="3200" spc="-50">
                <a:latin typeface="Arial MT"/>
                <a:cs typeface="Arial MT"/>
              </a:rPr>
              <a:t>a </a:t>
            </a:r>
            <a:r>
              <a:rPr dirty="0" sz="3200">
                <a:latin typeface="Arial MT"/>
                <a:cs typeface="Arial MT"/>
              </a:rPr>
              <a:t>battery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level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change,</a:t>
            </a:r>
            <a:r>
              <a:rPr dirty="0" sz="3200" spc="-7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phone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switch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on, </a:t>
            </a:r>
            <a:r>
              <a:rPr dirty="0" sz="3200" spc="-10">
                <a:latin typeface="Arial MT"/>
                <a:cs typeface="Arial MT"/>
              </a:rPr>
              <a:t>Wi-</a:t>
            </a:r>
            <a:r>
              <a:rPr dirty="0" sz="3200">
                <a:latin typeface="Arial MT"/>
                <a:cs typeface="Arial MT"/>
              </a:rPr>
              <a:t>Fi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availability,</a:t>
            </a:r>
            <a:r>
              <a:rPr dirty="0" sz="3200" spc="-10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new</a:t>
            </a:r>
            <a:r>
              <a:rPr dirty="0" sz="3200" spc="-6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GPS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coordinates, </a:t>
            </a:r>
            <a:r>
              <a:rPr dirty="0" sz="3200" spc="-20">
                <a:latin typeface="Arial MT"/>
                <a:cs typeface="Arial MT"/>
              </a:rPr>
              <a:t>etc.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5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BROADCAST</a:t>
            </a:r>
            <a:r>
              <a:rPr dirty="0" spc="-105"/>
              <a:t> </a:t>
            </a:r>
            <a:r>
              <a:rPr dirty="0" spc="-10"/>
              <a:t>RECEIVERS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2590" y="1581213"/>
            <a:ext cx="8408670" cy="3617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45085" indent="-34607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56870" algn="l"/>
                <a:tab pos="374015" algn="l"/>
              </a:tabLst>
            </a:pP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>
                <a:latin typeface="Arial MT"/>
                <a:cs typeface="Arial MT"/>
              </a:rPr>
              <a:t>We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program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Java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class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as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an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extension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of </a:t>
            </a:r>
            <a:r>
              <a:rPr dirty="0" sz="3200">
                <a:latin typeface="Arial MT"/>
                <a:cs typeface="Arial MT"/>
              </a:rPr>
              <a:t>BroadcastReceiver</a:t>
            </a:r>
            <a:r>
              <a:rPr dirty="0" sz="3200" spc="-114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and</a:t>
            </a:r>
            <a:r>
              <a:rPr dirty="0" sz="3200" spc="-10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over-</a:t>
            </a:r>
            <a:r>
              <a:rPr dirty="0" sz="3200">
                <a:latin typeface="Arial MT"/>
                <a:cs typeface="Arial MT"/>
              </a:rPr>
              <a:t>write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the </a:t>
            </a:r>
            <a:r>
              <a:rPr dirty="0" sz="3200">
                <a:latin typeface="Arial MT"/>
                <a:cs typeface="Arial MT"/>
              </a:rPr>
              <a:t>method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10" b="1">
                <a:latin typeface="Arial"/>
                <a:cs typeface="Arial"/>
              </a:rPr>
              <a:t>onReceive</a:t>
            </a:r>
            <a:r>
              <a:rPr dirty="0" sz="3200" spc="-10">
                <a:latin typeface="Arial MT"/>
                <a:cs typeface="Arial MT"/>
              </a:rPr>
              <a:t>():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3200">
              <a:latin typeface="Arial MT"/>
              <a:cs typeface="Arial MT"/>
            </a:endParaRPr>
          </a:p>
          <a:p>
            <a:pPr marL="469900" marR="5080">
              <a:lnSpc>
                <a:spcPct val="120000"/>
              </a:lnSpc>
            </a:pPr>
            <a:r>
              <a:rPr dirty="0" sz="2200">
                <a:latin typeface="Arial MT"/>
                <a:cs typeface="Arial MT"/>
              </a:rPr>
              <a:t>public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class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MyBroadcastReceiver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extends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BroadcastReceiver</a:t>
            </a:r>
            <a:r>
              <a:rPr dirty="0" sz="2200" spc="-50">
                <a:latin typeface="Arial MT"/>
                <a:cs typeface="Arial MT"/>
              </a:rPr>
              <a:t> { </a:t>
            </a:r>
            <a:r>
              <a:rPr dirty="0" sz="2200" spc="-10">
                <a:latin typeface="Arial MT"/>
                <a:cs typeface="Arial MT"/>
              </a:rPr>
              <a:t>@Override</a:t>
            </a:r>
            <a:endParaRPr sz="22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dirty="0" sz="2200">
                <a:latin typeface="Arial MT"/>
                <a:cs typeface="Arial MT"/>
              </a:rPr>
              <a:t>public</a:t>
            </a:r>
            <a:r>
              <a:rPr dirty="0" sz="2200" spc="-3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void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 b="1">
                <a:latin typeface="Arial"/>
                <a:cs typeface="Arial"/>
              </a:rPr>
              <a:t>onReceive</a:t>
            </a:r>
            <a:r>
              <a:rPr dirty="0" sz="2200">
                <a:latin typeface="Arial MT"/>
                <a:cs typeface="Arial MT"/>
              </a:rPr>
              <a:t>(Context context,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Intent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intent)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{...}</a:t>
            </a:r>
            <a:endParaRPr sz="2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dirty="0" sz="2200" spc="-50"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578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105"/>
              </a:spcBef>
            </a:pPr>
            <a:r>
              <a:rPr dirty="0"/>
              <a:t>BROADCAST</a:t>
            </a:r>
            <a:r>
              <a:rPr dirty="0" spc="-105"/>
              <a:t> </a:t>
            </a:r>
            <a:r>
              <a:rPr dirty="0" spc="-10"/>
              <a:t>RECEIVER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532445"/>
            <a:ext cx="7920355" cy="437705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56870" marR="45085" indent="-346075">
              <a:lnSpc>
                <a:spcPts val="3460"/>
              </a:lnSpc>
              <a:spcBef>
                <a:spcPts val="525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56870" algn="l"/>
                <a:tab pos="374015" algn="l"/>
              </a:tabLst>
            </a:pP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>
                <a:latin typeface="Arial MT"/>
                <a:cs typeface="Arial MT"/>
              </a:rPr>
              <a:t>We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register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broadcast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receiver</a:t>
            </a:r>
            <a:r>
              <a:rPr dirty="0" sz="3200" spc="-7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for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50">
                <a:latin typeface="Arial MT"/>
                <a:cs typeface="Arial MT"/>
              </a:rPr>
              <a:t>a </a:t>
            </a:r>
            <a:r>
              <a:rPr dirty="0" sz="3200">
                <a:latin typeface="Arial MT"/>
                <a:cs typeface="Arial MT"/>
              </a:rPr>
              <a:t>given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action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type,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for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example,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follows:</a:t>
            </a:r>
            <a:endParaRPr sz="3200">
              <a:latin typeface="Arial MT"/>
              <a:cs typeface="Arial MT"/>
            </a:endParaRPr>
          </a:p>
          <a:p>
            <a:pPr marL="469265" marR="1130935">
              <a:lnSpc>
                <a:spcPts val="2900"/>
              </a:lnSpc>
              <a:spcBef>
                <a:spcPts val="100"/>
              </a:spcBef>
            </a:pPr>
            <a:r>
              <a:rPr dirty="0" sz="2200">
                <a:latin typeface="Arial MT"/>
                <a:cs typeface="Arial MT"/>
              </a:rPr>
              <a:t>myReceiver =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new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MyBroadcastReceiver(); </a:t>
            </a:r>
            <a:r>
              <a:rPr dirty="0" sz="2200">
                <a:latin typeface="Arial MT"/>
                <a:cs typeface="Arial MT"/>
              </a:rPr>
              <a:t>IntentFilter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myFilter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=</a:t>
            </a:r>
            <a:r>
              <a:rPr dirty="0" sz="2200" spc="-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new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IntentFilter("an_action"); </a:t>
            </a:r>
            <a:r>
              <a:rPr dirty="0" sz="2200">
                <a:latin typeface="Arial MT"/>
                <a:cs typeface="Arial MT"/>
              </a:rPr>
              <a:t>registerReceiver(myReceiver,</a:t>
            </a:r>
            <a:r>
              <a:rPr dirty="0" sz="2200" spc="-14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myFilter);</a:t>
            </a:r>
            <a:endParaRPr sz="2200">
              <a:latin typeface="Arial MT"/>
              <a:cs typeface="Arial MT"/>
            </a:endParaRPr>
          </a:p>
          <a:p>
            <a:pPr marL="374650" indent="-363220">
              <a:lnSpc>
                <a:spcPct val="100000"/>
              </a:lnSpc>
              <a:spcBef>
                <a:spcPts val="24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4650" algn="l"/>
              </a:tabLst>
            </a:pPr>
            <a:r>
              <a:rPr dirty="0" sz="3200">
                <a:latin typeface="Arial MT"/>
                <a:cs typeface="Arial MT"/>
              </a:rPr>
              <a:t>And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to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unregister,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as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follows:</a:t>
            </a:r>
            <a:endParaRPr sz="3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80"/>
              </a:spcBef>
            </a:pPr>
            <a:r>
              <a:rPr dirty="0" sz="2200" spc="-10">
                <a:latin typeface="Arial MT"/>
                <a:cs typeface="Arial MT"/>
              </a:rPr>
              <a:t>unregisterReceiver(myReceiver);</a:t>
            </a:r>
            <a:endParaRPr sz="2200">
              <a:latin typeface="Arial MT"/>
              <a:cs typeface="Arial MT"/>
            </a:endParaRPr>
          </a:p>
          <a:p>
            <a:pPr marL="356870" marR="5080" indent="-346075">
              <a:lnSpc>
                <a:spcPts val="3460"/>
              </a:lnSpc>
              <a:spcBef>
                <a:spcPts val="80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56870" algn="l"/>
                <a:tab pos="374015" algn="l"/>
              </a:tabLst>
            </a:pPr>
            <a:r>
              <a:rPr dirty="0" sz="3200" b="1">
                <a:latin typeface="Arial"/>
                <a:cs typeface="Arial"/>
              </a:rPr>
              <a:t>	</a:t>
            </a:r>
            <a:r>
              <a:rPr dirty="0" sz="3200" b="1">
                <a:latin typeface="Arial"/>
                <a:cs typeface="Arial"/>
              </a:rPr>
              <a:t>Note</a:t>
            </a:r>
            <a:r>
              <a:rPr dirty="0" sz="3200">
                <a:latin typeface="Arial MT"/>
                <a:cs typeface="Arial MT"/>
              </a:rPr>
              <a:t>: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you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can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not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unregister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non </a:t>
            </a:r>
            <a:r>
              <a:rPr dirty="0" sz="3200">
                <a:latin typeface="Arial MT"/>
                <a:cs typeface="Arial MT"/>
              </a:rPr>
              <a:t>registered</a:t>
            </a:r>
            <a:r>
              <a:rPr dirty="0" sz="3200" spc="-8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broadcast</a:t>
            </a:r>
            <a:r>
              <a:rPr dirty="0" sz="3200" spc="-9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receiver,</a:t>
            </a:r>
            <a:r>
              <a:rPr dirty="0" sz="3200" spc="-9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it</a:t>
            </a:r>
            <a:r>
              <a:rPr dirty="0" sz="3200" spc="-8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throws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an </a:t>
            </a:r>
            <a:r>
              <a:rPr dirty="0" sz="3200" spc="-10">
                <a:latin typeface="Arial MT"/>
                <a:cs typeface="Arial MT"/>
              </a:rPr>
              <a:t>exception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578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105"/>
              </a:spcBef>
            </a:pPr>
            <a:r>
              <a:rPr dirty="0"/>
              <a:t>BROADCAST</a:t>
            </a:r>
            <a:r>
              <a:rPr dirty="0" spc="-105"/>
              <a:t> </a:t>
            </a:r>
            <a:r>
              <a:rPr dirty="0" spc="-10"/>
              <a:t>RECEIVER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581213"/>
            <a:ext cx="8056880" cy="40233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607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56870" algn="l"/>
                <a:tab pos="374015" algn="l"/>
              </a:tabLst>
            </a:pP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>
                <a:latin typeface="Arial MT"/>
                <a:cs typeface="Arial MT"/>
              </a:rPr>
              <a:t>We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can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create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by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code</a:t>
            </a:r>
            <a:r>
              <a:rPr dirty="0" sz="3200" spc="-50">
                <a:latin typeface="Arial MT"/>
                <a:cs typeface="Arial MT"/>
              </a:rPr>
              <a:t> a </a:t>
            </a:r>
            <a:r>
              <a:rPr dirty="0" sz="3200" b="1">
                <a:latin typeface="Arial"/>
                <a:cs typeface="Arial"/>
              </a:rPr>
              <a:t>BroadcastReceiver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>
                <a:latin typeface="Arial MT"/>
                <a:cs typeface="Arial MT"/>
              </a:rPr>
              <a:t>and</a:t>
            </a:r>
            <a:r>
              <a:rPr dirty="0" sz="3200" spc="-1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an</a:t>
            </a:r>
            <a:r>
              <a:rPr dirty="0" sz="3200" spc="-125">
                <a:latin typeface="Arial MT"/>
                <a:cs typeface="Arial MT"/>
              </a:rPr>
              <a:t> </a:t>
            </a:r>
            <a:r>
              <a:rPr dirty="0" sz="3200" b="1">
                <a:latin typeface="Arial"/>
                <a:cs typeface="Arial"/>
              </a:rPr>
              <a:t>IntentFilter</a:t>
            </a:r>
            <a:r>
              <a:rPr dirty="0" sz="3200" spc="-85" b="1">
                <a:latin typeface="Arial"/>
                <a:cs typeface="Arial"/>
              </a:rPr>
              <a:t> </a:t>
            </a:r>
            <a:r>
              <a:rPr dirty="0" sz="3200" spc="-25">
                <a:latin typeface="Arial MT"/>
                <a:cs typeface="Arial MT"/>
              </a:rPr>
              <a:t>to </a:t>
            </a:r>
            <a:r>
              <a:rPr dirty="0" sz="3200">
                <a:latin typeface="Arial MT"/>
                <a:cs typeface="Arial MT"/>
              </a:rPr>
              <a:t>register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BroadcastReceiver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with</a:t>
            </a:r>
            <a:r>
              <a:rPr dirty="0" sz="3200" spc="-25">
                <a:latin typeface="Arial MT"/>
                <a:cs typeface="Arial MT"/>
              </a:rPr>
              <a:t> the </a:t>
            </a:r>
            <a:r>
              <a:rPr dirty="0" sz="3200">
                <a:latin typeface="Arial MT"/>
                <a:cs typeface="Arial MT"/>
              </a:rPr>
              <a:t>associated</a:t>
            </a:r>
            <a:r>
              <a:rPr dirty="0" sz="3200" spc="-1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IntentFilter.</a:t>
            </a:r>
            <a:endParaRPr sz="3200">
              <a:latin typeface="Arial MT"/>
              <a:cs typeface="Arial MT"/>
            </a:endParaRPr>
          </a:p>
          <a:p>
            <a:pPr marL="356870" marR="269875" indent="-346075">
              <a:lnSpc>
                <a:spcPct val="100000"/>
              </a:lnSpc>
              <a:spcBef>
                <a:spcPts val="77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56870" algn="l"/>
                <a:tab pos="374015" algn="l"/>
              </a:tabLst>
            </a:pP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>
                <a:latin typeface="Arial MT"/>
                <a:cs typeface="Arial MT"/>
              </a:rPr>
              <a:t>On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other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hand,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we</a:t>
            </a:r>
            <a:r>
              <a:rPr dirty="0" sz="3200" spc="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can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declare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50">
                <a:latin typeface="Arial MT"/>
                <a:cs typeface="Arial MT"/>
              </a:rPr>
              <a:t>a </a:t>
            </a:r>
            <a:r>
              <a:rPr dirty="0" sz="3200" b="1">
                <a:latin typeface="Arial"/>
                <a:cs typeface="Arial"/>
              </a:rPr>
              <a:t>BroadcastReceiver </a:t>
            </a:r>
            <a:r>
              <a:rPr dirty="0" sz="3200">
                <a:latin typeface="Arial MT"/>
                <a:cs typeface="Arial MT"/>
              </a:rPr>
              <a:t>on</a:t>
            </a:r>
            <a:r>
              <a:rPr dirty="0" sz="3200" spc="-10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100">
                <a:latin typeface="Arial MT"/>
                <a:cs typeface="Arial MT"/>
              </a:rPr>
              <a:t> </a:t>
            </a:r>
            <a:r>
              <a:rPr dirty="0" sz="3200" b="1">
                <a:latin typeface="Arial"/>
                <a:cs typeface="Arial"/>
              </a:rPr>
              <a:t>Manifest</a:t>
            </a:r>
            <a:r>
              <a:rPr dirty="0" sz="3200" spc="-75" b="1">
                <a:latin typeface="Arial"/>
                <a:cs typeface="Arial"/>
              </a:rPr>
              <a:t> </a:t>
            </a:r>
            <a:r>
              <a:rPr dirty="0" sz="3200" spc="-10">
                <a:latin typeface="Arial MT"/>
                <a:cs typeface="Arial MT"/>
              </a:rPr>
              <a:t>file, </a:t>
            </a:r>
            <a:r>
              <a:rPr dirty="0" sz="3200">
                <a:latin typeface="Arial MT"/>
                <a:cs typeface="Arial MT"/>
              </a:rPr>
              <a:t>including</a:t>
            </a:r>
            <a:r>
              <a:rPr dirty="0" sz="3200" spc="-8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80">
                <a:latin typeface="Arial MT"/>
                <a:cs typeface="Arial MT"/>
              </a:rPr>
              <a:t> </a:t>
            </a:r>
            <a:r>
              <a:rPr dirty="0" sz="3200" b="1">
                <a:latin typeface="Arial"/>
                <a:cs typeface="Arial"/>
              </a:rPr>
              <a:t>IntentFilter </a:t>
            </a:r>
            <a:r>
              <a:rPr dirty="0" sz="3200">
                <a:latin typeface="Arial MT"/>
                <a:cs typeface="Arial MT"/>
              </a:rPr>
              <a:t>for</a:t>
            </a:r>
            <a:r>
              <a:rPr dirty="0" sz="3200" spc="-65">
                <a:latin typeface="Arial MT"/>
                <a:cs typeface="Arial MT"/>
              </a:rPr>
              <a:t> </a:t>
            </a:r>
            <a:r>
              <a:rPr dirty="0" sz="3200" spc="-20">
                <a:latin typeface="Arial MT"/>
                <a:cs typeface="Arial MT"/>
              </a:rPr>
              <a:t>that </a:t>
            </a:r>
            <a:r>
              <a:rPr dirty="0" sz="3200" spc="-10">
                <a:latin typeface="Arial MT"/>
                <a:cs typeface="Arial MT"/>
              </a:rPr>
              <a:t>BroadcastReceiver.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536940" y="648804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2095">
              <a:lnSpc>
                <a:spcPct val="100000"/>
              </a:lnSpc>
              <a:spcBef>
                <a:spcPts val="105"/>
              </a:spcBef>
            </a:pPr>
            <a:r>
              <a:rPr dirty="0"/>
              <a:t>BROADCAST</a:t>
            </a:r>
            <a:r>
              <a:rPr dirty="0" spc="-105"/>
              <a:t> </a:t>
            </a:r>
            <a:r>
              <a:rPr dirty="0" spc="-10"/>
              <a:t>RECEIVER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35940" y="1581213"/>
            <a:ext cx="7991475" cy="4025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Font typeface="Wingdings"/>
              <a:buChar char=""/>
              <a:tabLst>
                <a:tab pos="356870" algn="l"/>
              </a:tabLst>
            </a:pPr>
            <a:r>
              <a:rPr dirty="0" sz="2600">
                <a:latin typeface="Arial MT"/>
                <a:cs typeface="Arial MT"/>
              </a:rPr>
              <a:t>Android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delivers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intent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all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registered</a:t>
            </a:r>
            <a:r>
              <a:rPr dirty="0" sz="2600" spc="-10">
                <a:latin typeface="Arial MT"/>
                <a:cs typeface="Arial MT"/>
              </a:rPr>
              <a:t> broadcast </a:t>
            </a:r>
            <a:r>
              <a:rPr dirty="0" sz="2600" spc="-10">
                <a:latin typeface="Arial MT"/>
                <a:cs typeface="Arial MT"/>
              </a:rPr>
              <a:t>	</a:t>
            </a:r>
            <a:r>
              <a:rPr dirty="0" sz="2600">
                <a:latin typeface="Arial MT"/>
                <a:cs typeface="Arial MT"/>
              </a:rPr>
              <a:t>receivers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when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event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happens,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executes </a:t>
            </a:r>
            <a:r>
              <a:rPr dirty="0" sz="2600" spc="-10">
                <a:latin typeface="Arial MT"/>
                <a:cs typeface="Arial MT"/>
              </a:rPr>
              <a:t>	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onReceive</a:t>
            </a:r>
            <a:r>
              <a:rPr dirty="0" sz="2600">
                <a:latin typeface="Arial MT"/>
                <a:cs typeface="Arial MT"/>
              </a:rPr>
              <a:t>()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method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each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them.</a:t>
            </a:r>
            <a:endParaRPr sz="2600">
              <a:latin typeface="Arial MT"/>
              <a:cs typeface="Arial MT"/>
            </a:endParaRPr>
          </a:p>
          <a:p>
            <a:pPr marL="355600" marR="625475" indent="-343535">
              <a:lnSpc>
                <a:spcPct val="100000"/>
              </a:lnSpc>
              <a:spcBef>
                <a:spcPts val="625"/>
              </a:spcBef>
              <a:buClr>
                <a:srgbClr val="2D7CAD"/>
              </a:buClr>
              <a:buFont typeface="Wingdings"/>
              <a:buChar char=""/>
              <a:tabLst>
                <a:tab pos="35687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component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send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broadcast</a:t>
            </a:r>
            <a:r>
              <a:rPr dirty="0" sz="2600" spc="-10">
                <a:latin typeface="Arial MT"/>
                <a:cs typeface="Arial MT"/>
              </a:rPr>
              <a:t> message </a:t>
            </a:r>
            <a:r>
              <a:rPr dirty="0" sz="2600" spc="-10">
                <a:latin typeface="Arial MT"/>
                <a:cs typeface="Arial MT"/>
              </a:rPr>
              <a:t>	</a:t>
            </a:r>
            <a:r>
              <a:rPr dirty="0" sz="2600">
                <a:latin typeface="Arial MT"/>
                <a:cs typeface="Arial MT"/>
              </a:rPr>
              <a:t>(equivalent to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system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event)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passing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intent </a:t>
            </a:r>
            <a:r>
              <a:rPr dirty="0" sz="2600" spc="-10">
                <a:latin typeface="Arial MT"/>
                <a:cs typeface="Arial MT"/>
              </a:rPr>
              <a:t>	</a:t>
            </a:r>
            <a:r>
              <a:rPr dirty="0" sz="2600">
                <a:latin typeface="Arial MT"/>
                <a:cs typeface="Arial MT"/>
              </a:rPr>
              <a:t>object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calling:</a:t>
            </a:r>
            <a:endParaRPr sz="26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54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</a:tabLst>
            </a:pPr>
            <a:r>
              <a:rPr dirty="0" sz="2200" b="1">
                <a:latin typeface="Arial"/>
                <a:cs typeface="Arial"/>
              </a:rPr>
              <a:t>sendBroadcast</a:t>
            </a:r>
            <a:r>
              <a:rPr dirty="0" sz="2200">
                <a:latin typeface="Arial MT"/>
                <a:cs typeface="Arial MT"/>
              </a:rPr>
              <a:t>(intent),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all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at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same</a:t>
            </a:r>
            <a:r>
              <a:rPr dirty="0" sz="2200" spc="-3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time</a:t>
            </a:r>
            <a:endParaRPr sz="2200">
              <a:latin typeface="Arial MT"/>
              <a:cs typeface="Arial MT"/>
            </a:endParaRPr>
          </a:p>
          <a:p>
            <a:pPr lvl="1" marL="756285" marR="180975" indent="-287020">
              <a:lnSpc>
                <a:spcPct val="100000"/>
              </a:lnSpc>
              <a:spcBef>
                <a:spcPts val="52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</a:tabLst>
            </a:pPr>
            <a:r>
              <a:rPr dirty="0" sz="2200" b="1">
                <a:latin typeface="Arial"/>
                <a:cs typeface="Arial"/>
              </a:rPr>
              <a:t>sendOrderedBroadcast</a:t>
            </a:r>
            <a:r>
              <a:rPr dirty="0" sz="2200">
                <a:latin typeface="Arial MT"/>
                <a:cs typeface="Arial MT"/>
              </a:rPr>
              <a:t>(intent),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one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at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time</a:t>
            </a:r>
            <a:r>
              <a:rPr dirty="0" sz="2200" spc="-3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according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android:priority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attribute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at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IntentFilter</a:t>
            </a:r>
            <a:endParaRPr sz="22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53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</a:tabLst>
            </a:pPr>
            <a:r>
              <a:rPr dirty="0" sz="2200" b="1">
                <a:latin typeface="Arial"/>
                <a:cs typeface="Arial"/>
              </a:rPr>
              <a:t>sendStickyBroadcast</a:t>
            </a:r>
            <a:r>
              <a:rPr dirty="0" sz="2200">
                <a:latin typeface="Arial MT"/>
                <a:cs typeface="Arial MT"/>
              </a:rPr>
              <a:t>(…)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/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10" b="1">
                <a:latin typeface="Arial"/>
                <a:cs typeface="Arial"/>
              </a:rPr>
              <a:t>removeStickyBroadcast</a:t>
            </a:r>
            <a:r>
              <a:rPr dirty="0" sz="2200" spc="-10">
                <a:latin typeface="Arial MT"/>
                <a:cs typeface="Arial MT"/>
              </a:rPr>
              <a:t>(…)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578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105"/>
              </a:spcBef>
            </a:pPr>
            <a:r>
              <a:rPr dirty="0"/>
              <a:t>BROADCAST</a:t>
            </a:r>
            <a:r>
              <a:rPr dirty="0" spc="-105"/>
              <a:t> </a:t>
            </a:r>
            <a:r>
              <a:rPr dirty="0" spc="-10"/>
              <a:t>RECEIVER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356870" marR="5080" indent="-344805">
              <a:lnSpc>
                <a:spcPct val="90000"/>
              </a:lnSpc>
              <a:spcBef>
                <a:spcPts val="434"/>
              </a:spcBef>
              <a:buClr>
                <a:srgbClr val="2D7CAD"/>
              </a:buClr>
              <a:buFont typeface="Wingdings"/>
              <a:buChar char=""/>
              <a:tabLst>
                <a:tab pos="356870" algn="l"/>
              </a:tabLst>
            </a:pPr>
            <a:r>
              <a:rPr dirty="0"/>
              <a:t>An</a:t>
            </a:r>
            <a:r>
              <a:rPr dirty="0" spc="-35"/>
              <a:t> </a:t>
            </a:r>
            <a:r>
              <a:rPr dirty="0"/>
              <a:t>easy</a:t>
            </a:r>
            <a:r>
              <a:rPr dirty="0" spc="-60"/>
              <a:t> </a:t>
            </a:r>
            <a:r>
              <a:rPr dirty="0"/>
              <a:t>form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communication,</a:t>
            </a:r>
            <a:r>
              <a:rPr dirty="0" spc="-80"/>
              <a:t> </a:t>
            </a:r>
            <a:r>
              <a:rPr dirty="0"/>
              <a:t>between</a:t>
            </a:r>
            <a:r>
              <a:rPr dirty="0" spc="-65"/>
              <a:t> </a:t>
            </a:r>
            <a:r>
              <a:rPr dirty="0" spc="-50"/>
              <a:t>a</a:t>
            </a:r>
            <a:r>
              <a:rPr dirty="0" spc="675"/>
              <a:t> </a:t>
            </a:r>
            <a:r>
              <a:rPr dirty="0"/>
              <a:t>service</a:t>
            </a:r>
            <a:r>
              <a:rPr dirty="0" spc="-55"/>
              <a:t> </a:t>
            </a:r>
            <a:r>
              <a:rPr dirty="0"/>
              <a:t>(executing</a:t>
            </a:r>
            <a:r>
              <a:rPr dirty="0" spc="-75"/>
              <a:t> </a:t>
            </a:r>
            <a:r>
              <a:rPr dirty="0"/>
              <a:t>something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95"/>
              <a:t> </a:t>
            </a:r>
            <a:r>
              <a:rPr dirty="0"/>
              <a:t>background)</a:t>
            </a:r>
            <a:r>
              <a:rPr dirty="0" spc="-45"/>
              <a:t> </a:t>
            </a:r>
            <a:r>
              <a:rPr dirty="0" spc="-25"/>
              <a:t>and </a:t>
            </a:r>
            <a:r>
              <a:rPr dirty="0"/>
              <a:t>an</a:t>
            </a:r>
            <a:r>
              <a:rPr dirty="0" spc="-60"/>
              <a:t> </a:t>
            </a:r>
            <a:r>
              <a:rPr dirty="0"/>
              <a:t>activity,</a:t>
            </a:r>
            <a:r>
              <a:rPr dirty="0" spc="35"/>
              <a:t> </a:t>
            </a:r>
            <a:r>
              <a:rPr dirty="0"/>
              <a:t>comes</a:t>
            </a:r>
            <a:r>
              <a:rPr dirty="0" spc="-85"/>
              <a:t> </a:t>
            </a:r>
            <a:r>
              <a:rPr dirty="0"/>
              <a:t>from</a:t>
            </a:r>
            <a:r>
              <a:rPr dirty="0" spc="-50"/>
              <a:t> </a:t>
            </a:r>
            <a:r>
              <a:rPr dirty="0"/>
              <a:t>registering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95"/>
              <a:t> </a:t>
            </a:r>
            <a:r>
              <a:rPr dirty="0" spc="-10"/>
              <a:t>broadcast </a:t>
            </a:r>
            <a:r>
              <a:rPr dirty="0"/>
              <a:t>receiver</a:t>
            </a:r>
            <a:r>
              <a:rPr dirty="0" spc="-85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activity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given</a:t>
            </a:r>
            <a:r>
              <a:rPr dirty="0" spc="-30"/>
              <a:t> </a:t>
            </a:r>
            <a:r>
              <a:rPr dirty="0"/>
              <a:t>broadcast</a:t>
            </a:r>
            <a:r>
              <a:rPr dirty="0" spc="-70"/>
              <a:t> </a:t>
            </a:r>
            <a:r>
              <a:rPr dirty="0" spc="-10" b="1">
                <a:latin typeface="Arial"/>
                <a:cs typeface="Arial"/>
              </a:rPr>
              <a:t>action </a:t>
            </a:r>
            <a:r>
              <a:rPr dirty="0"/>
              <a:t>defined</a:t>
            </a:r>
            <a:r>
              <a:rPr dirty="0" spc="-70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same</a:t>
            </a:r>
            <a:r>
              <a:rPr dirty="0" spc="-55"/>
              <a:t> </a:t>
            </a:r>
            <a:r>
              <a:rPr dirty="0" spc="-10"/>
              <a:t>activity.</a:t>
            </a:r>
          </a:p>
          <a:p>
            <a:pPr marL="356870" marR="228600" indent="-344805">
              <a:lnSpc>
                <a:spcPct val="90000"/>
              </a:lnSpc>
              <a:spcBef>
                <a:spcPts val="630"/>
              </a:spcBef>
              <a:buClr>
                <a:srgbClr val="2D7CAD"/>
              </a:buClr>
              <a:buFont typeface="Wingdings"/>
              <a:buChar char=""/>
              <a:tabLst>
                <a:tab pos="356870" algn="l"/>
              </a:tabLst>
            </a:pPr>
            <a:r>
              <a:rPr dirty="0"/>
              <a:t>The</a:t>
            </a:r>
            <a:r>
              <a:rPr dirty="0" spc="-45"/>
              <a:t> </a:t>
            </a:r>
            <a:r>
              <a:rPr dirty="0"/>
              <a:t>service,</a:t>
            </a:r>
            <a:r>
              <a:rPr dirty="0" spc="-55"/>
              <a:t> </a:t>
            </a:r>
            <a:r>
              <a:rPr dirty="0"/>
              <a:t>after</a:t>
            </a:r>
            <a:r>
              <a:rPr dirty="0" spc="-40"/>
              <a:t> </a:t>
            </a:r>
            <a:r>
              <a:rPr dirty="0"/>
              <a:t>finishing</a:t>
            </a:r>
            <a:r>
              <a:rPr dirty="0" spc="-65"/>
              <a:t> </a:t>
            </a:r>
            <a:r>
              <a:rPr dirty="0"/>
              <a:t>its</a:t>
            </a:r>
            <a:r>
              <a:rPr dirty="0" spc="-10"/>
              <a:t> </a:t>
            </a:r>
            <a:r>
              <a:rPr dirty="0"/>
              <a:t>work,</a:t>
            </a:r>
            <a:r>
              <a:rPr dirty="0" spc="-55"/>
              <a:t> </a:t>
            </a:r>
            <a:r>
              <a:rPr dirty="0" spc="-25"/>
              <a:t>to </a:t>
            </a:r>
            <a:r>
              <a:rPr dirty="0"/>
              <a:t>asynchronously</a:t>
            </a:r>
            <a:r>
              <a:rPr dirty="0" spc="-100"/>
              <a:t> </a:t>
            </a:r>
            <a:r>
              <a:rPr dirty="0"/>
              <a:t>communicate</a:t>
            </a:r>
            <a:r>
              <a:rPr dirty="0" spc="-60"/>
              <a:t> </a:t>
            </a:r>
            <a:r>
              <a:rPr dirty="0"/>
              <a:t>its</a:t>
            </a:r>
            <a:r>
              <a:rPr dirty="0" spc="-95"/>
              <a:t> </a:t>
            </a:r>
            <a:r>
              <a:rPr dirty="0"/>
              <a:t>outcome,</a:t>
            </a:r>
            <a:r>
              <a:rPr dirty="0" spc="-90"/>
              <a:t> </a:t>
            </a:r>
            <a:r>
              <a:rPr dirty="0" spc="-10"/>
              <a:t>sends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broadcast</a:t>
            </a:r>
            <a:r>
              <a:rPr dirty="0" spc="-70"/>
              <a:t> </a:t>
            </a:r>
            <a:r>
              <a:rPr dirty="0"/>
              <a:t>message</a:t>
            </a:r>
            <a:r>
              <a:rPr dirty="0" spc="-110"/>
              <a:t> </a:t>
            </a:r>
            <a:r>
              <a:rPr dirty="0"/>
              <a:t>with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predefined</a:t>
            </a:r>
            <a:r>
              <a:rPr dirty="0" spc="-20"/>
              <a:t> </a:t>
            </a:r>
            <a:r>
              <a:rPr dirty="0" spc="-10" b="1">
                <a:latin typeface="Arial"/>
                <a:cs typeface="Arial"/>
              </a:rPr>
              <a:t>action</a:t>
            </a:r>
            <a:r>
              <a:rPr dirty="0" spc="-10"/>
              <a:t>,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attached</a:t>
            </a:r>
            <a:r>
              <a:rPr dirty="0" spc="-65"/>
              <a:t> </a:t>
            </a:r>
            <a:r>
              <a:rPr dirty="0"/>
              <a:t>Intent</a:t>
            </a:r>
            <a:r>
              <a:rPr dirty="0" spc="-45"/>
              <a:t> </a:t>
            </a:r>
            <a:r>
              <a:rPr dirty="0"/>
              <a:t>object</a:t>
            </a:r>
            <a:r>
              <a:rPr dirty="0" spc="-50"/>
              <a:t> </a:t>
            </a:r>
            <a:r>
              <a:rPr dirty="0"/>
              <a:t>will</a:t>
            </a:r>
            <a:r>
              <a:rPr dirty="0" spc="-20"/>
              <a:t> </a:t>
            </a:r>
            <a:r>
              <a:rPr dirty="0"/>
              <a:t>contain</a:t>
            </a:r>
            <a:r>
              <a:rPr dirty="0" spc="-65"/>
              <a:t> </a:t>
            </a:r>
            <a:r>
              <a:rPr dirty="0"/>
              <a:t>all</a:t>
            </a:r>
            <a:r>
              <a:rPr dirty="0" spc="-15"/>
              <a:t> </a:t>
            </a:r>
            <a:r>
              <a:rPr dirty="0" spc="-25"/>
              <a:t>the </a:t>
            </a:r>
            <a:r>
              <a:rPr dirty="0"/>
              <a:t>necessary</a:t>
            </a:r>
            <a:r>
              <a:rPr dirty="0" spc="-105"/>
              <a:t> </a:t>
            </a:r>
            <a:r>
              <a:rPr dirty="0"/>
              <a:t>Extras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deliver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task</a:t>
            </a:r>
            <a:r>
              <a:rPr dirty="0" spc="-65"/>
              <a:t> </a:t>
            </a:r>
            <a:r>
              <a:rPr dirty="0" spc="-10"/>
              <a:t>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al0n</Company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Jesús Alonso</dc:creator>
  <dc:title>PROGRAMA DE POSTGRAU DE DISSENY I CREACIÓ DE VIDEOJOCS</dc:title>
  <dcterms:created xsi:type="dcterms:W3CDTF">2023-11-28T14:42:15Z</dcterms:created>
  <dcterms:modified xsi:type="dcterms:W3CDTF">2023-11-28T14:42:15Z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2018-03-19T00:00:00Z</vt:filetime>
  </property>
  <property fmtid="{D5CDD505-2E9C-101B-9397-08002B2CF9AE}" pid="3" name="Creator">
    <vt:lpwstr>Acrobat PDFMaker 11 para PowerPoint</vt:lpwstr>
  </property>
  <property fmtid="{D5CDD505-2E9C-101B-9397-08002B2CF9AE}" pid="4" name="LastSaved">
    <vt:filetime>2023-11-28T00:00:00Z</vt:filetime>
  </property>
  <property fmtid="{D5CDD505-2E9C-101B-9397-08002B2CF9AE}" pid="5" name="Producer">
    <vt:lpwstr>Adobe PDF Library 11.0</vt:lpwstr>
  </property>
</Properties>
</file>