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49:23.8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4312 0 0,'23'27'146'0'0,"-18"-22"-67"0"0,1 1 0 0 0,-1 0 0 0 0,-1 0 0 0 0,1 0-1 0 0,-1 1 1 0 0,0-1 0 0 0,-1 1 0 0 0,6 14 0 0 0,3 26 265 0 0,-2 1 0 0 0,-2 0 1 0 0,-3 0-1 0 0,0 61 0 0 0,8 79 359 0 0,-6-59-467 0 0,1 209 145 0 0,-3-208-314 0 0,-1 4-39 0 0,-8 257 25 0 0,-13 552-50 0 0,32-447-9 0 0,0 83-4 0 0,-5-109 10 0 0,-9-15 0 0 0,2-14 0 0 0,4 62 1 0 0,0-255 15 0 0,1 215 15 0 0,-7-304-16 0 0,-2 187 68 0 0,-2-207-57 0 0,-18 353 56 0 0,5-232 2 0 0,7-95-6 0 0,5-23 51 0 0,16 156 0 0 0,-9-250-91 0 0,1 30 18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8:17.2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335 1 5624 0 0,'3'4'56'0'0,"-2"-3"-52"0"0,0 1 0 0 0,-1-1 0 0 0,1 0 0 0 0,0 0 1 0 0,-1 0-1 0 0,0 1 0 0 0,1-1 0 0 0,-1 0 0 0 0,1 0 0 0 0,-1 1 1 0 0,0-1-1 0 0,0 0 0 0 0,0 1 0 0 0,0-1 0 0 0,0 0 0 0 0,0 1 0 0 0,0-1 1 0 0,0 0-1 0 0,-1 1 0 0 0,1-1 0 0 0,0 0 0 0 0,-2 3 0 0 0,1-2 6 0 0,-1 1 0 0 0,0-1 0 0 0,0 0 0 0 0,0 0 0 0 0,-1 1-1 0 0,1-2 1 0 0,0 1 0 0 0,-1 0 0 0 0,1 0 0 0 0,-1-1 0 0 0,0 1-1 0 0,1-1 1 0 0,-5 1 0 0 0,5 0 4 0 0,-1-1-1 0 0,0 1 1 0 0,1-1-1 0 0,0 1 1 0 0,-1 0 0 0 0,1 0-1 0 0,0 0 1 0 0,0 0-1 0 0,0 1 1 0 0,0-1-1 0 0,1 0 1 0 0,-1 1 0 0 0,1-1-1 0 0,-1 1 1 0 0,1 0-1 0 0,0-1 1 0 0,-2 7 0 0 0,0 4 95 0 0,0 1 1 0 0,-3 24 0 0 0,1 1 3 0 0,0-5 1 0 0,2 0 0 0 0,1 56 0 0 0,0-7 50 0 0,2-3-31 0 0,1-47-64 0 0,-6 59-1 0 0,-2-43 40 0 0,-1 76 0 0 0,-6 102 110 0 0,7-57-116 0 0,1 72-1 0 0,12 162 46 0 0,6-230-86 0 0,0 37-1 0 0,-13-136-25 0 0,13 115 1 0 0,12 131 42 0 0,-12-120-32 0 0,-1 224 30 0 0,-11-277-43 0 0,-4 59 14 0 0,-10 64-1 0 0,-8 97-3 0 0,-30 197 29 0 0,8-132-8 0 0,7-88-17 0 0,-4 50-5 0 0,-27 469 63 0 0,72 30 44 0 0,41-349 13 0 0,-17-234-95 0 0,30 144-2 0 0,-50-404-58 0 0,49 387 66 0 0,-13 8 13 0 0,-3-48-21 0 0,-38-209-38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8:20.0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125 0 5416 0 0,'0'43'14'0'0,"5"-14"12"0"0,-4-21-15 0 0,0 0 1 0 0,-1 0-1 0 0,0 0 0 0 0,-1-1 1 0 0,0 1-1 0 0,0 0 1 0 0,-1 0-1 0 0,0-1 0 0 0,0 1 1 0 0,-5 10-1 0 0,-6 28 25 0 0,-6 61 236 0 0,6 0-1 0 0,0 200 1 0 0,-10 523 624 0 0,18-734-842 0 0,-23 797 540 0 0,26-634-446 0 0,4 189 104 0 0,56 483 50 0 0,-31-461-99 0 0,25 478 61 0 0,-49-882-252 0 0,39 1697 271 0 0,-2-800-19 0 0,-16-804-154 0 0,7-1 0 0 0,73 220 0 0 0,-57-250-55 0 0,-24-71-12 0 0,17 68 1 0 0,74 236 101 0 0,-21-70-64 0 0,-64-191-57 0 0,45 196 75 0 0,-48-133-56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8:22.2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0 7328 0 0,'4'15'38'0'0,"-2"-8"-11"0"0,-1-3 1 0 0,-1-3 13 0 0,-10 10 143 0 0,9-10-164 0 0,-1 1-1 0 0,0-1 0 0 0,1 0 1 0 0,-1 1-1 0 0,1-1 0 0 0,0 1 1 0 0,-1-1-1 0 0,1 1 0 0 0,0 0 0 0 0,0 0 1 0 0,0-1-1 0 0,0 1 0 0 0,0 0 1 0 0,1 0-1 0 0,-1 0 0 0 0,0 3 1 0 0,2 37 385 0 0,62 409 631 0 0,-44-135-645 0 0,-14-170-300 0 0,20 956 268 0 0,-47-462-209 0 0,3-239-85 0 0,6-64-6 0 0,-4 205 27 0 0,2 213 11 0 0,11-525-66 0 0,0 128 8 0 0,4-16-2 0 0,4 109-1 0 0,13 287 28 0 0,-10-335-33 0 0,-2-91-11 0 0,4 134 9 0 0,5-83-1 0 0,29 861 55 0 0,-38-944-67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8:25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489 0 3000 0 0,'18'13'16'0'0,"-4"-5"9"0"0,4 7 23 0 0,-16-13-44 0 0,-1-1-1 0 0,0 0 0 0 0,0 1 1 0 0,0-1-1 0 0,0 1 0 0 0,0-1 1 0 0,0 1-1 0 0,0-1 0 0 0,0 1 1 0 0,0 0-1 0 0,-1 0 0 0 0,1-1 1 0 0,-1 1-1 0 0,1 0 0 0 0,-1 0 1 0 0,0-1-1 0 0,1 5 0 0 0,-2 18 97 0 0,5 39-1 0 0,0 13-22 0 0,0 162 350 0 0,2-144-187 0 0,-3-63-160 0 0,-1 1 0 0 0,-3 37 0 0 0,-2 29 29 0 0,3-64-56 0 0,-2 0 0 0 0,-10 60 0 0 0,-16 87 94 0 0,11-93-91 0 0,-10 35 21 0 0,14-64-4 0 0,-9 94-1 0 0,11-59 63 0 0,-6 95 49 0 0,8-64-48 0 0,-82 455 344 0 0,50-323-302 0 0,12-47 100 0 0,-3 12-46 0 0,12-75-45 0 0,6-41 4 0 0,-66 381 488 0 0,63-357-410 0 0,-1 199 0 0 0,15-225-160 0 0,-15 271 331 0 0,5-252-207 0 0,3-64-139 0 0,7-48-68 0 0,1 0 0 0 0,0 0 1 0 0,-1 21-1 0 0,2-2 82 0 0,-7 34 1 0 0,4-38-40 0 0,2 0 0 0 0,0 32 0 0 0,18 123 172 0 0,-9-146-150 0 0,12 36 0 0 0,-6-25 6 0 0,-8-17-55 0 0,-1-1-1 0 0,-2 1 1 0 0,0 0 0 0 0,-2 0 0 0 0,-1 0 0 0 0,-9 51 0 0 0,1-6 22 0 0,7 53 52 0 0,2-112-98 0 0,1 262 252 0 0,-6-160-178 0 0,0-46-17 0 0,7 96 0 0 0,1-48-13 0 0,7 98 53 0 0,-2-81-57 0 0,46 707 130 0 0,-49-727-164 0 0,3 23-4 0 0,8 150 6 0 0,-8 10 14 0 0,-1 67-16 0 0,-4-69-7 0 0,-8-189-2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0" y="285750"/>
            <a:ext cx="2143505" cy="6522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0" y="6400800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495" y="266477"/>
            <a:ext cx="6549009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8750" y="2809430"/>
            <a:ext cx="5766498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622" y="835152"/>
            <a:ext cx="3358121" cy="102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888"/>
            <a:ext cx="183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Postgrado</a:t>
            </a:r>
            <a:r>
              <a:rPr sz="2400" spc="-75" dirty="0">
                <a:solidFill>
                  <a:srgbClr val="5C072C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2897"/>
            <a:ext cx="3888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Mobile</a:t>
            </a:r>
            <a:r>
              <a:rPr sz="3200" spc="-16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Apps</a:t>
            </a:r>
            <a:r>
              <a:rPr sz="3200" spc="-5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8625" marR="5080" indent="-16865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PROGRAMMING</a:t>
            </a:r>
            <a:r>
              <a:rPr spc="-70" dirty="0"/>
              <a:t> </a:t>
            </a:r>
            <a:r>
              <a:rPr spc="-5" dirty="0"/>
              <a:t>WITH </a:t>
            </a:r>
            <a:r>
              <a:rPr spc="-1070" dirty="0"/>
              <a:t> </a:t>
            </a:r>
            <a:r>
              <a:rPr spc="-5" dirty="0"/>
              <a:t>THREADS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Juan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Luis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0917" y="266477"/>
            <a:ext cx="5574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PROCESSES</a:t>
            </a:r>
            <a:r>
              <a:rPr spc="-55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spc="-5" dirty="0"/>
              <a:t>THREADS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95108"/>
            <a:ext cx="8032750" cy="3380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Executing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threads:</a:t>
            </a:r>
            <a:endParaRPr sz="2800">
              <a:latin typeface="Arial MT"/>
              <a:cs typeface="Arial MT"/>
            </a:endParaRPr>
          </a:p>
          <a:p>
            <a:pPr marL="755015" marR="979169" lvl="1" indent="-285750">
              <a:lnSpc>
                <a:spcPct val="80000"/>
              </a:lnSpc>
              <a:spcBef>
                <a:spcPts val="5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The initial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main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" dirty="0">
                <a:latin typeface="Arial MT"/>
                <a:cs typeface="Arial MT"/>
              </a:rPr>
              <a:t> charge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dispatching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interface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events.</a:t>
            </a:r>
            <a:endParaRPr sz="2400">
              <a:latin typeface="Arial MT"/>
              <a:cs typeface="Arial MT"/>
            </a:endParaRPr>
          </a:p>
          <a:p>
            <a:pPr marL="755015" marR="390525" lvl="1" indent="-285750">
              <a:lnSpc>
                <a:spcPts val="2300"/>
              </a:lnSpc>
              <a:spcBef>
                <a:spcPts val="56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heavy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computations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recommended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auxiliary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different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 UI.</a:t>
            </a:r>
            <a:endParaRPr sz="2400">
              <a:latin typeface="Arial MT"/>
              <a:cs typeface="Arial MT"/>
            </a:endParaRPr>
          </a:p>
          <a:p>
            <a:pPr marL="755015" marR="140335" lvl="1" indent="-285750">
              <a:lnSpc>
                <a:spcPts val="2300"/>
              </a:lnSpc>
              <a:spcBef>
                <a:spcPts val="5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" dirty="0">
                <a:latin typeface="Arial MT"/>
                <a:cs typeface="Arial MT"/>
              </a:rPr>
              <a:t> events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UI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 be executed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UI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thread</a:t>
            </a:r>
            <a:r>
              <a:rPr sz="2400" spc="-5" dirty="0">
                <a:latin typeface="Arial MT"/>
                <a:cs typeface="Arial MT"/>
              </a:rPr>
              <a:t>, it’s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 allowed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modify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UI.</a:t>
            </a:r>
            <a:endParaRPr sz="2400">
              <a:latin typeface="Arial MT"/>
              <a:cs typeface="Arial MT"/>
            </a:endParaRPr>
          </a:p>
          <a:p>
            <a:pPr marL="755015" lvl="1" indent="-285750">
              <a:lnSpc>
                <a:spcPts val="2590"/>
              </a:lnSpc>
              <a:spcBef>
                <a:spcPts val="3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interact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 the</a:t>
            </a:r>
            <a:r>
              <a:rPr sz="2400" dirty="0">
                <a:latin typeface="Arial MT"/>
                <a:cs typeface="Arial MT"/>
              </a:rPr>
              <a:t> UI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 </a:t>
            </a:r>
            <a:r>
              <a:rPr sz="2400" spc="-5" dirty="0">
                <a:latin typeface="Arial MT"/>
                <a:cs typeface="Arial MT"/>
              </a:rPr>
              <a:t>can use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Handler</a:t>
            </a:r>
            <a:endParaRPr sz="2400">
              <a:latin typeface="Arial"/>
              <a:cs typeface="Arial"/>
            </a:endParaRPr>
          </a:p>
          <a:p>
            <a:pPr marL="755015">
              <a:lnSpc>
                <a:spcPts val="2590"/>
              </a:lnSpc>
            </a:pP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communication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channel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among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threads.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A7C25CB-D9CA-79DA-F7CF-E57CDF391081}"/>
                  </a:ext>
                </a:extLst>
              </p14:cNvPr>
              <p14:cNvContentPartPr/>
              <p14:nvPr/>
            </p14:nvContentPartPr>
            <p14:xfrm>
              <a:off x="829017" y="1562183"/>
              <a:ext cx="69120" cy="30358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A7C25CB-D9CA-79DA-F7CF-E57CDF3910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5017" y="1454183"/>
                <a:ext cx="176760" cy="325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7029" y="266477"/>
            <a:ext cx="37820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THREADS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5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8250"/>
            <a:ext cx="8026400" cy="42316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150495" indent="-342900">
              <a:lnSpc>
                <a:spcPts val="2880"/>
              </a:lnSpc>
              <a:spcBef>
                <a:spcPts val="795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To </a:t>
            </a:r>
            <a:r>
              <a:rPr sz="3000" dirty="0">
                <a:latin typeface="Arial MT"/>
                <a:cs typeface="Arial MT"/>
              </a:rPr>
              <a:t>code </a:t>
            </a:r>
            <a:r>
              <a:rPr sz="3000" spc="-5" dirty="0">
                <a:latin typeface="Arial MT"/>
                <a:cs typeface="Arial MT"/>
              </a:rPr>
              <a:t>auxiliary threads in </a:t>
            </a:r>
            <a:r>
              <a:rPr sz="3000" dirty="0">
                <a:latin typeface="Arial MT"/>
                <a:cs typeface="Arial MT"/>
              </a:rPr>
              <a:t>Java, you </a:t>
            </a:r>
            <a:r>
              <a:rPr sz="3000" spc="-5" dirty="0">
                <a:latin typeface="Arial MT"/>
                <a:cs typeface="Arial MT"/>
              </a:rPr>
              <a:t>must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create </a:t>
            </a:r>
            <a:r>
              <a:rPr sz="3000" dirty="0">
                <a:latin typeface="Arial MT"/>
                <a:cs typeface="Arial MT"/>
              </a:rPr>
              <a:t>a Java class </a:t>
            </a:r>
            <a:r>
              <a:rPr sz="3000" spc="-5" dirty="0">
                <a:latin typeface="Arial MT"/>
                <a:cs typeface="Arial MT"/>
              </a:rPr>
              <a:t>as an extension of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b="1" spc="-5" dirty="0">
                <a:latin typeface="Arial"/>
                <a:cs typeface="Arial"/>
              </a:rPr>
              <a:t>Thread </a:t>
            </a:r>
            <a:r>
              <a:rPr sz="3000" spc="-5" dirty="0">
                <a:latin typeface="Arial MT"/>
                <a:cs typeface="Arial MT"/>
              </a:rPr>
              <a:t>or implementation of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b="1" spc="-5" dirty="0">
                <a:latin typeface="Arial"/>
                <a:cs typeface="Arial"/>
              </a:rPr>
              <a:t>Runnable </a:t>
            </a:r>
            <a:r>
              <a:rPr sz="3000" b="1" dirty="0">
                <a:latin typeface="Arial"/>
                <a:cs typeface="Arial"/>
              </a:rPr>
              <a:t> </a:t>
            </a:r>
            <a:r>
              <a:rPr sz="3000" spc="-5" dirty="0">
                <a:latin typeface="Arial MT"/>
                <a:cs typeface="Arial MT"/>
              </a:rPr>
              <a:t>interface. </a:t>
            </a:r>
            <a:r>
              <a:rPr sz="3000" dirty="0">
                <a:latin typeface="Arial MT"/>
                <a:cs typeface="Arial MT"/>
              </a:rPr>
              <a:t>In </a:t>
            </a:r>
            <a:r>
              <a:rPr sz="3000" spc="-5" dirty="0">
                <a:latin typeface="Arial MT"/>
                <a:cs typeface="Arial MT"/>
              </a:rPr>
              <a:t>both </a:t>
            </a:r>
            <a:r>
              <a:rPr sz="3000" dirty="0">
                <a:latin typeface="Arial MT"/>
                <a:cs typeface="Arial MT"/>
              </a:rPr>
              <a:t>cases, the Java class </a:t>
            </a:r>
            <a:r>
              <a:rPr sz="3000" spc="-5" dirty="0">
                <a:latin typeface="Arial MT"/>
                <a:cs typeface="Arial MT"/>
              </a:rPr>
              <a:t>must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overwrite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spc="-5" dirty="0">
                <a:latin typeface="Arial MT"/>
                <a:cs typeface="Arial MT"/>
              </a:rPr>
              <a:t>method </a:t>
            </a:r>
            <a:r>
              <a:rPr sz="3000" b="1" spc="-5" dirty="0">
                <a:latin typeface="Arial"/>
                <a:cs typeface="Arial"/>
              </a:rPr>
              <a:t>run</a:t>
            </a:r>
            <a:r>
              <a:rPr sz="3000" spc="-5" dirty="0">
                <a:latin typeface="Arial MT"/>
                <a:cs typeface="Arial MT"/>
              </a:rPr>
              <a:t>() with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spc="-10" dirty="0">
                <a:latin typeface="Arial MT"/>
                <a:cs typeface="Arial MT"/>
              </a:rPr>
              <a:t>intended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code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for 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new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thread.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ts val="2880"/>
              </a:lnSpc>
              <a:spcBef>
                <a:spcPts val="720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To </a:t>
            </a:r>
            <a:r>
              <a:rPr sz="3000" dirty="0">
                <a:latin typeface="Arial MT"/>
                <a:cs typeface="Arial MT"/>
              </a:rPr>
              <a:t>start the </a:t>
            </a:r>
            <a:r>
              <a:rPr sz="3000" spc="-5" dirty="0">
                <a:latin typeface="Arial MT"/>
                <a:cs typeface="Arial MT"/>
              </a:rPr>
              <a:t>new thread </a:t>
            </a:r>
            <a:r>
              <a:rPr sz="3000" dirty="0">
                <a:latin typeface="Arial MT"/>
                <a:cs typeface="Arial MT"/>
              </a:rPr>
              <a:t>you </a:t>
            </a:r>
            <a:r>
              <a:rPr sz="3000" spc="-5" dirty="0">
                <a:latin typeface="Arial MT"/>
                <a:cs typeface="Arial MT"/>
              </a:rPr>
              <a:t>must instantiate </a:t>
            </a:r>
            <a:r>
              <a:rPr sz="3000" dirty="0">
                <a:latin typeface="Arial MT"/>
                <a:cs typeface="Arial MT"/>
              </a:rPr>
              <a:t> 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Java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class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invoke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method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b="1" spc="-5" dirty="0">
                <a:latin typeface="Arial"/>
                <a:cs typeface="Arial"/>
              </a:rPr>
              <a:t>start</a:t>
            </a:r>
            <a:r>
              <a:rPr sz="3000" spc="-5" dirty="0">
                <a:latin typeface="Arial MT"/>
                <a:cs typeface="Arial MT"/>
              </a:rPr>
              <a:t>(),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not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spc="-5" dirty="0">
                <a:latin typeface="Arial MT"/>
                <a:cs typeface="Arial MT"/>
              </a:rPr>
              <a:t>method </a:t>
            </a:r>
            <a:r>
              <a:rPr sz="3000" b="1" spc="-5" dirty="0">
                <a:latin typeface="Arial"/>
                <a:cs typeface="Arial"/>
              </a:rPr>
              <a:t>run</a:t>
            </a:r>
            <a:r>
              <a:rPr sz="3000" spc="-5" dirty="0">
                <a:latin typeface="Arial MT"/>
                <a:cs typeface="Arial MT"/>
              </a:rPr>
              <a:t>(). This way we are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requesting </a:t>
            </a:r>
            <a:r>
              <a:rPr sz="3000" dirty="0">
                <a:latin typeface="Arial MT"/>
                <a:cs typeface="Arial MT"/>
              </a:rPr>
              <a:t>to the </a:t>
            </a:r>
            <a:r>
              <a:rPr sz="3000" spc="-5" dirty="0">
                <a:latin typeface="Arial MT"/>
                <a:cs typeface="Arial MT"/>
              </a:rPr>
              <a:t>JVM </a:t>
            </a:r>
            <a:r>
              <a:rPr sz="3000" dirty="0">
                <a:latin typeface="Arial MT"/>
                <a:cs typeface="Arial MT"/>
              </a:rPr>
              <a:t>to </a:t>
            </a:r>
            <a:r>
              <a:rPr sz="3000" spc="-5" dirty="0">
                <a:latin typeface="Arial MT"/>
                <a:cs typeface="Arial MT"/>
              </a:rPr>
              <a:t>launch </a:t>
            </a:r>
            <a:r>
              <a:rPr sz="3000" dirty="0">
                <a:latin typeface="Arial MT"/>
                <a:cs typeface="Arial MT"/>
              </a:rPr>
              <a:t>a </a:t>
            </a:r>
            <a:r>
              <a:rPr sz="3000" spc="-5" dirty="0">
                <a:latin typeface="Arial MT"/>
                <a:cs typeface="Arial MT"/>
              </a:rPr>
              <a:t>new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executing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thread.</a:t>
            </a:r>
            <a:endParaRPr sz="3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FBD6375-DA8C-C9E3-3050-AC122A46406E}"/>
                  </a:ext>
                </a:extLst>
              </p14:cNvPr>
              <p14:cNvContentPartPr/>
              <p14:nvPr/>
            </p14:nvContentPartPr>
            <p14:xfrm>
              <a:off x="667377" y="1661190"/>
              <a:ext cx="124200" cy="38865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FBD6375-DA8C-C9E3-3050-AC122A4640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377" y="1553550"/>
                <a:ext cx="231840" cy="410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567" y="266477"/>
            <a:ext cx="2793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ANDROID.OS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540"/>
            <a:ext cx="7944484" cy="43853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marR="5080" indent="-342900">
              <a:lnSpc>
                <a:spcPts val="1920"/>
              </a:lnSpc>
              <a:spcBef>
                <a:spcPts val="56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Handler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is used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by 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auxiliary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thread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sending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messages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thru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it,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as in: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C7BAC"/>
              </a:buClr>
              <a:buFont typeface="Wingdings"/>
              <a:buChar char=""/>
            </a:pPr>
            <a:endParaRPr sz="2100">
              <a:latin typeface="Arial MT"/>
              <a:cs typeface="Arial MT"/>
            </a:endParaRPr>
          </a:p>
          <a:p>
            <a:pPr marL="926465" marR="320929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Message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msg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handler.obtainMessage();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Bundle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 = </a:t>
            </a:r>
            <a:r>
              <a:rPr sz="1600" spc="-5" dirty="0">
                <a:latin typeface="Arial MT"/>
                <a:cs typeface="Arial MT"/>
              </a:rPr>
              <a:t>new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Bundle();</a:t>
            </a:r>
            <a:endParaRPr sz="1600">
              <a:latin typeface="Arial MT"/>
              <a:cs typeface="Arial MT"/>
            </a:endParaRPr>
          </a:p>
          <a:p>
            <a:pPr marL="927100" marR="4436110">
              <a:lnSpc>
                <a:spcPts val="1920"/>
              </a:lnSpc>
              <a:spcBef>
                <a:spcPts val="65"/>
              </a:spcBef>
            </a:pPr>
            <a:r>
              <a:rPr sz="1600" spc="-5" dirty="0">
                <a:latin typeface="Arial MT"/>
                <a:cs typeface="Arial MT"/>
              </a:rPr>
              <a:t>//put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data inside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bundle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msg.setData(b);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handler.sendMessage(msg);</a:t>
            </a:r>
            <a:endParaRPr sz="1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60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And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UI thread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will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receive those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messages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by: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Arial MT"/>
              <a:cs typeface="Arial MT"/>
            </a:endParaRPr>
          </a:p>
          <a:p>
            <a:pPr marL="1155700" marR="3933190" indent="-22923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Handler handler </a:t>
            </a:r>
            <a:r>
              <a:rPr sz="1600" dirty="0">
                <a:latin typeface="Arial MT"/>
                <a:cs typeface="Arial MT"/>
              </a:rPr>
              <a:t>= </a:t>
            </a:r>
            <a:r>
              <a:rPr sz="1600" spc="-5" dirty="0">
                <a:latin typeface="Arial MT"/>
                <a:cs typeface="Arial MT"/>
              </a:rPr>
              <a:t>new Handler() </a:t>
            </a:r>
            <a:r>
              <a:rPr sz="1600" dirty="0">
                <a:latin typeface="Arial MT"/>
                <a:cs typeface="Arial MT"/>
              </a:rPr>
              <a:t>{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@Override</a:t>
            </a:r>
            <a:endParaRPr sz="1600">
              <a:latin typeface="Arial MT"/>
              <a:cs typeface="Arial MT"/>
            </a:endParaRPr>
          </a:p>
          <a:p>
            <a:pPr marL="1155700">
              <a:lnSpc>
                <a:spcPts val="1920"/>
              </a:lnSpc>
            </a:pPr>
            <a:r>
              <a:rPr sz="1600" spc="-5" dirty="0">
                <a:latin typeface="Arial MT"/>
                <a:cs typeface="Arial MT"/>
              </a:rPr>
              <a:t>public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void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handleMessage(Message msg)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12700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//the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processing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message</a:t>
            </a:r>
            <a:endParaRPr sz="1600">
              <a:latin typeface="Arial MT"/>
              <a:cs typeface="Arial MT"/>
            </a:endParaRPr>
          </a:p>
          <a:p>
            <a:pPr marL="1155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};</a:t>
            </a:r>
            <a:endParaRPr sz="16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00FFDBA-DCD5-1971-B47F-A347CFD2335B}"/>
                  </a:ext>
                </a:extLst>
              </p14:cNvPr>
              <p14:cNvContentPartPr/>
              <p14:nvPr/>
            </p14:nvContentPartPr>
            <p14:xfrm>
              <a:off x="755217" y="1771710"/>
              <a:ext cx="298800" cy="38224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00FFDBA-DCD5-1971-B47F-A347CFD233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217" y="1663710"/>
                <a:ext cx="406440" cy="403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8695" y="266477"/>
            <a:ext cx="25184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ASYNCTASK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540"/>
            <a:ext cx="8067675" cy="453898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marR="5080" indent="-342900">
              <a:lnSpc>
                <a:spcPts val="1920"/>
              </a:lnSpc>
              <a:spcBef>
                <a:spcPts val="56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An alternative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coding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 auxiliary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threads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with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Thread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Java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class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AsyncTask</a:t>
            </a:r>
            <a:r>
              <a:rPr sz="1300" spc="-5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1841500" marR="1716405" indent="-915035">
              <a:lnSpc>
                <a:spcPct val="100000"/>
              </a:lnSpc>
              <a:spcBef>
                <a:spcPts val="1600"/>
              </a:spcBef>
            </a:pPr>
            <a:r>
              <a:rPr sz="1300" spc="-5" dirty="0">
                <a:latin typeface="Arial MT"/>
                <a:cs typeface="Arial MT"/>
              </a:rPr>
              <a:t>private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class</a:t>
            </a:r>
            <a:r>
              <a:rPr sz="1300" dirty="0">
                <a:latin typeface="Arial MT"/>
                <a:cs typeface="Arial MT"/>
              </a:rPr>
              <a:t> MyAsyncTask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extends </a:t>
            </a:r>
            <a:r>
              <a:rPr sz="1300" spc="-5" dirty="0">
                <a:latin typeface="Arial MT"/>
                <a:cs typeface="Arial MT"/>
              </a:rPr>
              <a:t>AsyncTask&lt;String,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Integer,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Integer&gt;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 </a:t>
            </a:r>
            <a:r>
              <a:rPr sz="1300" spc="-35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@Override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protected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void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onProgressUpdate(Integer...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progress)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</a:t>
            </a:r>
            <a:endParaRPr sz="13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//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[...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Update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progress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bar,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Notification,</a:t>
            </a:r>
            <a:r>
              <a:rPr sz="1300" dirty="0">
                <a:latin typeface="Arial MT"/>
                <a:cs typeface="Arial MT"/>
              </a:rPr>
              <a:t> or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other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UI element </a:t>
            </a:r>
            <a:r>
              <a:rPr sz="1300" spc="-5" dirty="0">
                <a:latin typeface="Arial MT"/>
                <a:cs typeface="Arial MT"/>
              </a:rPr>
              <a:t>...]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@Override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protected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void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onPostExecute(Integer...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result)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</a:t>
            </a:r>
            <a:endParaRPr sz="13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//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[...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Report </a:t>
            </a:r>
            <a:r>
              <a:rPr sz="1300" spc="-5" dirty="0">
                <a:latin typeface="Arial MT"/>
                <a:cs typeface="Arial MT"/>
              </a:rPr>
              <a:t>results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via </a:t>
            </a:r>
            <a:r>
              <a:rPr sz="1300" dirty="0">
                <a:latin typeface="Arial MT"/>
                <a:cs typeface="Arial MT"/>
              </a:rPr>
              <a:t>UI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update,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Dialog, </a:t>
            </a:r>
            <a:r>
              <a:rPr sz="1300" dirty="0">
                <a:latin typeface="Arial MT"/>
                <a:cs typeface="Arial MT"/>
              </a:rPr>
              <a:t>or </a:t>
            </a:r>
            <a:r>
              <a:rPr sz="1300" spc="-5" dirty="0">
                <a:latin typeface="Arial MT"/>
                <a:cs typeface="Arial MT"/>
              </a:rPr>
              <a:t>notification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...]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@Override</a:t>
            </a:r>
            <a:endParaRPr sz="1300">
              <a:latin typeface="Arial MT"/>
              <a:cs typeface="Arial MT"/>
            </a:endParaRPr>
          </a:p>
          <a:p>
            <a:pPr marL="2755900" marR="2129790" indent="-9144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protected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Integer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doInBackground(String...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parameter)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 </a:t>
            </a:r>
            <a:r>
              <a:rPr sz="1300" dirty="0">
                <a:latin typeface="Arial MT"/>
                <a:cs typeface="Arial MT"/>
              </a:rPr>
              <a:t>myProgress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= 0;</a:t>
            </a:r>
            <a:endParaRPr sz="1300">
              <a:latin typeface="Arial MT"/>
              <a:cs typeface="Arial MT"/>
            </a:endParaRPr>
          </a:p>
          <a:p>
            <a:pPr marL="2755900" marR="483234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// [... Perform </a:t>
            </a:r>
            <a:r>
              <a:rPr sz="1300" dirty="0">
                <a:latin typeface="Arial MT"/>
                <a:cs typeface="Arial MT"/>
              </a:rPr>
              <a:t>background processing </a:t>
            </a:r>
            <a:r>
              <a:rPr sz="1300" spc="-5" dirty="0">
                <a:latin typeface="Arial MT"/>
                <a:cs typeface="Arial MT"/>
              </a:rPr>
              <a:t>task, </a:t>
            </a:r>
            <a:r>
              <a:rPr sz="1300" dirty="0">
                <a:latin typeface="Arial MT"/>
                <a:cs typeface="Arial MT"/>
              </a:rPr>
              <a:t>update myProgress </a:t>
            </a:r>
            <a:r>
              <a:rPr sz="1300" spc="-5" dirty="0">
                <a:latin typeface="Arial MT"/>
                <a:cs typeface="Arial MT"/>
              </a:rPr>
              <a:t>...] </a:t>
            </a:r>
            <a:r>
              <a:rPr sz="1300" spc="-35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publishProgress(myProgress)</a:t>
            </a:r>
            <a:endParaRPr sz="13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//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[...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Continue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performing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background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processing </a:t>
            </a:r>
            <a:r>
              <a:rPr sz="1300" spc="-5" dirty="0">
                <a:latin typeface="Arial MT"/>
                <a:cs typeface="Arial MT"/>
              </a:rPr>
              <a:t>task ...]</a:t>
            </a:r>
            <a:endParaRPr sz="1300">
              <a:latin typeface="Arial MT"/>
              <a:cs typeface="Arial MT"/>
            </a:endParaRPr>
          </a:p>
          <a:p>
            <a:pPr marL="2755900" marR="1613535">
              <a:lnSpc>
                <a:spcPct val="100000"/>
              </a:lnSpc>
            </a:pPr>
            <a:r>
              <a:rPr sz="1300" spc="-5" dirty="0">
                <a:latin typeface="Arial MT"/>
                <a:cs typeface="Arial MT"/>
              </a:rPr>
              <a:t>//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Return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</a:t>
            </a:r>
            <a:r>
              <a:rPr sz="1300" dirty="0">
                <a:latin typeface="Arial MT"/>
                <a:cs typeface="Arial MT"/>
              </a:rPr>
              <a:t> value </a:t>
            </a:r>
            <a:r>
              <a:rPr sz="1300" spc="-5" dirty="0">
                <a:latin typeface="Arial MT"/>
                <a:cs typeface="Arial MT"/>
              </a:rPr>
              <a:t>to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 passed </a:t>
            </a:r>
            <a:r>
              <a:rPr sz="1300" spc="-5" dirty="0">
                <a:latin typeface="Arial MT"/>
                <a:cs typeface="Arial MT"/>
              </a:rPr>
              <a:t>to onPostExecute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return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result;</a:t>
            </a:r>
            <a:endParaRPr sz="13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193005A-35A4-9152-8136-62CC308CA543}"/>
                  </a:ext>
                </a:extLst>
              </p14:cNvPr>
              <p14:cNvContentPartPr/>
              <p14:nvPr/>
            </p14:nvContentPartPr>
            <p14:xfrm>
              <a:off x="769977" y="1614390"/>
              <a:ext cx="45000" cy="35812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193005A-35A4-9152-8136-62CC308CA5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337" y="1506390"/>
                <a:ext cx="152640" cy="379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412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TIMER,</a:t>
            </a:r>
            <a:r>
              <a:rPr spc="-75" dirty="0"/>
              <a:t> </a:t>
            </a:r>
            <a:r>
              <a:rPr spc="-5" dirty="0"/>
              <a:t>TIMERTASK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3969"/>
            <a:ext cx="8047990" cy="40062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marR="471170" indent="-342900">
              <a:lnSpc>
                <a:spcPts val="3240"/>
              </a:lnSpc>
              <a:spcBef>
                <a:spcPts val="505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For </a:t>
            </a:r>
            <a:r>
              <a:rPr sz="3000" spc="-10" dirty="0">
                <a:latin typeface="Arial MT"/>
                <a:cs typeface="Arial MT"/>
              </a:rPr>
              <a:t>periodic </a:t>
            </a:r>
            <a:r>
              <a:rPr sz="3000" dirty="0">
                <a:latin typeface="Arial MT"/>
                <a:cs typeface="Arial MT"/>
              </a:rPr>
              <a:t>tasks </a:t>
            </a:r>
            <a:r>
              <a:rPr sz="3000" spc="-5" dirty="0">
                <a:latin typeface="Arial MT"/>
                <a:cs typeface="Arial MT"/>
              </a:rPr>
              <a:t>use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b="1" spc="-5" dirty="0">
                <a:latin typeface="Arial"/>
                <a:cs typeface="Arial"/>
              </a:rPr>
              <a:t>Timer </a:t>
            </a:r>
            <a:r>
              <a:rPr sz="3000" dirty="0">
                <a:latin typeface="Arial MT"/>
                <a:cs typeface="Arial MT"/>
              </a:rPr>
              <a:t>class 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usually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by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calls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scheduling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methods:</a:t>
            </a:r>
            <a:endParaRPr sz="30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27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schedule(TimerTask,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delay)</a:t>
            </a:r>
            <a:endParaRPr sz="26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31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600" spc="-5" dirty="0">
                <a:latin typeface="Arial MT"/>
                <a:cs typeface="Arial MT"/>
              </a:rPr>
              <a:t>scheduleAtFixedRate(TimerTask,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delay,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period)</a:t>
            </a:r>
            <a:endParaRPr sz="2600">
              <a:latin typeface="Arial MT"/>
              <a:cs typeface="Arial MT"/>
            </a:endParaRPr>
          </a:p>
          <a:p>
            <a:pPr marL="354965" marR="5080" indent="-342900">
              <a:lnSpc>
                <a:spcPts val="3240"/>
              </a:lnSpc>
              <a:spcBef>
                <a:spcPts val="755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You also have </a:t>
            </a:r>
            <a:r>
              <a:rPr sz="3000" dirty="0">
                <a:latin typeface="Arial MT"/>
                <a:cs typeface="Arial MT"/>
              </a:rPr>
              <a:t>to </a:t>
            </a:r>
            <a:r>
              <a:rPr sz="3000" spc="-5" dirty="0">
                <a:latin typeface="Arial MT"/>
                <a:cs typeface="Arial MT"/>
              </a:rPr>
              <a:t>program </a:t>
            </a:r>
            <a:r>
              <a:rPr sz="3000" dirty="0">
                <a:latin typeface="Arial MT"/>
                <a:cs typeface="Arial MT"/>
              </a:rPr>
              <a:t>a class </a:t>
            </a:r>
            <a:r>
              <a:rPr sz="3000" spc="-5" dirty="0">
                <a:latin typeface="Arial MT"/>
                <a:cs typeface="Arial MT"/>
              </a:rPr>
              <a:t>as an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extension of </a:t>
            </a:r>
            <a:r>
              <a:rPr sz="3000" b="1" spc="-5" dirty="0">
                <a:latin typeface="Arial"/>
                <a:cs typeface="Arial"/>
              </a:rPr>
              <a:t>TimerTask </a:t>
            </a:r>
            <a:r>
              <a:rPr sz="3000" spc="-5" dirty="0">
                <a:latin typeface="Arial MT"/>
                <a:cs typeface="Arial MT"/>
              </a:rPr>
              <a:t>over-writing </a:t>
            </a:r>
            <a:r>
              <a:rPr sz="3000" dirty="0">
                <a:latin typeface="Arial MT"/>
                <a:cs typeface="Arial MT"/>
              </a:rPr>
              <a:t>the </a:t>
            </a:r>
            <a:r>
              <a:rPr sz="3000" spc="-5" dirty="0">
                <a:latin typeface="Arial MT"/>
                <a:cs typeface="Arial MT"/>
              </a:rPr>
              <a:t>run()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method,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specify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task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 </a:t>
            </a:r>
            <a:r>
              <a:rPr sz="3000" spc="-5" dirty="0">
                <a:latin typeface="Arial MT"/>
                <a:cs typeface="Arial MT"/>
              </a:rPr>
              <a:t>be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done.</a:t>
            </a:r>
            <a:endParaRPr sz="3000">
              <a:latin typeface="Arial MT"/>
              <a:cs typeface="Arial MT"/>
            </a:endParaRPr>
          </a:p>
          <a:p>
            <a:pPr marL="355600" marR="1061720" indent="-342900">
              <a:lnSpc>
                <a:spcPts val="3240"/>
              </a:lnSpc>
              <a:spcBef>
                <a:spcPts val="720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The execution of </a:t>
            </a:r>
            <a:r>
              <a:rPr sz="3000" dirty="0">
                <a:latin typeface="Arial MT"/>
                <a:cs typeface="Arial MT"/>
              </a:rPr>
              <a:t>the task </a:t>
            </a:r>
            <a:r>
              <a:rPr sz="3000" spc="-5" dirty="0">
                <a:latin typeface="Arial MT"/>
                <a:cs typeface="Arial MT"/>
              </a:rPr>
              <a:t>is made in an </a:t>
            </a:r>
            <a:r>
              <a:rPr sz="3000" spc="-8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independent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thread.</a:t>
            </a:r>
            <a:endParaRPr sz="3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633E3F6-5D57-0010-B836-A1DD02662656}"/>
                  </a:ext>
                </a:extLst>
              </p14:cNvPr>
              <p14:cNvContentPartPr/>
              <p14:nvPr/>
            </p14:nvContentPartPr>
            <p14:xfrm>
              <a:off x="650097" y="1667310"/>
              <a:ext cx="207360" cy="3502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633E3F6-5D57-0010-B836-A1DD02662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457" y="1559310"/>
                <a:ext cx="315000" cy="371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474</Words>
  <Application>Microsoft Office PowerPoint</Application>
  <PresentationFormat>Presentación en pantalla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Wingdings</vt:lpstr>
      <vt:lpstr>Office Theme</vt:lpstr>
      <vt:lpstr>Mobile Apps Design</vt:lpstr>
      <vt:lpstr>PROCESSES AND THREADS</vt:lpstr>
      <vt:lpstr>THREADS IN JAVA</vt:lpstr>
      <vt:lpstr>ANDROID.OS</vt:lpstr>
      <vt:lpstr>ASYNCTASK</vt:lpstr>
      <vt:lpstr>TIMER, TIMERTASK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1</cp:revision>
  <dcterms:created xsi:type="dcterms:W3CDTF">2023-11-28T14:40:21Z</dcterms:created>
  <dcterms:modified xsi:type="dcterms:W3CDTF">2023-11-28T15:58:30Z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