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7840" y="299811"/>
            <a:ext cx="5786429" cy="6918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832" y="287832"/>
            <a:ext cx="2143118" cy="65245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512" y="6405562"/>
            <a:ext cx="2095499" cy="1714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00505" y="1201968"/>
            <a:ext cx="5472110" cy="53927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7840" y="299811"/>
            <a:ext cx="5786429" cy="6918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7832" y="287832"/>
            <a:ext cx="2143118" cy="65245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512" y="6405562"/>
            <a:ext cx="2095499" cy="171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0800" y="265715"/>
            <a:ext cx="4462398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492821"/>
            <a:ext cx="8072119" cy="2586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7" y="2818406"/>
            <a:ext cx="7143748" cy="1591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895" y="837107"/>
            <a:ext cx="3357557" cy="10223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9302" y="881126"/>
            <a:ext cx="18421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5C082C"/>
                </a:solidFill>
                <a:latin typeface="Arial MT"/>
                <a:cs typeface="Arial MT"/>
              </a:rPr>
              <a:t>Postgrado</a:t>
            </a:r>
            <a:r>
              <a:rPr dirty="0" sz="2400" spc="-65">
                <a:solidFill>
                  <a:srgbClr val="5C082C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C082C"/>
                </a:solidFill>
                <a:latin typeface="Arial MT"/>
                <a:cs typeface="Arial MT"/>
              </a:rPr>
              <a:t>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9302" y="1344422"/>
            <a:ext cx="3884929" cy="512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Mobile</a:t>
            </a:r>
            <a:r>
              <a:rPr dirty="0" sz="3200" spc="-145">
                <a:solidFill>
                  <a:srgbClr val="5C082C"/>
                </a:solidFill>
                <a:latin typeface="Arial"/>
                <a:cs typeface="Arial"/>
              </a:rPr>
              <a:t> </a:t>
            </a:r>
            <a:r>
              <a:rPr dirty="0" sz="3200" spc="-35">
                <a:solidFill>
                  <a:srgbClr val="5C082C"/>
                </a:solidFill>
                <a:latin typeface="Arial"/>
                <a:cs typeface="Arial"/>
              </a:rPr>
              <a:t>Apps</a:t>
            </a:r>
            <a:r>
              <a:rPr dirty="0" sz="3200" spc="85">
                <a:solidFill>
                  <a:srgbClr val="5C082C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Design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7310" y="3174428"/>
            <a:ext cx="23914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3E3E3E"/>
                </a:solidFill>
                <a:latin typeface="Calibri"/>
                <a:cs typeface="Calibri"/>
              </a:rPr>
              <a:t>SERVICES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7595" y="5095938"/>
            <a:ext cx="3429000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5">
                <a:latin typeface="Arial MT"/>
                <a:cs typeface="Arial MT"/>
              </a:rPr>
              <a:t>Juan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Luis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8158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5013"/>
            <a:ext cx="7815580" cy="39116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6870" marR="32384" indent="-344805">
              <a:lnSpc>
                <a:spcPts val="2400"/>
              </a:lnSpc>
              <a:spcBef>
                <a:spcPts val="67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main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purpose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 </a:t>
            </a:r>
            <a:r>
              <a:rPr dirty="0" sz="2500" spc="-5">
                <a:latin typeface="Arial MT"/>
                <a:cs typeface="Arial MT"/>
              </a:rPr>
              <a:t>a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service</a:t>
            </a:r>
            <a:r>
              <a:rPr dirty="0" sz="2500" spc="3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is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to</a:t>
            </a:r>
            <a:r>
              <a:rPr dirty="0" sz="2500" spc="2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execute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a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task</a:t>
            </a:r>
            <a:r>
              <a:rPr dirty="0" sz="2500" spc="2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in </a:t>
            </a:r>
            <a:r>
              <a:rPr dirty="0" sz="2500" spc="-6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background,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without</a:t>
            </a:r>
            <a:r>
              <a:rPr dirty="0" sz="2500">
                <a:latin typeface="Arial MT"/>
                <a:cs typeface="Arial MT"/>
              </a:rPr>
              <a:t> user</a:t>
            </a:r>
            <a:r>
              <a:rPr dirty="0" sz="2500" spc="1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intervention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(no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user 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interface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involved).</a:t>
            </a:r>
            <a:endParaRPr sz="2500">
              <a:latin typeface="Arial MT"/>
              <a:cs typeface="Arial MT"/>
            </a:endParaRPr>
          </a:p>
          <a:p>
            <a:pPr marL="356870" marR="5080" indent="-344805">
              <a:lnSpc>
                <a:spcPts val="2400"/>
              </a:lnSpc>
              <a:spcBef>
                <a:spcPts val="60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500" spc="-5">
                <a:latin typeface="Arial MT"/>
                <a:cs typeface="Arial MT"/>
              </a:rPr>
              <a:t>Nevertheless,</a:t>
            </a:r>
            <a:r>
              <a:rPr dirty="0" sz="2500" spc="2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the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code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 </a:t>
            </a:r>
            <a:r>
              <a:rPr dirty="0" sz="2500" spc="-5">
                <a:latin typeface="Arial MT"/>
                <a:cs typeface="Arial MT"/>
              </a:rPr>
              <a:t>the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service</a:t>
            </a:r>
            <a:r>
              <a:rPr dirty="0" sz="2500" spc="3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is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executed</a:t>
            </a:r>
            <a:r>
              <a:rPr dirty="0" sz="2500" spc="3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 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the main </a:t>
            </a:r>
            <a:r>
              <a:rPr dirty="0" sz="2500">
                <a:latin typeface="Arial MT"/>
                <a:cs typeface="Arial MT"/>
              </a:rPr>
              <a:t>thread of </a:t>
            </a:r>
            <a:r>
              <a:rPr dirty="0" sz="2500" spc="-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app (the </a:t>
            </a:r>
            <a:r>
              <a:rPr dirty="0" sz="2500" spc="-5">
                <a:latin typeface="Arial MT"/>
                <a:cs typeface="Arial MT"/>
              </a:rPr>
              <a:t>UI </a:t>
            </a:r>
            <a:r>
              <a:rPr dirty="0" sz="2500">
                <a:latin typeface="Arial MT"/>
                <a:cs typeface="Arial MT"/>
              </a:rPr>
              <a:t>thread); hence, </a:t>
            </a:r>
            <a:r>
              <a:rPr dirty="0" sz="2500" spc="-5">
                <a:latin typeface="Arial MT"/>
                <a:cs typeface="Arial MT"/>
              </a:rPr>
              <a:t>if 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the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code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is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computationally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intensive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it</a:t>
            </a:r>
            <a:r>
              <a:rPr dirty="0" sz="2500" spc="2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must be 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delegated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to</a:t>
            </a:r>
            <a:r>
              <a:rPr dirty="0" sz="2500">
                <a:latin typeface="Arial MT"/>
                <a:cs typeface="Arial MT"/>
              </a:rPr>
              <a:t> another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thread: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5" b="1">
                <a:latin typeface="Arial"/>
                <a:cs typeface="Arial"/>
              </a:rPr>
              <a:t>Thread</a:t>
            </a:r>
            <a:r>
              <a:rPr dirty="0" sz="2500" spc="-5">
                <a:latin typeface="Arial MT"/>
                <a:cs typeface="Arial MT"/>
              </a:rPr>
              <a:t>, </a:t>
            </a:r>
            <a:r>
              <a:rPr dirty="0" sz="2500" spc="-15" b="1">
                <a:latin typeface="Arial"/>
                <a:cs typeface="Arial"/>
              </a:rPr>
              <a:t>AsyncTask</a:t>
            </a:r>
            <a:r>
              <a:rPr dirty="0" sz="2500" spc="90" b="1">
                <a:latin typeface="Arial"/>
                <a:cs typeface="Arial"/>
              </a:rPr>
              <a:t> </a:t>
            </a:r>
            <a:r>
              <a:rPr dirty="0" sz="2500" spc="-5">
                <a:latin typeface="Arial MT"/>
                <a:cs typeface="Arial MT"/>
              </a:rPr>
              <a:t>for </a:t>
            </a:r>
            <a:r>
              <a:rPr dirty="0" sz="2500" spc="-68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an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individual task</a:t>
            </a:r>
            <a:r>
              <a:rPr dirty="0" sz="2500">
                <a:latin typeface="Arial MT"/>
                <a:cs typeface="Arial MT"/>
              </a:rPr>
              <a:t> or</a:t>
            </a:r>
            <a:r>
              <a:rPr dirty="0" sz="2500" spc="1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a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10" b="1">
                <a:latin typeface="Arial"/>
                <a:cs typeface="Arial"/>
              </a:rPr>
              <a:t>Timer</a:t>
            </a:r>
            <a:r>
              <a:rPr dirty="0" sz="2500" spc="20" b="1">
                <a:latin typeface="Arial"/>
                <a:cs typeface="Arial"/>
              </a:rPr>
              <a:t> </a:t>
            </a:r>
            <a:r>
              <a:rPr dirty="0" sz="2500" spc="-5">
                <a:latin typeface="Arial MT"/>
                <a:cs typeface="Arial MT"/>
              </a:rPr>
              <a:t>(jointly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with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a 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10" b="1">
                <a:latin typeface="Arial"/>
                <a:cs typeface="Arial"/>
              </a:rPr>
              <a:t>TimerTask)</a:t>
            </a:r>
            <a:r>
              <a:rPr dirty="0" sz="2500" spc="55" b="1">
                <a:latin typeface="Arial"/>
                <a:cs typeface="Arial"/>
              </a:rPr>
              <a:t> </a:t>
            </a:r>
            <a:r>
              <a:rPr dirty="0" sz="2500" spc="-5">
                <a:latin typeface="Arial MT"/>
                <a:cs typeface="Arial MT"/>
              </a:rPr>
              <a:t>if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we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want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to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perform</a:t>
            </a:r>
            <a:r>
              <a:rPr dirty="0" sz="2500" spc="1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a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repeated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task.</a:t>
            </a:r>
            <a:endParaRPr sz="2500">
              <a:latin typeface="Arial MT"/>
              <a:cs typeface="Arial MT"/>
            </a:endParaRPr>
          </a:p>
          <a:p>
            <a:pPr marL="356870" marR="525780" indent="-344805">
              <a:lnSpc>
                <a:spcPts val="2400"/>
              </a:lnSpc>
              <a:spcBef>
                <a:spcPts val="60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500">
                <a:latin typeface="Arial MT"/>
                <a:cs typeface="Arial MT"/>
              </a:rPr>
              <a:t>To </a:t>
            </a:r>
            <a:r>
              <a:rPr dirty="0" sz="2500" spc="-5">
                <a:latin typeface="Arial MT"/>
                <a:cs typeface="Arial MT"/>
              </a:rPr>
              <a:t>execute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a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task</a:t>
            </a:r>
            <a:r>
              <a:rPr dirty="0" sz="2500" spc="2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in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the</a:t>
            </a:r>
            <a:r>
              <a:rPr dirty="0" sz="2500">
                <a:latin typeface="Arial MT"/>
                <a:cs typeface="Arial MT"/>
              </a:rPr>
              <a:t> future,</a:t>
            </a:r>
            <a:r>
              <a:rPr dirty="0" sz="2500" spc="-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repeatedly or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not, </a:t>
            </a:r>
            <a:r>
              <a:rPr dirty="0" sz="2500" spc="-68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aside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1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the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app.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cycle</a:t>
            </a:r>
            <a:r>
              <a:rPr dirty="0" sz="2500" spc="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 </a:t>
            </a:r>
            <a:r>
              <a:rPr dirty="0" sz="2500" spc="-5">
                <a:latin typeface="Arial MT"/>
                <a:cs typeface="Arial MT"/>
              </a:rPr>
              <a:t>life,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we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will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have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to </a:t>
            </a:r>
            <a:r>
              <a:rPr dirty="0" sz="2500">
                <a:latin typeface="Arial MT"/>
                <a:cs typeface="Arial MT"/>
              </a:rPr>
              <a:t> program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an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10" b="1">
                <a:latin typeface="Arial"/>
                <a:cs typeface="Arial"/>
              </a:rPr>
              <a:t>alarm</a:t>
            </a:r>
            <a:r>
              <a:rPr dirty="0" sz="2500" spc="-10">
                <a:latin typeface="Arial MT"/>
                <a:cs typeface="Arial MT"/>
              </a:rPr>
              <a:t>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8158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4157"/>
            <a:ext cx="8002270" cy="4264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200" spc="10">
                <a:latin typeface="Arial MT"/>
                <a:cs typeface="Arial MT"/>
              </a:rPr>
              <a:t>What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services</a:t>
            </a:r>
            <a:r>
              <a:rPr dirty="0" sz="2200">
                <a:latin typeface="Arial MT"/>
                <a:cs typeface="Arial MT"/>
              </a:rPr>
              <a:t> </a:t>
            </a:r>
            <a:r>
              <a:rPr dirty="0" sz="2200" spc="5">
                <a:latin typeface="Arial MT"/>
                <a:cs typeface="Arial MT"/>
              </a:rPr>
              <a:t>useful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 spc="10">
                <a:latin typeface="Arial MT"/>
                <a:cs typeface="Arial MT"/>
              </a:rPr>
              <a:t>for?</a:t>
            </a:r>
            <a:endParaRPr sz="2200">
              <a:latin typeface="Arial MT"/>
              <a:cs typeface="Arial MT"/>
            </a:endParaRPr>
          </a:p>
          <a:p>
            <a:pPr lvl="1" marL="755650" marR="233045" indent="-286385">
              <a:lnSpc>
                <a:spcPts val="1920"/>
              </a:lnSpc>
              <a:spcBef>
                <a:spcPts val="47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 spc="-5">
                <a:latin typeface="Arial MT"/>
                <a:cs typeface="Arial MT"/>
              </a:rPr>
              <a:t>Performing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operations</a:t>
            </a:r>
            <a:r>
              <a:rPr dirty="0" sz="2000" spc="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that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need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to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continue</a:t>
            </a:r>
            <a:r>
              <a:rPr dirty="0" sz="2000" spc="4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even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if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the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user 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leaves</a:t>
            </a:r>
            <a:r>
              <a:rPr dirty="0" sz="2000" spc="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application's</a:t>
            </a:r>
            <a:r>
              <a:rPr dirty="0" sz="2000" spc="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activities,</a:t>
            </a:r>
            <a:r>
              <a:rPr dirty="0" sz="2000" spc="6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like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long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download 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(</a:t>
            </a:r>
            <a:r>
              <a:rPr dirty="0" sz="2000" spc="-15" b="1">
                <a:latin typeface="Arial"/>
                <a:cs typeface="Arial"/>
              </a:rPr>
              <a:t>AsyncTask</a:t>
            </a:r>
            <a:r>
              <a:rPr dirty="0" sz="2000" spc="10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or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IntentService</a:t>
            </a:r>
            <a:r>
              <a:rPr dirty="0" sz="2000" spc="15" b="1">
                <a:latin typeface="Arial"/>
                <a:cs typeface="Arial"/>
              </a:rPr>
              <a:t> </a:t>
            </a:r>
            <a:r>
              <a:rPr dirty="0" sz="2000" spc="-5">
                <a:latin typeface="Arial MT"/>
                <a:cs typeface="Arial MT"/>
              </a:rPr>
              <a:t>) (as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seen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with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Google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Play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Store)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or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playing</a:t>
            </a:r>
            <a:r>
              <a:rPr dirty="0" sz="2000" spc="11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music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</a:t>
            </a:r>
            <a:r>
              <a:rPr dirty="0" sz="2000" spc="-5" b="1">
                <a:latin typeface="Arial"/>
                <a:cs typeface="Arial"/>
              </a:rPr>
              <a:t>Foreground</a:t>
            </a:r>
            <a:r>
              <a:rPr dirty="0" sz="2000" spc="-5">
                <a:latin typeface="Arial MT"/>
                <a:cs typeface="Arial MT"/>
              </a:rPr>
              <a:t>)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(as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seen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with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Android 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music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apps.).</a:t>
            </a:r>
            <a:endParaRPr sz="2000">
              <a:latin typeface="Arial MT"/>
              <a:cs typeface="Arial MT"/>
            </a:endParaRPr>
          </a:p>
          <a:p>
            <a:pPr lvl="1" marL="756285" marR="14604" indent="-287020">
              <a:lnSpc>
                <a:spcPts val="1920"/>
              </a:lnSpc>
              <a:spcBef>
                <a:spcPts val="48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 spc="-5">
                <a:latin typeface="Arial MT"/>
                <a:cs typeface="Arial MT"/>
              </a:rPr>
              <a:t>Performing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operations</a:t>
            </a:r>
            <a:r>
              <a:rPr dirty="0" sz="2000" spc="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that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need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to</a:t>
            </a:r>
            <a:r>
              <a:rPr dirty="0" sz="2000" spc="-5">
                <a:latin typeface="Arial MT"/>
                <a:cs typeface="Arial MT"/>
              </a:rPr>
              <a:t> exist </a:t>
            </a:r>
            <a:r>
              <a:rPr dirty="0" sz="2000" spc="-10">
                <a:latin typeface="Arial MT"/>
                <a:cs typeface="Arial MT"/>
              </a:rPr>
              <a:t>regardless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of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activities </a:t>
            </a:r>
            <a:r>
              <a:rPr dirty="0" sz="2000" spc="-5">
                <a:latin typeface="Arial MT"/>
                <a:cs typeface="Arial MT"/>
              </a:rPr>
              <a:t> coming</a:t>
            </a:r>
            <a:r>
              <a:rPr dirty="0" sz="2000" spc="-10">
                <a:latin typeface="Arial MT"/>
                <a:cs typeface="Arial MT"/>
              </a:rPr>
              <a:t> and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going,</a:t>
            </a:r>
            <a:r>
              <a:rPr dirty="0" sz="2000" spc="4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such</a:t>
            </a:r>
            <a:r>
              <a:rPr dirty="0" sz="2000" spc="-10">
                <a:latin typeface="Arial MT"/>
                <a:cs typeface="Arial MT"/>
              </a:rPr>
              <a:t> as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maintaining</a:t>
            </a:r>
            <a:r>
              <a:rPr dirty="0" sz="2000" spc="4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 chat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connection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</a:t>
            </a:r>
            <a:r>
              <a:rPr dirty="0" sz="2000" spc="-5" b="1">
                <a:latin typeface="Arial"/>
                <a:cs typeface="Arial"/>
              </a:rPr>
              <a:t>Push </a:t>
            </a:r>
            <a:r>
              <a:rPr dirty="0" sz="2000" spc="-54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service</a:t>
            </a:r>
            <a:r>
              <a:rPr dirty="0" sz="2000" spc="-10">
                <a:latin typeface="Arial MT"/>
                <a:cs typeface="Arial MT"/>
              </a:rPr>
              <a:t>)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in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support </a:t>
            </a:r>
            <a:r>
              <a:rPr dirty="0" sz="2000" spc="-10">
                <a:latin typeface="Arial MT"/>
                <a:cs typeface="Arial MT"/>
              </a:rPr>
              <a:t>of </a:t>
            </a:r>
            <a:r>
              <a:rPr dirty="0" sz="2000" spc="-5">
                <a:latin typeface="Arial MT"/>
                <a:cs typeface="Arial MT"/>
              </a:rPr>
              <a:t>a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chat</a:t>
            </a:r>
            <a:r>
              <a:rPr dirty="0" sz="2000" spc="-10">
                <a:latin typeface="Arial MT"/>
                <a:cs typeface="Arial MT"/>
              </a:rPr>
              <a:t> application.</a:t>
            </a:r>
            <a:endParaRPr sz="2000">
              <a:latin typeface="Arial MT"/>
              <a:cs typeface="Arial MT"/>
            </a:endParaRPr>
          </a:p>
          <a:p>
            <a:pPr lvl="1" marL="756285" marR="454659" indent="-287020">
              <a:lnSpc>
                <a:spcPts val="1920"/>
              </a:lnSpc>
              <a:spcBef>
                <a:spcPts val="48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 spc="-15">
                <a:latin typeface="Arial MT"/>
                <a:cs typeface="Arial MT"/>
              </a:rPr>
              <a:t>Providing</a:t>
            </a:r>
            <a:r>
              <a:rPr dirty="0" sz="2000" spc="9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 </a:t>
            </a:r>
            <a:r>
              <a:rPr dirty="0" sz="2000" spc="-10">
                <a:latin typeface="Arial MT"/>
                <a:cs typeface="Arial MT"/>
              </a:rPr>
              <a:t>local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API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to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remote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APIs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</a:t>
            </a:r>
            <a:r>
              <a:rPr dirty="0" sz="2000" spc="-5" b="1">
                <a:latin typeface="Arial"/>
                <a:cs typeface="Arial"/>
              </a:rPr>
              <a:t>bindService</a:t>
            </a:r>
            <a:r>
              <a:rPr dirty="0" sz="2000" spc="-5">
                <a:latin typeface="Arial MT"/>
                <a:cs typeface="Arial MT"/>
              </a:rPr>
              <a:t>),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such </a:t>
            </a:r>
            <a:r>
              <a:rPr dirty="0" sz="2000" spc="-10">
                <a:latin typeface="Arial MT"/>
                <a:cs typeface="Arial MT"/>
              </a:rPr>
              <a:t>as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might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be provided</a:t>
            </a:r>
            <a:r>
              <a:rPr dirty="0" sz="2000" spc="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by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20">
                <a:latin typeface="Arial MT"/>
                <a:cs typeface="Arial MT"/>
              </a:rPr>
              <a:t>Web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service,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you</a:t>
            </a:r>
            <a:r>
              <a:rPr dirty="0" sz="2000" spc="8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want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 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5" i="1">
                <a:latin typeface="Arial"/>
                <a:cs typeface="Arial"/>
              </a:rPr>
              <a:t>asynchronous</a:t>
            </a:r>
            <a:r>
              <a:rPr dirty="0" sz="2000" spc="35" i="1">
                <a:latin typeface="Arial"/>
                <a:cs typeface="Arial"/>
              </a:rPr>
              <a:t> </a:t>
            </a:r>
            <a:r>
              <a:rPr dirty="0" sz="2000" spc="-10">
                <a:latin typeface="Arial MT"/>
                <a:cs typeface="Arial MT"/>
              </a:rPr>
              <a:t>behavior.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service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can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use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AsyncTask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to 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10">
                <a:latin typeface="Arial MT"/>
                <a:cs typeface="Arial MT"/>
              </a:rPr>
              <a:t>make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any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remote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call.</a:t>
            </a:r>
            <a:endParaRPr sz="2000">
              <a:latin typeface="Arial MT"/>
              <a:cs typeface="Arial MT"/>
            </a:endParaRPr>
          </a:p>
          <a:p>
            <a:pPr lvl="1" marL="756285" indent="-287020">
              <a:lnSpc>
                <a:spcPts val="2160"/>
              </a:lnSpc>
              <a:spcBef>
                <a:spcPts val="1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000" spc="-5">
                <a:latin typeface="Arial MT"/>
                <a:cs typeface="Arial MT"/>
              </a:rPr>
              <a:t>Performing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periodic</a:t>
            </a:r>
            <a:r>
              <a:rPr dirty="0" sz="2000" spc="7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work</a:t>
            </a:r>
            <a:r>
              <a:rPr dirty="0" sz="2000" spc="4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(</a:t>
            </a:r>
            <a:r>
              <a:rPr dirty="0" sz="2000" spc="-20" b="1">
                <a:latin typeface="Arial"/>
                <a:cs typeface="Arial"/>
              </a:rPr>
              <a:t>Alarm</a:t>
            </a:r>
            <a:r>
              <a:rPr dirty="0" sz="2000" spc="11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+ </a:t>
            </a:r>
            <a:r>
              <a:rPr dirty="0" sz="2000" spc="-10" b="1">
                <a:latin typeface="Arial"/>
                <a:cs typeface="Arial"/>
              </a:rPr>
              <a:t>WakefulBroadcastReceiver</a:t>
            </a:r>
            <a:endParaRPr sz="2000">
              <a:latin typeface="Arial"/>
              <a:cs typeface="Arial"/>
            </a:endParaRPr>
          </a:p>
          <a:p>
            <a:pPr marL="756285" marR="240665">
              <a:lnSpc>
                <a:spcPts val="1920"/>
              </a:lnSpc>
              <a:spcBef>
                <a:spcPts val="225"/>
              </a:spcBef>
            </a:pPr>
            <a:r>
              <a:rPr dirty="0" sz="2000" spc="-5" b="1">
                <a:latin typeface="Arial"/>
                <a:cs typeface="Arial"/>
              </a:rPr>
              <a:t>+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IntentService</a:t>
            </a:r>
            <a:r>
              <a:rPr dirty="0" sz="2000" spc="-5">
                <a:latin typeface="Arial MT"/>
                <a:cs typeface="Arial MT"/>
              </a:rPr>
              <a:t>)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without</a:t>
            </a:r>
            <a:r>
              <a:rPr dirty="0" sz="2000" spc="6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user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intervention,</a:t>
            </a:r>
            <a:r>
              <a:rPr dirty="0" sz="2000" spc="6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akin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to </a:t>
            </a:r>
            <a:r>
              <a:rPr dirty="0" sz="2000" spc="-5">
                <a:latin typeface="Arial MT"/>
                <a:cs typeface="Arial MT"/>
              </a:rPr>
              <a:t>cron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jobs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or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Windows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scheduled</a:t>
            </a:r>
            <a:r>
              <a:rPr dirty="0" sz="2000" spc="65">
                <a:latin typeface="Arial MT"/>
                <a:cs typeface="Arial MT"/>
              </a:rPr>
              <a:t> </a:t>
            </a:r>
            <a:r>
              <a:rPr dirty="0" sz="2000" spc="5">
                <a:latin typeface="Arial MT"/>
                <a:cs typeface="Arial MT"/>
              </a:rPr>
              <a:t>tasks.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6430" y="265715"/>
            <a:ext cx="3204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SERVICE</a:t>
            </a:r>
            <a:r>
              <a:rPr dirty="0" spc="-114"/>
              <a:t> </a:t>
            </a:r>
            <a:r>
              <a:rPr dirty="0"/>
              <a:t>START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1213"/>
            <a:ext cx="7383145" cy="3047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5">
                <a:latin typeface="Arial MT"/>
                <a:cs typeface="Arial MT"/>
              </a:rPr>
              <a:t>An open question </a:t>
            </a:r>
            <a:r>
              <a:rPr dirty="0" sz="3200">
                <a:latin typeface="Arial MT"/>
                <a:cs typeface="Arial MT"/>
              </a:rPr>
              <a:t>is </a:t>
            </a:r>
            <a:r>
              <a:rPr dirty="0" sz="3200" spc="-15">
                <a:latin typeface="Arial MT"/>
                <a:cs typeface="Arial MT"/>
              </a:rPr>
              <a:t>when </a:t>
            </a:r>
            <a:r>
              <a:rPr dirty="0" sz="3200" spc="-5">
                <a:latin typeface="Arial MT"/>
                <a:cs typeface="Arial MT"/>
              </a:rPr>
              <a:t>to start a </a:t>
            </a:r>
            <a:r>
              <a:rPr dirty="0" sz="3200">
                <a:latin typeface="Arial MT"/>
                <a:cs typeface="Arial MT"/>
              </a:rPr>
              <a:t> service,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there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are</a:t>
            </a:r>
            <a:r>
              <a:rPr dirty="0" sz="3200" spc="-5">
                <a:latin typeface="Arial MT"/>
                <a:cs typeface="Arial MT"/>
              </a:rPr>
              <a:t> different alternatives:</a:t>
            </a:r>
            <a:endParaRPr sz="32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65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 spc="-5">
                <a:latin typeface="Arial MT"/>
                <a:cs typeface="Arial MT"/>
              </a:rPr>
              <a:t>From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activity.</a:t>
            </a:r>
            <a:endParaRPr sz="28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 spc="-5">
                <a:latin typeface="Arial MT"/>
                <a:cs typeface="Arial MT"/>
              </a:rPr>
              <a:t>From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the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application.</a:t>
            </a:r>
            <a:endParaRPr sz="28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broadcast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event.</a:t>
            </a:r>
            <a:endParaRPr sz="28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>
                <a:latin typeface="Arial MT"/>
                <a:cs typeface="Arial MT"/>
              </a:rPr>
              <a:t>Scheduling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alarm.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6940" y="648804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20572" y="220472"/>
            <a:ext cx="450532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SERVICE</a:t>
            </a:r>
            <a:r>
              <a:rPr dirty="0" spc="-120"/>
              <a:t> </a:t>
            </a:r>
            <a:r>
              <a:rPr dirty="0"/>
              <a:t>ACTIVATION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5493"/>
            <a:ext cx="7968615" cy="399542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356870" marR="5080" indent="-344805">
              <a:lnSpc>
                <a:spcPts val="3020"/>
              </a:lnSpc>
              <a:spcBef>
                <a:spcPts val="49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800" spc="5">
                <a:latin typeface="Arial MT"/>
                <a:cs typeface="Arial MT"/>
              </a:rPr>
              <a:t>A </a:t>
            </a:r>
            <a:r>
              <a:rPr dirty="0" sz="2800" spc="-5">
                <a:latin typeface="Arial MT"/>
                <a:cs typeface="Arial MT"/>
              </a:rPr>
              <a:t>service </a:t>
            </a:r>
            <a:r>
              <a:rPr dirty="0" sz="2800">
                <a:latin typeface="Arial MT"/>
                <a:cs typeface="Arial MT"/>
              </a:rPr>
              <a:t>is </a:t>
            </a:r>
            <a:r>
              <a:rPr dirty="0" sz="2800" spc="5">
                <a:latin typeface="Arial MT"/>
                <a:cs typeface="Arial MT"/>
              </a:rPr>
              <a:t>started, </a:t>
            </a:r>
            <a:r>
              <a:rPr dirty="0" sz="2800">
                <a:latin typeface="Arial MT"/>
                <a:cs typeface="Arial MT"/>
              </a:rPr>
              <a:t>or it is </a:t>
            </a:r>
            <a:r>
              <a:rPr dirty="0" sz="2800" spc="-10">
                <a:latin typeface="Arial MT"/>
                <a:cs typeface="Arial MT"/>
              </a:rPr>
              <a:t>given </a:t>
            </a:r>
            <a:r>
              <a:rPr dirty="0" sz="2800">
                <a:latin typeface="Arial MT"/>
                <a:cs typeface="Arial MT"/>
              </a:rPr>
              <a:t>something </a:t>
            </a:r>
            <a:r>
              <a:rPr dirty="0" sz="2800" spc="-5">
                <a:latin typeface="Arial MT"/>
                <a:cs typeface="Arial MT"/>
              </a:rPr>
              <a:t>new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to </a:t>
            </a:r>
            <a:r>
              <a:rPr dirty="0" sz="2800">
                <a:latin typeface="Arial MT"/>
                <a:cs typeface="Arial MT"/>
              </a:rPr>
              <a:t>do, </a:t>
            </a:r>
            <a:r>
              <a:rPr dirty="0" sz="2800" spc="-5">
                <a:latin typeface="Arial MT"/>
                <a:cs typeface="Arial MT"/>
              </a:rPr>
              <a:t>executing: </a:t>
            </a:r>
            <a:r>
              <a:rPr dirty="0" sz="2800" b="1">
                <a:latin typeface="Arial"/>
                <a:cs typeface="Arial"/>
              </a:rPr>
              <a:t>startService</a:t>
            </a:r>
            <a:r>
              <a:rPr dirty="0" sz="2800">
                <a:latin typeface="Arial MT"/>
                <a:cs typeface="Arial MT"/>
              </a:rPr>
              <a:t>(intent). Android 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executes </a:t>
            </a:r>
            <a:r>
              <a:rPr dirty="0" sz="2800" spc="-5" b="1">
                <a:latin typeface="Arial"/>
                <a:cs typeface="Arial"/>
              </a:rPr>
              <a:t>onStartCommand</a:t>
            </a:r>
            <a:r>
              <a:rPr dirty="0" sz="2800" spc="-5">
                <a:latin typeface="Arial MT"/>
                <a:cs typeface="Arial MT"/>
              </a:rPr>
              <a:t>(Intent </a:t>
            </a:r>
            <a:r>
              <a:rPr dirty="0" sz="2800">
                <a:latin typeface="Arial MT"/>
                <a:cs typeface="Arial MT"/>
              </a:rPr>
              <a:t>intent, int 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flags,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int </a:t>
            </a:r>
            <a:r>
              <a:rPr dirty="0" sz="2800" spc="5">
                <a:latin typeface="Arial MT"/>
                <a:cs typeface="Arial MT"/>
              </a:rPr>
              <a:t>startId)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 </a:t>
            </a:r>
            <a:r>
              <a:rPr dirty="0" sz="2800" spc="5">
                <a:latin typeface="Arial MT"/>
                <a:cs typeface="Arial MT"/>
              </a:rPr>
              <a:t>the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service.</a:t>
            </a:r>
            <a:endParaRPr sz="2800">
              <a:latin typeface="Arial MT"/>
              <a:cs typeface="Arial MT"/>
            </a:endParaRPr>
          </a:p>
          <a:p>
            <a:pPr marL="356235" marR="476884" indent="-344170">
              <a:lnSpc>
                <a:spcPts val="3020"/>
              </a:lnSpc>
              <a:spcBef>
                <a:spcPts val="69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800" spc="5">
                <a:latin typeface="Arial MT"/>
                <a:cs typeface="Arial MT"/>
              </a:rPr>
              <a:t>A </a:t>
            </a:r>
            <a:r>
              <a:rPr dirty="0" sz="2800" spc="-5">
                <a:latin typeface="Arial MT"/>
                <a:cs typeface="Arial MT"/>
              </a:rPr>
              <a:t>service </a:t>
            </a:r>
            <a:r>
              <a:rPr dirty="0" sz="2800" spc="5">
                <a:latin typeface="Arial MT"/>
                <a:cs typeface="Arial MT"/>
              </a:rPr>
              <a:t>can </a:t>
            </a:r>
            <a:r>
              <a:rPr dirty="0" sz="2800">
                <a:latin typeface="Arial MT"/>
                <a:cs typeface="Arial MT"/>
              </a:rPr>
              <a:t>also be bound using 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b="1">
                <a:latin typeface="Arial"/>
                <a:cs typeface="Arial"/>
              </a:rPr>
              <a:t>bindService</a:t>
            </a:r>
            <a:r>
              <a:rPr dirty="0" sz="2800">
                <a:latin typeface="Arial MT"/>
                <a:cs typeface="Arial MT"/>
              </a:rPr>
              <a:t>(intent, serviceConnection, 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Context.BIND_AUTO_CREATE). </a:t>
            </a:r>
            <a:r>
              <a:rPr dirty="0" sz="2800">
                <a:latin typeface="Arial MT"/>
                <a:cs typeface="Arial MT"/>
              </a:rPr>
              <a:t>Android 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executes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-5" b="1">
                <a:latin typeface="Arial"/>
                <a:cs typeface="Arial"/>
              </a:rPr>
              <a:t>onBind</a:t>
            </a:r>
            <a:r>
              <a:rPr dirty="0" sz="2800" spc="-5">
                <a:latin typeface="Arial MT"/>
                <a:cs typeface="Arial MT"/>
              </a:rPr>
              <a:t>(intent)</a:t>
            </a:r>
            <a:r>
              <a:rPr dirty="0" sz="2800">
                <a:latin typeface="Arial MT"/>
                <a:cs typeface="Arial MT"/>
              </a:rPr>
              <a:t> of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the</a:t>
            </a:r>
            <a:r>
              <a:rPr dirty="0" sz="2800" spc="-5">
                <a:latin typeface="Arial MT"/>
                <a:cs typeface="Arial MT"/>
              </a:rPr>
              <a:t> service.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Once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the </a:t>
            </a:r>
            <a:r>
              <a:rPr dirty="0" sz="2800">
                <a:latin typeface="Arial MT"/>
                <a:cs typeface="Arial MT"/>
              </a:rPr>
              <a:t>connection is established, </a:t>
            </a:r>
            <a:r>
              <a:rPr dirty="0" sz="2800" spc="5">
                <a:latin typeface="Arial MT"/>
                <a:cs typeface="Arial MT"/>
              </a:rPr>
              <a:t>the </a:t>
            </a:r>
            <a:r>
              <a:rPr dirty="0" sz="2800">
                <a:latin typeface="Arial MT"/>
                <a:cs typeface="Arial MT"/>
              </a:rPr>
              <a:t>public 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methods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the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service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can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invoked.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8646" y="265715"/>
            <a:ext cx="431609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SERVICE</a:t>
            </a:r>
            <a:r>
              <a:rPr dirty="0" spc="-114"/>
              <a:t> </a:t>
            </a:r>
            <a:r>
              <a:rPr dirty="0"/>
              <a:t>PRIMITIVES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9630"/>
            <a:ext cx="7884159" cy="413639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59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5">
                <a:latin typeface="Arial MT"/>
                <a:cs typeface="Arial MT"/>
              </a:rPr>
              <a:t>Service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activation,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here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repetition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is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allowed:</a:t>
            </a:r>
            <a:endParaRPr sz="30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30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10">
                <a:latin typeface="Arial MT"/>
                <a:cs typeface="Arial MT"/>
              </a:rPr>
              <a:t>startService(intent);</a:t>
            </a:r>
            <a:endParaRPr sz="26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65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5">
                <a:latin typeface="Arial MT"/>
                <a:cs typeface="Arial MT"/>
              </a:rPr>
              <a:t>Service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binding:</a:t>
            </a:r>
            <a:endParaRPr sz="3000">
              <a:latin typeface="Arial MT"/>
              <a:cs typeface="Arial MT"/>
            </a:endParaRPr>
          </a:p>
          <a:p>
            <a:pPr lvl="1" marL="756285" marR="1492250" indent="-287020">
              <a:lnSpc>
                <a:spcPts val="2810"/>
              </a:lnSpc>
              <a:spcBef>
                <a:spcPts val="66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10">
                <a:latin typeface="Arial MT"/>
                <a:cs typeface="Arial MT"/>
              </a:rPr>
              <a:t>bindService(intent,</a:t>
            </a:r>
            <a:r>
              <a:rPr dirty="0" sz="2600" spc="19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serviceConnection, </a:t>
            </a:r>
            <a:r>
              <a:rPr dirty="0" sz="2600" spc="-71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Context.BIND_AUTO_CREATE);</a:t>
            </a:r>
            <a:endParaRPr sz="26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20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5">
                <a:latin typeface="Arial MT"/>
                <a:cs typeface="Arial MT"/>
              </a:rPr>
              <a:t>Service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deactivation:</a:t>
            </a:r>
            <a:endParaRPr sz="30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30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10">
                <a:latin typeface="Arial MT"/>
                <a:cs typeface="Arial MT"/>
              </a:rPr>
              <a:t>stopService(intent);</a:t>
            </a:r>
            <a:endParaRPr sz="26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70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5">
                <a:latin typeface="Arial MT"/>
                <a:cs typeface="Arial MT"/>
              </a:rPr>
              <a:t>Service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unbinding,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repetition</a:t>
            </a:r>
            <a:r>
              <a:rPr dirty="0" sz="3000" spc="-8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is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not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allowed:</a:t>
            </a:r>
            <a:endParaRPr sz="30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30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5">
                <a:latin typeface="Arial MT"/>
                <a:cs typeface="Arial MT"/>
              </a:rPr>
              <a:t>unbindService(serviceConnection);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6940" y="648804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0694" y="265715"/>
            <a:ext cx="50749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SERVICE</a:t>
            </a:r>
            <a:r>
              <a:rPr dirty="0" spc="-110"/>
              <a:t> </a:t>
            </a:r>
            <a:r>
              <a:rPr dirty="0"/>
              <a:t>DEACTIVATION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492821"/>
            <a:ext cx="8007984" cy="258699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356870" marR="5080" indent="-344805">
              <a:lnSpc>
                <a:spcPct val="80000"/>
              </a:lnSpc>
              <a:spcBef>
                <a:spcPts val="78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800" spc="5">
                <a:latin typeface="Arial MT"/>
                <a:cs typeface="Arial MT"/>
              </a:rPr>
              <a:t>A </a:t>
            </a:r>
            <a:r>
              <a:rPr dirty="0" sz="2800" spc="-5">
                <a:latin typeface="Arial MT"/>
                <a:cs typeface="Arial MT"/>
              </a:rPr>
              <a:t>service </a:t>
            </a:r>
            <a:r>
              <a:rPr dirty="0" sz="2800">
                <a:latin typeface="Arial MT"/>
                <a:cs typeface="Arial MT"/>
              </a:rPr>
              <a:t>is </a:t>
            </a:r>
            <a:r>
              <a:rPr dirty="0" sz="2800" spc="-5">
                <a:latin typeface="Arial MT"/>
                <a:cs typeface="Arial MT"/>
              </a:rPr>
              <a:t>destroyed </a:t>
            </a:r>
            <a:r>
              <a:rPr dirty="0" sz="2800" spc="5">
                <a:latin typeface="Arial MT"/>
                <a:cs typeface="Arial MT"/>
              </a:rPr>
              <a:t>itself </a:t>
            </a:r>
            <a:r>
              <a:rPr dirty="0" sz="2800">
                <a:latin typeface="Arial MT"/>
                <a:cs typeface="Arial MT"/>
              </a:rPr>
              <a:t>by calling </a:t>
            </a:r>
            <a:r>
              <a:rPr dirty="0" sz="2800" spc="-5" b="1">
                <a:latin typeface="Arial"/>
                <a:cs typeface="Arial"/>
              </a:rPr>
              <a:t>stopSelf</a:t>
            </a:r>
            <a:r>
              <a:rPr dirty="0" sz="2800" spc="-5">
                <a:latin typeface="Arial MT"/>
                <a:cs typeface="Arial MT"/>
              </a:rPr>
              <a:t>()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if it is not </a:t>
            </a:r>
            <a:r>
              <a:rPr dirty="0" sz="2800" spc="-5">
                <a:latin typeface="Arial MT"/>
                <a:cs typeface="Arial MT"/>
              </a:rPr>
              <a:t>bound; </a:t>
            </a:r>
            <a:r>
              <a:rPr dirty="0" sz="2800">
                <a:latin typeface="Arial MT"/>
                <a:cs typeface="Arial MT"/>
              </a:rPr>
              <a:t>or calling </a:t>
            </a:r>
            <a:r>
              <a:rPr dirty="0" sz="2800" spc="-5" b="1">
                <a:latin typeface="Arial"/>
                <a:cs typeface="Arial"/>
              </a:rPr>
              <a:t>stopService</a:t>
            </a:r>
            <a:r>
              <a:rPr dirty="0" sz="2800" spc="-5">
                <a:latin typeface="Arial MT"/>
                <a:cs typeface="Arial MT"/>
              </a:rPr>
              <a:t>() </a:t>
            </a:r>
            <a:r>
              <a:rPr dirty="0" sz="2800">
                <a:latin typeface="Arial MT"/>
                <a:cs typeface="Arial MT"/>
              </a:rPr>
              <a:t>or 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 b="1">
                <a:latin typeface="Arial"/>
                <a:cs typeface="Arial"/>
              </a:rPr>
              <a:t>unbindService</a:t>
            </a:r>
            <a:r>
              <a:rPr dirty="0" sz="2800" spc="-5">
                <a:latin typeface="Arial MT"/>
                <a:cs typeface="Arial MT"/>
              </a:rPr>
              <a:t>() </a:t>
            </a:r>
            <a:r>
              <a:rPr dirty="0" sz="2800">
                <a:latin typeface="Arial MT"/>
                <a:cs typeface="Arial MT"/>
              </a:rPr>
              <a:t>or both, if for </a:t>
            </a:r>
            <a:r>
              <a:rPr dirty="0" sz="2800" i="1">
                <a:latin typeface="Arial"/>
                <a:cs typeface="Arial"/>
              </a:rPr>
              <a:t>unbind </a:t>
            </a:r>
            <a:r>
              <a:rPr dirty="0" sz="2800">
                <a:latin typeface="Arial MT"/>
                <a:cs typeface="Arial MT"/>
              </a:rPr>
              <a:t>it is </a:t>
            </a:r>
            <a:r>
              <a:rPr dirty="0" sz="2800" spc="5">
                <a:latin typeface="Arial MT"/>
                <a:cs typeface="Arial MT"/>
              </a:rPr>
              <a:t>the 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last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one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to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unbind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from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the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service.</a:t>
            </a:r>
            <a:endParaRPr sz="2800">
              <a:latin typeface="Arial MT"/>
              <a:cs typeface="Arial MT"/>
            </a:endParaRPr>
          </a:p>
          <a:p>
            <a:pPr marL="356870" marR="377825" indent="-344805">
              <a:lnSpc>
                <a:spcPct val="80000"/>
              </a:lnSpc>
              <a:spcBef>
                <a:spcPts val="67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800" spc="-5" b="1">
                <a:latin typeface="Arial"/>
                <a:cs typeface="Arial"/>
              </a:rPr>
              <a:t>Note</a:t>
            </a:r>
            <a:r>
              <a:rPr dirty="0" sz="2800" spc="-5">
                <a:latin typeface="Arial MT"/>
                <a:cs typeface="Arial MT"/>
              </a:rPr>
              <a:t>: </a:t>
            </a:r>
            <a:r>
              <a:rPr dirty="0" sz="2800">
                <a:latin typeface="Arial MT"/>
                <a:cs typeface="Arial MT"/>
              </a:rPr>
              <a:t>any component, including activities, can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 finished by Android at any time and </a:t>
            </a:r>
            <a:r>
              <a:rPr dirty="0" sz="2800" spc="5">
                <a:latin typeface="Arial MT"/>
                <a:cs typeface="Arial MT"/>
              </a:rPr>
              <a:t>the 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execution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15" b="1">
                <a:latin typeface="Arial"/>
                <a:cs typeface="Arial"/>
              </a:rPr>
              <a:t>onDestroy</a:t>
            </a:r>
            <a:r>
              <a:rPr dirty="0" sz="2800" spc="-15">
                <a:latin typeface="Arial MT"/>
                <a:cs typeface="Arial MT"/>
              </a:rPr>
              <a:t>()</a:t>
            </a:r>
            <a:r>
              <a:rPr dirty="0" sz="2800" spc="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assured.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6940" y="648804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6357" y="363347"/>
            <a:ext cx="47669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SERVICE</a:t>
            </a:r>
            <a:r>
              <a:rPr dirty="0" spc="-70"/>
              <a:t> </a:t>
            </a:r>
            <a:r>
              <a:rPr dirty="0"/>
              <a:t>CYCLE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 spc="5"/>
              <a:t>LIFE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5526" y="0"/>
            <a:ext cx="4964430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18615" marR="5080" indent="-1606550">
              <a:lnSpc>
                <a:spcPct val="100000"/>
              </a:lnSpc>
              <a:spcBef>
                <a:spcPts val="105"/>
              </a:spcBef>
            </a:pPr>
            <a:r>
              <a:rPr dirty="0"/>
              <a:t>LIFECYCLE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 spc="5"/>
              <a:t>BOUND </a:t>
            </a:r>
            <a:r>
              <a:rPr dirty="0" spc="-890"/>
              <a:t> </a:t>
            </a:r>
            <a:r>
              <a:rPr dirty="0"/>
              <a:t>SERVICE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47720" y="1147464"/>
            <a:ext cx="5250180" cy="5419725"/>
            <a:chOff x="3147720" y="1147464"/>
            <a:chExt cx="5250180" cy="5419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7720" y="1147464"/>
              <a:ext cx="5249856" cy="541971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61680" y="1722802"/>
              <a:ext cx="378460" cy="388620"/>
            </a:xfrm>
            <a:custGeom>
              <a:avLst/>
              <a:gdLst/>
              <a:ahLst/>
              <a:cxnLst/>
              <a:rect l="l" t="t" r="r" b="b"/>
              <a:pathLst>
                <a:path w="378460" h="388619">
                  <a:moveTo>
                    <a:pt x="284607" y="0"/>
                  </a:moveTo>
                  <a:lnTo>
                    <a:pt x="188988" y="100609"/>
                  </a:lnTo>
                  <a:lnTo>
                    <a:pt x="93370" y="0"/>
                  </a:lnTo>
                  <a:lnTo>
                    <a:pt x="0" y="88747"/>
                  </a:lnTo>
                  <a:lnTo>
                    <a:pt x="100126" y="194106"/>
                  </a:lnTo>
                  <a:lnTo>
                    <a:pt x="0" y="299466"/>
                  </a:lnTo>
                  <a:lnTo>
                    <a:pt x="93370" y="388200"/>
                  </a:lnTo>
                  <a:lnTo>
                    <a:pt x="188988" y="287604"/>
                  </a:lnTo>
                  <a:lnTo>
                    <a:pt x="284607" y="388200"/>
                  </a:lnTo>
                  <a:lnTo>
                    <a:pt x="377977" y="299466"/>
                  </a:lnTo>
                  <a:lnTo>
                    <a:pt x="277850" y="194106"/>
                  </a:lnTo>
                  <a:lnTo>
                    <a:pt x="377977" y="88747"/>
                  </a:lnTo>
                  <a:lnTo>
                    <a:pt x="2846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161680" y="1722802"/>
              <a:ext cx="378460" cy="388620"/>
            </a:xfrm>
            <a:custGeom>
              <a:avLst/>
              <a:gdLst/>
              <a:ahLst/>
              <a:cxnLst/>
              <a:rect l="l" t="t" r="r" b="b"/>
              <a:pathLst>
                <a:path w="378460" h="388619">
                  <a:moveTo>
                    <a:pt x="0" y="88747"/>
                  </a:moveTo>
                  <a:lnTo>
                    <a:pt x="93370" y="0"/>
                  </a:lnTo>
                  <a:lnTo>
                    <a:pt x="188988" y="100609"/>
                  </a:lnTo>
                  <a:lnTo>
                    <a:pt x="284607" y="0"/>
                  </a:lnTo>
                  <a:lnTo>
                    <a:pt x="377977" y="88747"/>
                  </a:lnTo>
                  <a:lnTo>
                    <a:pt x="277850" y="194106"/>
                  </a:lnTo>
                  <a:lnTo>
                    <a:pt x="377977" y="299466"/>
                  </a:lnTo>
                  <a:lnTo>
                    <a:pt x="284607" y="388200"/>
                  </a:lnTo>
                  <a:lnTo>
                    <a:pt x="188988" y="287604"/>
                  </a:lnTo>
                  <a:lnTo>
                    <a:pt x="93370" y="388200"/>
                  </a:lnTo>
                  <a:lnTo>
                    <a:pt x="0" y="299466"/>
                  </a:lnTo>
                  <a:lnTo>
                    <a:pt x="100126" y="194106"/>
                  </a:lnTo>
                  <a:lnTo>
                    <a:pt x="0" y="88747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74027" y="1285938"/>
            <a:ext cx="2399030" cy="49561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1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100" spc="-5">
                <a:latin typeface="Arial MT"/>
                <a:cs typeface="Arial MT"/>
              </a:rPr>
              <a:t>If </a:t>
            </a:r>
            <a:r>
              <a:rPr dirty="0" sz="2100">
                <a:latin typeface="Arial MT"/>
                <a:cs typeface="Arial MT"/>
              </a:rPr>
              <a:t>the service </a:t>
            </a:r>
            <a:r>
              <a:rPr dirty="0" sz="2100" spc="5">
                <a:latin typeface="Arial MT"/>
                <a:cs typeface="Arial MT"/>
              </a:rPr>
              <a:t>is </a:t>
            </a:r>
            <a:r>
              <a:rPr dirty="0" sz="2100" spc="10">
                <a:latin typeface="Arial MT"/>
                <a:cs typeface="Arial MT"/>
              </a:rPr>
              <a:t> </a:t>
            </a:r>
            <a:r>
              <a:rPr dirty="0" sz="2100" spc="-5">
                <a:latin typeface="Arial MT"/>
                <a:cs typeface="Arial MT"/>
              </a:rPr>
              <a:t>started </a:t>
            </a:r>
            <a:r>
              <a:rPr dirty="0" sz="2100" spc="5">
                <a:latin typeface="Arial MT"/>
                <a:cs typeface="Arial MT"/>
              </a:rPr>
              <a:t>and </a:t>
            </a:r>
            <a:r>
              <a:rPr dirty="0" sz="2100" spc="1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bounded in any </a:t>
            </a:r>
            <a:r>
              <a:rPr dirty="0" sz="2100" spc="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order, </a:t>
            </a:r>
            <a:r>
              <a:rPr dirty="0" sz="2100" spc="5">
                <a:latin typeface="Arial MT"/>
                <a:cs typeface="Arial MT"/>
              </a:rPr>
              <a:t>it will </a:t>
            </a:r>
            <a:r>
              <a:rPr dirty="0" sz="2100" spc="1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remain  </a:t>
            </a:r>
            <a:r>
              <a:rPr dirty="0" sz="2100">
                <a:latin typeface="Arial MT"/>
                <a:cs typeface="Arial MT"/>
              </a:rPr>
              <a:t>active </a:t>
            </a:r>
            <a:r>
              <a:rPr dirty="0" sz="2100" spc="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(it’s </a:t>
            </a:r>
            <a:r>
              <a:rPr dirty="0" sz="2100" spc="5">
                <a:latin typeface="Arial MT"/>
                <a:cs typeface="Arial MT"/>
              </a:rPr>
              <a:t>not </a:t>
            </a:r>
            <a:r>
              <a:rPr dirty="0" sz="2100" spc="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destroyed)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until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it </a:t>
            </a:r>
            <a:r>
              <a:rPr dirty="0" sz="2100" spc="-57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is </a:t>
            </a:r>
            <a:r>
              <a:rPr dirty="0" sz="2100">
                <a:latin typeface="Arial MT"/>
                <a:cs typeface="Arial MT"/>
              </a:rPr>
              <a:t>stopped </a:t>
            </a:r>
            <a:r>
              <a:rPr dirty="0" sz="2100" spc="5">
                <a:latin typeface="Arial MT"/>
                <a:cs typeface="Arial MT"/>
              </a:rPr>
              <a:t>and </a:t>
            </a:r>
            <a:r>
              <a:rPr dirty="0" sz="2100" spc="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unbounded.</a:t>
            </a:r>
            <a:endParaRPr sz="2100">
              <a:latin typeface="Arial MT"/>
              <a:cs typeface="Arial MT"/>
            </a:endParaRPr>
          </a:p>
          <a:p>
            <a:pPr algn="just" marL="356870" marR="100965" indent="-344805">
              <a:lnSpc>
                <a:spcPct val="100000"/>
              </a:lnSpc>
              <a:spcBef>
                <a:spcPts val="50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100" spc="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onUnbind() </a:t>
            </a:r>
            <a:r>
              <a:rPr dirty="0" sz="2100" spc="-57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method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is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called </a:t>
            </a:r>
            <a:r>
              <a:rPr dirty="0" sz="2100" spc="-57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only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for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last</a:t>
            </a:r>
            <a:endParaRPr sz="2100">
              <a:latin typeface="Arial MT"/>
              <a:cs typeface="Arial MT"/>
            </a:endParaRPr>
          </a:p>
          <a:p>
            <a:pPr algn="just" marL="356870" marR="100965" indent="-344805">
              <a:lnSpc>
                <a:spcPct val="100000"/>
              </a:lnSpc>
              <a:spcBef>
                <a:spcPts val="50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100" spc="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onRebind() </a:t>
            </a:r>
            <a:r>
              <a:rPr dirty="0" sz="2100" spc="-57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method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is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called </a:t>
            </a:r>
            <a:r>
              <a:rPr dirty="0" sz="2100" spc="-57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only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for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 spc="5">
                <a:latin typeface="Arial MT"/>
                <a:cs typeface="Arial MT"/>
              </a:rPr>
              <a:t>first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Jesús Alonso</dc:creator>
  <dc:title>PROGRAMA DE POSTGRAU DE DISSENY I CREACIÓ DE VIDEOJOCS</dc:title>
  <dcterms:created xsi:type="dcterms:W3CDTF">2023-11-28T14:42:39Z</dcterms:created>
  <dcterms:modified xsi:type="dcterms:W3CDTF">2023-11-28T14:42:39Z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2018-03-19T00:00:00Z</vt:filetime>
  </property>
  <property fmtid="{D5CDD505-2E9C-101B-9397-08002B2CF9AE}" pid="3" name="Creator">
    <vt:lpwstr>Acrobat PDFMaker 11 para PowerPoint</vt:lpwstr>
  </property>
  <property fmtid="{D5CDD505-2E9C-101B-9397-08002B2CF9AE}" pid="4" name="LastSaved">
    <vt:filetime>2023-11-28T00:00:00Z</vt:filetime>
  </property>
</Properties>
</file>