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jpg"/><Relationship Id="rId9" Type="http://schemas.openxmlformats.org/officeDocument/2006/relationships/image" Target="../media/image3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77840" y="299811"/>
            <a:ext cx="5786429" cy="69187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7832" y="287832"/>
            <a:ext cx="2143118" cy="65245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0512" y="6405562"/>
            <a:ext cx="2095499" cy="1714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21731" y="265715"/>
            <a:ext cx="4300537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3E3E3E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23302"/>
            <a:ext cx="8072119" cy="368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7" y="2818406"/>
            <a:ext cx="7143748" cy="15913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895" y="837107"/>
            <a:ext cx="3357557" cy="102234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79302" y="881126"/>
            <a:ext cx="18421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5C082C"/>
                </a:solidFill>
                <a:latin typeface="Arial MT"/>
                <a:cs typeface="Arial MT"/>
              </a:rPr>
              <a:t>Postgrado</a:t>
            </a:r>
            <a:r>
              <a:rPr dirty="0" sz="2400" spc="-65">
                <a:solidFill>
                  <a:srgbClr val="5C082C"/>
                </a:solidFill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5C082C"/>
                </a:solidFill>
                <a:latin typeface="Arial MT"/>
                <a:cs typeface="Arial MT"/>
              </a:rPr>
              <a:t>en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9302" y="1344422"/>
            <a:ext cx="3884929" cy="5124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10">
                <a:solidFill>
                  <a:srgbClr val="5C082C"/>
                </a:solidFill>
                <a:latin typeface="Arial"/>
                <a:cs typeface="Arial"/>
              </a:rPr>
              <a:t>Mobile</a:t>
            </a:r>
            <a:r>
              <a:rPr dirty="0" sz="3200" spc="-145">
                <a:solidFill>
                  <a:srgbClr val="5C082C"/>
                </a:solidFill>
                <a:latin typeface="Arial"/>
                <a:cs typeface="Arial"/>
              </a:rPr>
              <a:t> </a:t>
            </a:r>
            <a:r>
              <a:rPr dirty="0" sz="3200" spc="-35">
                <a:solidFill>
                  <a:srgbClr val="5C082C"/>
                </a:solidFill>
                <a:latin typeface="Arial"/>
                <a:cs typeface="Arial"/>
              </a:rPr>
              <a:t>Apps</a:t>
            </a:r>
            <a:r>
              <a:rPr dirty="0" sz="3200" spc="85">
                <a:solidFill>
                  <a:srgbClr val="5C082C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5C082C"/>
                </a:solidFill>
                <a:latin typeface="Arial"/>
                <a:cs typeface="Arial"/>
              </a:rPr>
              <a:t>Design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7893" y="3174428"/>
            <a:ext cx="218821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5" b="1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dirty="0" sz="4800" spc="5" b="1">
                <a:solidFill>
                  <a:srgbClr val="3E3E3E"/>
                </a:solidFill>
                <a:latin typeface="Calibri"/>
                <a:cs typeface="Calibri"/>
              </a:rPr>
              <a:t>L</a:t>
            </a:r>
            <a:r>
              <a:rPr dirty="0" sz="4800" spc="-5" b="1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dirty="0" sz="4800" spc="5" b="1">
                <a:solidFill>
                  <a:srgbClr val="3E3E3E"/>
                </a:solidFill>
                <a:latin typeface="Calibri"/>
                <a:cs typeface="Calibri"/>
              </a:rPr>
              <a:t>R</a:t>
            </a:r>
            <a:r>
              <a:rPr dirty="0" sz="4800" b="1">
                <a:solidFill>
                  <a:srgbClr val="3E3E3E"/>
                </a:solidFill>
                <a:latin typeface="Calibri"/>
                <a:cs typeface="Calibri"/>
              </a:rPr>
              <a:t>MS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7595" y="5095938"/>
            <a:ext cx="3429000" cy="5124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200" spc="-5">
                <a:latin typeface="Arial MT"/>
                <a:cs typeface="Arial MT"/>
              </a:rPr>
              <a:t>Juan</a:t>
            </a:r>
            <a:r>
              <a:rPr dirty="0" sz="3200" spc="-25">
                <a:latin typeface="Arial MT"/>
                <a:cs typeface="Arial MT"/>
              </a:rPr>
              <a:t> </a:t>
            </a:r>
            <a:r>
              <a:rPr dirty="0" sz="3200" spc="-5">
                <a:latin typeface="Arial MT"/>
                <a:cs typeface="Arial MT"/>
              </a:rPr>
              <a:t>Luis</a:t>
            </a:r>
            <a:r>
              <a:rPr dirty="0" sz="3200" spc="-35">
                <a:latin typeface="Arial MT"/>
                <a:cs typeface="Arial MT"/>
              </a:rPr>
              <a:t> </a:t>
            </a:r>
            <a:r>
              <a:rPr dirty="0" sz="3200" spc="-10">
                <a:latin typeface="Arial MT"/>
                <a:cs typeface="Arial MT"/>
              </a:rPr>
              <a:t>Gorricho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9606" y="265715"/>
            <a:ext cx="4194175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SCHEDULING</a:t>
            </a:r>
            <a:r>
              <a:rPr dirty="0" spc="-145"/>
              <a:t> </a:t>
            </a:r>
            <a:r>
              <a:rPr dirty="0"/>
              <a:t>TASKS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8541"/>
            <a:ext cx="7932420" cy="4198620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marL="356870" marR="5080" indent="-344805">
              <a:lnSpc>
                <a:spcPct val="89900"/>
              </a:lnSpc>
              <a:spcBef>
                <a:spcPts val="439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700" spc="5">
                <a:latin typeface="Arial MT"/>
                <a:cs typeface="Arial MT"/>
              </a:rPr>
              <a:t>The alarms, using </a:t>
            </a:r>
            <a:r>
              <a:rPr dirty="0" sz="2700" spc="-5" b="1">
                <a:latin typeface="Arial"/>
                <a:cs typeface="Arial"/>
              </a:rPr>
              <a:t>AlarmManager</a:t>
            </a:r>
            <a:r>
              <a:rPr dirty="0" sz="2700" spc="-5">
                <a:latin typeface="Arial MT"/>
                <a:cs typeface="Arial MT"/>
              </a:rPr>
              <a:t>, </a:t>
            </a:r>
            <a:r>
              <a:rPr dirty="0" sz="2700">
                <a:latin typeface="Arial MT"/>
                <a:cs typeface="Arial MT"/>
              </a:rPr>
              <a:t>allow the </a:t>
            </a:r>
            <a:r>
              <a:rPr dirty="0" sz="2700" spc="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execution </a:t>
            </a:r>
            <a:r>
              <a:rPr dirty="0" sz="2700" spc="5">
                <a:latin typeface="Arial MT"/>
                <a:cs typeface="Arial MT"/>
              </a:rPr>
              <a:t>of tasks </a:t>
            </a:r>
            <a:r>
              <a:rPr dirty="0" sz="2700">
                <a:latin typeface="Arial MT"/>
                <a:cs typeface="Arial MT"/>
              </a:rPr>
              <a:t>scheduled </a:t>
            </a:r>
            <a:r>
              <a:rPr dirty="0" sz="2700" spc="5">
                <a:latin typeface="Arial MT"/>
                <a:cs typeface="Arial MT"/>
              </a:rPr>
              <a:t>on </a:t>
            </a:r>
            <a:r>
              <a:rPr dirty="0" sz="2700">
                <a:latin typeface="Arial MT"/>
                <a:cs typeface="Arial MT"/>
              </a:rPr>
              <a:t>time outside the </a:t>
            </a:r>
            <a:r>
              <a:rPr dirty="0" sz="2700" spc="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cycle</a:t>
            </a:r>
            <a:r>
              <a:rPr dirty="0" sz="2700" spc="-10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of</a:t>
            </a:r>
            <a:r>
              <a:rPr dirty="0" sz="2700" spc="-20">
                <a:latin typeface="Arial MT"/>
                <a:cs typeface="Arial MT"/>
              </a:rPr>
              <a:t> </a:t>
            </a:r>
            <a:r>
              <a:rPr dirty="0" sz="2700" spc="-5">
                <a:latin typeface="Arial MT"/>
                <a:cs typeface="Arial MT"/>
              </a:rPr>
              <a:t>life </a:t>
            </a:r>
            <a:r>
              <a:rPr dirty="0" sz="2700" spc="5">
                <a:latin typeface="Arial MT"/>
                <a:cs typeface="Arial MT"/>
              </a:rPr>
              <a:t>of</a:t>
            </a:r>
            <a:r>
              <a:rPr dirty="0" sz="2700" spc="-25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an</a:t>
            </a:r>
            <a:r>
              <a:rPr dirty="0" sz="2700" spc="-30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app.</a:t>
            </a:r>
            <a:r>
              <a:rPr dirty="0" sz="2700" spc="-45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A</a:t>
            </a:r>
            <a:r>
              <a:rPr dirty="0" sz="2700" spc="-20">
                <a:latin typeface="Arial MT"/>
                <a:cs typeface="Arial MT"/>
              </a:rPr>
              <a:t> </a:t>
            </a:r>
            <a:r>
              <a:rPr dirty="0" sz="2700" spc="-5">
                <a:latin typeface="Arial MT"/>
                <a:cs typeface="Arial MT"/>
              </a:rPr>
              <a:t>typical</a:t>
            </a:r>
            <a:r>
              <a:rPr dirty="0" sz="2700" spc="-15">
                <a:latin typeface="Arial MT"/>
                <a:cs typeface="Arial MT"/>
              </a:rPr>
              <a:t> </a:t>
            </a:r>
            <a:r>
              <a:rPr dirty="0" sz="2700" spc="-5">
                <a:latin typeface="Arial MT"/>
                <a:cs typeface="Arial MT"/>
              </a:rPr>
              <a:t>example</a:t>
            </a:r>
            <a:r>
              <a:rPr dirty="0" sz="2700" spc="-3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would</a:t>
            </a:r>
            <a:r>
              <a:rPr dirty="0" sz="2700" spc="-30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be </a:t>
            </a:r>
            <a:r>
              <a:rPr dirty="0" sz="2700" spc="-73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to</a:t>
            </a:r>
            <a:r>
              <a:rPr dirty="0" sz="2700" spc="-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synchronize</a:t>
            </a:r>
            <a:r>
              <a:rPr dirty="0" sz="2700" spc="-10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data</a:t>
            </a:r>
            <a:r>
              <a:rPr dirty="0" sz="2700" spc="-3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from</a:t>
            </a:r>
            <a:r>
              <a:rPr dirty="0" sz="2700" spc="-5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a</a:t>
            </a:r>
            <a:r>
              <a:rPr dirty="0" sz="2700" spc="-3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remote</a:t>
            </a:r>
            <a:r>
              <a:rPr dirty="0" sz="2700" spc="-3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server.</a:t>
            </a:r>
            <a:endParaRPr sz="270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330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700" spc="-5">
                <a:latin typeface="Arial MT"/>
                <a:cs typeface="Arial MT"/>
              </a:rPr>
              <a:t>It </a:t>
            </a:r>
            <a:r>
              <a:rPr dirty="0" sz="2700">
                <a:latin typeface="Arial MT"/>
                <a:cs typeface="Arial MT"/>
              </a:rPr>
              <a:t>is</a:t>
            </a:r>
            <a:r>
              <a:rPr dirty="0" sz="2700" spc="-30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recommended</a:t>
            </a:r>
            <a:r>
              <a:rPr dirty="0" sz="2700" spc="-10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to</a:t>
            </a:r>
            <a:r>
              <a:rPr dirty="0" sz="2700" spc="-10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program</a:t>
            </a:r>
            <a:r>
              <a:rPr dirty="0" sz="2700" spc="-9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the</a:t>
            </a:r>
            <a:r>
              <a:rPr dirty="0" sz="2700" spc="-10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alarms:</a:t>
            </a:r>
            <a:endParaRPr sz="27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300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400" spc="-10">
                <a:latin typeface="Arial MT"/>
                <a:cs typeface="Arial MT"/>
              </a:rPr>
              <a:t>with</a:t>
            </a:r>
            <a:r>
              <a:rPr dirty="0" sz="2400" spc="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lowest</a:t>
            </a:r>
            <a:r>
              <a:rPr dirty="0" sz="2400" spc="2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frequency,</a:t>
            </a:r>
            <a:endParaRPr sz="2400">
              <a:latin typeface="Arial MT"/>
              <a:cs typeface="Arial MT"/>
            </a:endParaRPr>
          </a:p>
          <a:p>
            <a:pPr lvl="1" marL="756285" marR="81280" indent="-287020">
              <a:lnSpc>
                <a:spcPts val="2590"/>
              </a:lnSpc>
              <a:spcBef>
                <a:spcPts val="620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400">
                <a:latin typeface="Arial MT"/>
                <a:cs typeface="Arial MT"/>
              </a:rPr>
              <a:t>of the appropriate </a:t>
            </a:r>
            <a:r>
              <a:rPr dirty="0" sz="2400" spc="-5">
                <a:latin typeface="Arial MT"/>
                <a:cs typeface="Arial MT"/>
              </a:rPr>
              <a:t>type, </a:t>
            </a:r>
            <a:r>
              <a:rPr dirty="0" sz="2400">
                <a:latin typeface="Arial MT"/>
                <a:cs typeface="Arial MT"/>
              </a:rPr>
              <a:t>that </a:t>
            </a:r>
            <a:r>
              <a:rPr dirty="0" sz="2400" spc="-5">
                <a:latin typeface="Arial MT"/>
                <a:cs typeface="Arial MT"/>
              </a:rPr>
              <a:t>is, </a:t>
            </a:r>
            <a:r>
              <a:rPr dirty="0" sz="2400">
                <a:latin typeface="Arial MT"/>
                <a:cs typeface="Arial MT"/>
              </a:rPr>
              <a:t>use </a:t>
            </a:r>
            <a:r>
              <a:rPr dirty="0" sz="2400" spc="-5">
                <a:latin typeface="Arial MT"/>
                <a:cs typeface="Arial MT"/>
              </a:rPr>
              <a:t>inexact </a:t>
            </a:r>
            <a:r>
              <a:rPr dirty="0" sz="2400">
                <a:latin typeface="Arial MT"/>
                <a:cs typeface="Arial MT"/>
              </a:rPr>
              <a:t>repetition </a:t>
            </a:r>
            <a:r>
              <a:rPr dirty="0" sz="2400" spc="-65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if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possible,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so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15" b="1">
                <a:latin typeface="Arial"/>
                <a:cs typeface="Arial"/>
              </a:rPr>
              <a:t>Android</a:t>
            </a:r>
            <a:r>
              <a:rPr dirty="0" sz="2400" spc="5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execute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jointly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several </a:t>
            </a:r>
            <a:r>
              <a:rPr dirty="0" sz="2400">
                <a:latin typeface="Arial MT"/>
                <a:cs typeface="Arial MT"/>
              </a:rPr>
              <a:t> tasks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thanks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its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temporal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vicinity,</a:t>
            </a:r>
            <a:endParaRPr sz="2400">
              <a:latin typeface="Arial MT"/>
              <a:cs typeface="Arial MT"/>
            </a:endParaRPr>
          </a:p>
          <a:p>
            <a:pPr lvl="1" marL="756285" marR="589915" indent="-287020">
              <a:lnSpc>
                <a:spcPts val="2590"/>
              </a:lnSpc>
              <a:spcBef>
                <a:spcPts val="580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400">
                <a:latin typeface="Arial MT"/>
                <a:cs typeface="Arial MT"/>
              </a:rPr>
              <a:t>setting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temporal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intervals </a:t>
            </a:r>
            <a:r>
              <a:rPr dirty="0" sz="2400" spc="10">
                <a:latin typeface="Arial MT"/>
                <a:cs typeface="Arial MT"/>
              </a:rPr>
              <a:t>for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repetition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instead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5">
                <a:latin typeface="Arial MT"/>
                <a:cs typeface="Arial MT"/>
              </a:rPr>
              <a:t>of </a:t>
            </a:r>
            <a:r>
              <a:rPr dirty="0" sz="2400" spc="-650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exact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spc="-5">
                <a:latin typeface="Arial MT"/>
                <a:cs typeface="Arial MT"/>
              </a:rPr>
              <a:t>clock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times.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48285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A</a:t>
            </a:r>
            <a:r>
              <a:rPr dirty="0" spc="5"/>
              <a:t>L</a:t>
            </a:r>
            <a:r>
              <a:rPr dirty="0" spc="-5"/>
              <a:t>AR</a:t>
            </a:r>
            <a:r>
              <a:rPr dirty="0" spc="5"/>
              <a:t>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5013"/>
            <a:ext cx="7874000" cy="405066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356870" marR="532765" indent="-344805">
              <a:lnSpc>
                <a:spcPts val="2400"/>
              </a:lnSpc>
              <a:spcBef>
                <a:spcPts val="675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500">
                <a:latin typeface="Arial MT"/>
                <a:cs typeface="Arial MT"/>
              </a:rPr>
              <a:t>The programming of alarms </a:t>
            </a:r>
            <a:r>
              <a:rPr dirty="0" sz="2500" spc="-5">
                <a:latin typeface="Arial MT"/>
                <a:cs typeface="Arial MT"/>
              </a:rPr>
              <a:t>is </a:t>
            </a:r>
            <a:r>
              <a:rPr dirty="0" sz="2500">
                <a:latin typeface="Arial MT"/>
                <a:cs typeface="Arial MT"/>
              </a:rPr>
              <a:t>useful </a:t>
            </a:r>
            <a:r>
              <a:rPr dirty="0" sz="2500" spc="-5">
                <a:latin typeface="Arial MT"/>
                <a:cs typeface="Arial MT"/>
              </a:rPr>
              <a:t>to execute a </a:t>
            </a:r>
            <a:r>
              <a:rPr dirty="0" sz="2500" spc="-68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service,</a:t>
            </a:r>
            <a:r>
              <a:rPr dirty="0" sz="2500" spc="2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to</a:t>
            </a:r>
            <a:r>
              <a:rPr dirty="0" sz="2500">
                <a:latin typeface="Arial MT"/>
                <a:cs typeface="Arial MT"/>
              </a:rPr>
              <a:t> send </a:t>
            </a:r>
            <a:r>
              <a:rPr dirty="0" sz="2500" spc="-5">
                <a:latin typeface="Arial MT"/>
                <a:cs typeface="Arial MT"/>
              </a:rPr>
              <a:t>a</a:t>
            </a:r>
            <a:r>
              <a:rPr dirty="0" sz="2500">
                <a:latin typeface="Arial MT"/>
                <a:cs typeface="Arial MT"/>
              </a:rPr>
              <a:t> broadcast</a:t>
            </a:r>
            <a:r>
              <a:rPr dirty="0" sz="2500" spc="-3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message or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even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to 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launch</a:t>
            </a:r>
            <a:r>
              <a:rPr dirty="0" sz="2500" spc="-15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an</a:t>
            </a:r>
            <a:r>
              <a:rPr dirty="0" sz="2500" spc="10">
                <a:latin typeface="Arial MT"/>
                <a:cs typeface="Arial MT"/>
              </a:rPr>
              <a:t> </a:t>
            </a:r>
            <a:r>
              <a:rPr dirty="0" sz="2500" spc="-10">
                <a:latin typeface="Arial MT"/>
                <a:cs typeface="Arial MT"/>
              </a:rPr>
              <a:t>activity</a:t>
            </a:r>
            <a:r>
              <a:rPr dirty="0" sz="2500" spc="5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without</a:t>
            </a:r>
            <a:r>
              <a:rPr dirty="0" sz="2500" spc="-2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the</a:t>
            </a:r>
            <a:r>
              <a:rPr dirty="0" sz="2500" spc="10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user</a:t>
            </a:r>
            <a:r>
              <a:rPr dirty="0" sz="2500" spc="2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intervention.</a:t>
            </a:r>
            <a:endParaRPr sz="2500">
              <a:latin typeface="Arial MT"/>
              <a:cs typeface="Arial MT"/>
            </a:endParaRPr>
          </a:p>
          <a:p>
            <a:pPr marL="356870" marR="274320" indent="-344805">
              <a:lnSpc>
                <a:spcPts val="2400"/>
              </a:lnSpc>
              <a:spcBef>
                <a:spcPts val="600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500">
                <a:latin typeface="Arial MT"/>
                <a:cs typeface="Arial MT"/>
              </a:rPr>
              <a:t>The </a:t>
            </a:r>
            <a:r>
              <a:rPr dirty="0" sz="2500" spc="-5">
                <a:latin typeface="Arial MT"/>
                <a:cs typeface="Arial MT"/>
              </a:rPr>
              <a:t>scheduling </a:t>
            </a:r>
            <a:r>
              <a:rPr dirty="0" sz="2500">
                <a:latin typeface="Arial MT"/>
                <a:cs typeface="Arial MT"/>
              </a:rPr>
              <a:t>of alarms </a:t>
            </a:r>
            <a:r>
              <a:rPr dirty="0" sz="2500" spc="-5">
                <a:latin typeface="Arial MT"/>
                <a:cs typeface="Arial MT"/>
              </a:rPr>
              <a:t>implies launching a </a:t>
            </a:r>
            <a:r>
              <a:rPr dirty="0" sz="2500">
                <a:latin typeface="Arial MT"/>
                <a:cs typeface="Arial MT"/>
              </a:rPr>
              <a:t>future </a:t>
            </a:r>
            <a:r>
              <a:rPr dirty="0" sz="2500" spc="-68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PendingIntent, it</a:t>
            </a:r>
            <a:r>
              <a:rPr dirty="0" sz="2500">
                <a:latin typeface="Arial MT"/>
                <a:cs typeface="Arial MT"/>
              </a:rPr>
              <a:t> </a:t>
            </a:r>
            <a:r>
              <a:rPr dirty="0" sz="2500" spc="-5">
                <a:latin typeface="Arial MT"/>
                <a:cs typeface="Arial MT"/>
              </a:rPr>
              <a:t>can</a:t>
            </a:r>
            <a:r>
              <a:rPr dirty="0" sz="2500" spc="5">
                <a:latin typeface="Arial MT"/>
                <a:cs typeface="Arial MT"/>
              </a:rPr>
              <a:t> </a:t>
            </a:r>
            <a:r>
              <a:rPr dirty="0" sz="2500">
                <a:latin typeface="Arial MT"/>
                <a:cs typeface="Arial MT"/>
              </a:rPr>
              <a:t>be:</a:t>
            </a:r>
            <a:endParaRPr sz="2500">
              <a:latin typeface="Arial MT"/>
              <a:cs typeface="Arial MT"/>
            </a:endParaRPr>
          </a:p>
          <a:p>
            <a:pPr lvl="1" marL="756285" marR="16510" indent="-287020">
              <a:lnSpc>
                <a:spcPts val="2110"/>
              </a:lnSpc>
              <a:spcBef>
                <a:spcPts val="545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200" spc="5" b="1">
                <a:latin typeface="Arial"/>
                <a:cs typeface="Arial"/>
              </a:rPr>
              <a:t>Only </a:t>
            </a:r>
            <a:r>
              <a:rPr dirty="0" sz="2200" b="1">
                <a:latin typeface="Arial"/>
                <a:cs typeface="Arial"/>
              </a:rPr>
              <a:t>one </a:t>
            </a:r>
            <a:r>
              <a:rPr dirty="0" sz="2200" spc="5" b="1">
                <a:latin typeface="Arial"/>
                <a:cs typeface="Arial"/>
              </a:rPr>
              <a:t>time</a:t>
            </a:r>
            <a:r>
              <a:rPr dirty="0" sz="2200" spc="5">
                <a:latin typeface="Arial MT"/>
                <a:cs typeface="Arial MT"/>
              </a:rPr>
              <a:t>: </a:t>
            </a:r>
            <a:r>
              <a:rPr dirty="0" sz="2200">
                <a:latin typeface="Arial MT"/>
                <a:cs typeface="Arial MT"/>
              </a:rPr>
              <a:t>at a </a:t>
            </a:r>
            <a:r>
              <a:rPr dirty="0" sz="2200" spc="-5">
                <a:latin typeface="Arial MT"/>
                <a:cs typeface="Arial MT"/>
              </a:rPr>
              <a:t>given clock </a:t>
            </a:r>
            <a:r>
              <a:rPr dirty="0" sz="2200">
                <a:latin typeface="Arial MT"/>
                <a:cs typeface="Arial MT"/>
              </a:rPr>
              <a:t>time or </a:t>
            </a:r>
            <a:r>
              <a:rPr dirty="0" sz="2200" spc="5">
                <a:latin typeface="Arial MT"/>
                <a:cs typeface="Arial MT"/>
              </a:rPr>
              <a:t>after </a:t>
            </a:r>
            <a:r>
              <a:rPr dirty="0" sz="2200">
                <a:latin typeface="Arial MT"/>
                <a:cs typeface="Arial MT"/>
              </a:rPr>
              <a:t>a </a:t>
            </a:r>
            <a:r>
              <a:rPr dirty="0" sz="2200" spc="-5">
                <a:latin typeface="Arial MT"/>
                <a:cs typeface="Arial MT"/>
              </a:rPr>
              <a:t>given </a:t>
            </a:r>
            <a:r>
              <a:rPr dirty="0" sz="2200">
                <a:latin typeface="Arial MT"/>
                <a:cs typeface="Arial MT"/>
              </a:rPr>
              <a:t>time </a:t>
            </a:r>
            <a:r>
              <a:rPr dirty="0" sz="2200" spc="-600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interval.</a:t>
            </a:r>
            <a:endParaRPr sz="2200">
              <a:latin typeface="Arial MT"/>
              <a:cs typeface="Arial MT"/>
            </a:endParaRPr>
          </a:p>
          <a:p>
            <a:pPr lvl="1" marL="756285" marR="5080" indent="-287020">
              <a:lnSpc>
                <a:spcPts val="2110"/>
              </a:lnSpc>
              <a:spcBef>
                <a:spcPts val="530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200" b="1">
                <a:latin typeface="Arial"/>
                <a:cs typeface="Arial"/>
              </a:rPr>
              <a:t>Periodically</a:t>
            </a:r>
            <a:r>
              <a:rPr dirty="0" sz="2200">
                <a:latin typeface="Arial MT"/>
                <a:cs typeface="Arial MT"/>
              </a:rPr>
              <a:t>: </a:t>
            </a:r>
            <a:r>
              <a:rPr dirty="0" sz="2200" spc="-10">
                <a:latin typeface="Arial MT"/>
                <a:cs typeface="Arial MT"/>
              </a:rPr>
              <a:t>with </a:t>
            </a:r>
            <a:r>
              <a:rPr dirty="0" sz="2200">
                <a:latin typeface="Arial MT"/>
                <a:cs typeface="Arial MT"/>
              </a:rPr>
              <a:t>or </a:t>
            </a:r>
            <a:r>
              <a:rPr dirty="0" sz="2200" spc="-5">
                <a:latin typeface="Arial MT"/>
                <a:cs typeface="Arial MT"/>
              </a:rPr>
              <a:t>without exact </a:t>
            </a:r>
            <a:r>
              <a:rPr dirty="0" sz="2200">
                <a:latin typeface="Arial MT"/>
                <a:cs typeface="Arial MT"/>
              </a:rPr>
              <a:t>repetition, starting at a </a:t>
            </a:r>
            <a:r>
              <a:rPr dirty="0" sz="2200" spc="-600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given</a:t>
            </a:r>
            <a:r>
              <a:rPr dirty="0" sz="2200" spc="5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clock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time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or</a:t>
            </a:r>
            <a:r>
              <a:rPr dirty="0" sz="2200" spc="-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time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interval,</a:t>
            </a:r>
            <a:r>
              <a:rPr dirty="0" sz="2200" spc="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and</a:t>
            </a:r>
            <a:r>
              <a:rPr dirty="0" sz="2200" spc="10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finally, every</a:t>
            </a:r>
            <a:r>
              <a:rPr dirty="0" sz="2200" spc="15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given </a:t>
            </a:r>
            <a:r>
              <a:rPr dirty="0" sz="2200">
                <a:latin typeface="Arial MT"/>
                <a:cs typeface="Arial MT"/>
              </a:rPr>
              <a:t> time</a:t>
            </a:r>
            <a:r>
              <a:rPr dirty="0" sz="2200" spc="-25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interval.</a:t>
            </a:r>
            <a:endParaRPr sz="2200">
              <a:latin typeface="Arial MT"/>
              <a:cs typeface="Arial MT"/>
            </a:endParaRPr>
          </a:p>
          <a:p>
            <a:pPr lvl="1" marL="756285" marR="66040" indent="-287020">
              <a:lnSpc>
                <a:spcPts val="2110"/>
              </a:lnSpc>
              <a:spcBef>
                <a:spcPts val="535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2200" spc="5">
                <a:latin typeface="Arial MT"/>
                <a:cs typeface="Arial MT"/>
              </a:rPr>
              <a:t>The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alarm</a:t>
            </a:r>
            <a:r>
              <a:rPr dirty="0" sz="2200">
                <a:latin typeface="Arial MT"/>
                <a:cs typeface="Arial MT"/>
              </a:rPr>
              <a:t> can</a:t>
            </a:r>
            <a:r>
              <a:rPr dirty="0" sz="2200" spc="1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be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 b="1">
                <a:latin typeface="Arial"/>
                <a:cs typeface="Arial"/>
              </a:rPr>
              <a:t>of</a:t>
            </a:r>
            <a:r>
              <a:rPr dirty="0" sz="2200" spc="25" b="1">
                <a:latin typeface="Arial"/>
                <a:cs typeface="Arial"/>
              </a:rPr>
              <a:t> </a:t>
            </a:r>
            <a:r>
              <a:rPr dirty="0" sz="2200" spc="-10" b="1">
                <a:latin typeface="Arial"/>
                <a:cs typeface="Arial"/>
              </a:rPr>
              <a:t>type</a:t>
            </a:r>
            <a:r>
              <a:rPr dirty="0" sz="2200" spc="-10">
                <a:latin typeface="Arial MT"/>
                <a:cs typeface="Arial MT"/>
              </a:rPr>
              <a:t>:</a:t>
            </a:r>
            <a:r>
              <a:rPr dirty="0" sz="2200" spc="50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execute</a:t>
            </a:r>
            <a:r>
              <a:rPr dirty="0" sz="2200" spc="15">
                <a:latin typeface="Arial MT"/>
                <a:cs typeface="Arial MT"/>
              </a:rPr>
              <a:t> </a:t>
            </a:r>
            <a:r>
              <a:rPr dirty="0" sz="2200" spc="-15">
                <a:latin typeface="Arial MT"/>
                <a:cs typeface="Arial MT"/>
              </a:rPr>
              <a:t>anyway,</a:t>
            </a:r>
            <a:r>
              <a:rPr dirty="0" sz="2200" spc="7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that</a:t>
            </a:r>
            <a:r>
              <a:rPr dirty="0" sz="2200" spc="-20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is,</a:t>
            </a:r>
            <a:r>
              <a:rPr dirty="0" sz="2200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wake </a:t>
            </a:r>
            <a:r>
              <a:rPr dirty="0" sz="2200" spc="-59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up</a:t>
            </a:r>
            <a:r>
              <a:rPr dirty="0" sz="2200" spc="5">
                <a:latin typeface="Arial MT"/>
                <a:cs typeface="Arial MT"/>
              </a:rPr>
              <a:t> the</a:t>
            </a:r>
            <a:r>
              <a:rPr dirty="0" sz="2200" spc="-2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phone</a:t>
            </a:r>
            <a:r>
              <a:rPr dirty="0" sz="2200" spc="-20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if</a:t>
            </a:r>
            <a:r>
              <a:rPr dirty="0" sz="2200" spc="20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necessary, </a:t>
            </a:r>
            <a:r>
              <a:rPr dirty="0" sz="2200">
                <a:latin typeface="Arial MT"/>
                <a:cs typeface="Arial MT"/>
              </a:rPr>
              <a:t>or do</a:t>
            </a:r>
            <a:r>
              <a:rPr dirty="0" sz="2200" spc="5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not</a:t>
            </a:r>
            <a:r>
              <a:rPr dirty="0" sz="2200" spc="-5">
                <a:latin typeface="Arial MT"/>
                <a:cs typeface="Arial MT"/>
              </a:rPr>
              <a:t> execute</a:t>
            </a:r>
            <a:r>
              <a:rPr dirty="0" sz="2200" spc="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if</a:t>
            </a:r>
            <a:r>
              <a:rPr dirty="0" sz="2200" spc="-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it</a:t>
            </a:r>
            <a:r>
              <a:rPr dirty="0" sz="2200" spc="25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is</a:t>
            </a:r>
            <a:r>
              <a:rPr dirty="0" sz="2200" spc="-15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in </a:t>
            </a:r>
            <a:r>
              <a:rPr dirty="0" sz="2200">
                <a:latin typeface="Arial MT"/>
                <a:cs typeface="Arial MT"/>
              </a:rPr>
              <a:t> </a:t>
            </a:r>
            <a:r>
              <a:rPr dirty="0" sz="2200" spc="-5">
                <a:latin typeface="Arial MT"/>
                <a:cs typeface="Arial MT"/>
              </a:rPr>
              <a:t>standby.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482850">
              <a:lnSpc>
                <a:spcPct val="100000"/>
              </a:lnSpc>
              <a:spcBef>
                <a:spcPts val="105"/>
              </a:spcBef>
            </a:pPr>
            <a:r>
              <a:rPr dirty="0" spc="-5"/>
              <a:t>A</a:t>
            </a:r>
            <a:r>
              <a:rPr dirty="0" spc="5"/>
              <a:t>L</a:t>
            </a:r>
            <a:r>
              <a:rPr dirty="0" spc="-5"/>
              <a:t>AR</a:t>
            </a:r>
            <a:r>
              <a:rPr dirty="0" spc="5"/>
              <a:t>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302"/>
            <a:ext cx="7623809" cy="36830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90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000" spc="-10">
                <a:latin typeface="Arial MT"/>
                <a:cs typeface="Arial MT"/>
              </a:rPr>
              <a:t>Alarm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5">
                <a:latin typeface="Arial MT"/>
                <a:cs typeface="Arial MT"/>
              </a:rPr>
              <a:t>types:</a:t>
            </a:r>
            <a:endParaRPr sz="20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spcBef>
                <a:spcPts val="10"/>
              </a:spcBef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1800" spc="-5">
                <a:latin typeface="Arial MT"/>
                <a:cs typeface="Arial MT"/>
              </a:rPr>
              <a:t>AlarmManager.RTC</a:t>
            </a:r>
            <a:endParaRPr sz="18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1800">
                <a:latin typeface="Arial MT"/>
                <a:cs typeface="Arial MT"/>
              </a:rPr>
              <a:t>AlarmManager.RTC_WAKEUP</a:t>
            </a:r>
            <a:endParaRPr sz="18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1800" spc="-5">
                <a:latin typeface="Arial MT"/>
                <a:cs typeface="Arial MT"/>
              </a:rPr>
              <a:t>AlarmManager.ELAPSED_REALTIME</a:t>
            </a:r>
            <a:endParaRPr sz="1800">
              <a:latin typeface="Arial MT"/>
              <a:cs typeface="Arial MT"/>
            </a:endParaRPr>
          </a:p>
          <a:p>
            <a:pPr lvl="1" marL="756285" indent="-287020">
              <a:lnSpc>
                <a:spcPct val="100000"/>
              </a:lnSpc>
              <a:buClr>
                <a:srgbClr val="2D7CAD"/>
              </a:buClr>
              <a:buFont typeface="Wingdings"/>
              <a:buChar char=""/>
              <a:tabLst>
                <a:tab pos="756285" algn="l"/>
                <a:tab pos="756920" algn="l"/>
              </a:tabLst>
            </a:pPr>
            <a:r>
              <a:rPr dirty="0" sz="1800">
                <a:latin typeface="Arial MT"/>
                <a:cs typeface="Arial MT"/>
              </a:rPr>
              <a:t>AlarmManager.ELAPSED_REALTIME_WAKEUP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2D7CAD"/>
              </a:buClr>
              <a:buFont typeface="Wingdings"/>
              <a:buChar char=""/>
            </a:pPr>
            <a:endParaRPr sz="2050">
              <a:latin typeface="Arial MT"/>
              <a:cs typeface="Arial MT"/>
            </a:endParaRPr>
          </a:p>
          <a:p>
            <a:pPr marL="356870" indent="-344805">
              <a:lnSpc>
                <a:spcPct val="100000"/>
              </a:lnSpc>
              <a:spcBef>
                <a:spcPts val="5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000" spc="-5">
                <a:latin typeface="Arial MT"/>
                <a:cs typeface="Arial MT"/>
              </a:rPr>
              <a:t>Examples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scheduling</a:t>
            </a:r>
            <a:r>
              <a:rPr dirty="0" sz="2000" spc="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alarms: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dirty="0" sz="1800" spc="-5">
                <a:latin typeface="Arial MT"/>
                <a:cs typeface="Arial MT"/>
              </a:rPr>
              <a:t>alarmMgr.set(RTC,</a:t>
            </a:r>
            <a:r>
              <a:rPr dirty="0" sz="1800" spc="3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System.</a:t>
            </a:r>
            <a:r>
              <a:rPr dirty="0" sz="1800" spc="-5" i="1">
                <a:latin typeface="Arial"/>
                <a:cs typeface="Arial"/>
              </a:rPr>
              <a:t>currentTimeMillis</a:t>
            </a:r>
            <a:r>
              <a:rPr dirty="0" sz="1800" spc="-5">
                <a:latin typeface="Arial MT"/>
                <a:cs typeface="Arial MT"/>
              </a:rPr>
              <a:t>()+10000,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pendingIntent);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 MT"/>
              <a:cs typeface="Arial MT"/>
            </a:endParaRPr>
          </a:p>
          <a:p>
            <a:pPr marL="469900" marR="226695">
              <a:lnSpc>
                <a:spcPct val="100000"/>
              </a:lnSpc>
            </a:pPr>
            <a:r>
              <a:rPr dirty="0" sz="1800" spc="-5">
                <a:latin typeface="Arial MT"/>
                <a:cs typeface="Arial MT"/>
              </a:rPr>
              <a:t>alarmMgr.setInexactRepeating(ELAPSED_REALTIME, </a:t>
            </a:r>
            <a:r>
              <a:rPr dirty="0" sz="180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SystemClock.</a:t>
            </a:r>
            <a:r>
              <a:rPr dirty="0" sz="1800" spc="-5" i="1">
                <a:latin typeface="Arial"/>
                <a:cs typeface="Arial"/>
              </a:rPr>
              <a:t>elapsedRealtime</a:t>
            </a:r>
            <a:r>
              <a:rPr dirty="0" sz="1800" spc="-5">
                <a:latin typeface="Arial MT"/>
                <a:cs typeface="Arial MT"/>
              </a:rPr>
              <a:t>() </a:t>
            </a:r>
            <a:r>
              <a:rPr dirty="0" sz="1800">
                <a:latin typeface="Arial MT"/>
                <a:cs typeface="Arial MT"/>
              </a:rPr>
              <a:t>+ </a:t>
            </a:r>
            <a:r>
              <a:rPr dirty="0" sz="1800" spc="-5">
                <a:latin typeface="Arial MT"/>
                <a:cs typeface="Arial MT"/>
              </a:rPr>
              <a:t>INTERVAL_FIFTEEN_MINUTES, </a:t>
            </a:r>
            <a:r>
              <a:rPr dirty="0" sz="1800" spc="-490">
                <a:latin typeface="Arial MT"/>
                <a:cs typeface="Arial MT"/>
              </a:rPr>
              <a:t> </a:t>
            </a:r>
            <a:r>
              <a:rPr dirty="0" sz="1800" spc="-5">
                <a:latin typeface="Arial MT"/>
                <a:cs typeface="Arial MT"/>
              </a:rPr>
              <a:t>INTERVAL_FIFTEEN_MINUTES,</a:t>
            </a:r>
            <a:r>
              <a:rPr dirty="0" sz="1800" spc="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pendingIntent);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4750" y="265715"/>
            <a:ext cx="3667760" cy="6362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PENDING</a:t>
            </a:r>
            <a:r>
              <a:rPr dirty="0" spc="-90"/>
              <a:t> </a:t>
            </a:r>
            <a:r>
              <a:rPr dirty="0"/>
              <a:t>INTENT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052" y="1064069"/>
            <a:ext cx="7933690" cy="496570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356870" marR="460375" indent="-344805">
              <a:lnSpc>
                <a:spcPts val="2590"/>
              </a:lnSpc>
              <a:spcBef>
                <a:spcPts val="740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700" spc="5">
                <a:latin typeface="Arial MT"/>
                <a:cs typeface="Arial MT"/>
              </a:rPr>
              <a:t>a</a:t>
            </a:r>
            <a:r>
              <a:rPr dirty="0" sz="2700" spc="-1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PendingIntent</a:t>
            </a:r>
            <a:r>
              <a:rPr dirty="0" sz="2700" spc="-6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is</a:t>
            </a:r>
            <a:r>
              <a:rPr dirty="0" sz="2700" spc="-20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a</a:t>
            </a:r>
            <a:r>
              <a:rPr dirty="0" sz="2700" spc="-1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wrapper</a:t>
            </a:r>
            <a:r>
              <a:rPr dirty="0" sz="2700" spc="-45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of</a:t>
            </a:r>
            <a:r>
              <a:rPr dirty="0" sz="2700" spc="-20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an</a:t>
            </a:r>
            <a:r>
              <a:rPr dirty="0" sz="2700" spc="-20">
                <a:latin typeface="Arial MT"/>
                <a:cs typeface="Arial MT"/>
              </a:rPr>
              <a:t> </a:t>
            </a:r>
            <a:r>
              <a:rPr dirty="0" sz="2700" b="1">
                <a:latin typeface="Arial"/>
                <a:cs typeface="Arial"/>
              </a:rPr>
              <a:t>Intent</a:t>
            </a:r>
            <a:r>
              <a:rPr dirty="0" sz="2700" spc="-55" b="1">
                <a:latin typeface="Arial"/>
                <a:cs typeface="Arial"/>
              </a:rPr>
              <a:t> </a:t>
            </a:r>
            <a:r>
              <a:rPr dirty="0" sz="2700">
                <a:latin typeface="Arial MT"/>
                <a:cs typeface="Arial MT"/>
              </a:rPr>
              <a:t>to</a:t>
            </a:r>
            <a:r>
              <a:rPr dirty="0" sz="2700" spc="-5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be </a:t>
            </a:r>
            <a:r>
              <a:rPr dirty="0" sz="2700" spc="-735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issued</a:t>
            </a:r>
            <a:r>
              <a:rPr dirty="0" sz="2700" spc="-8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in</a:t>
            </a:r>
            <a:r>
              <a:rPr dirty="0" sz="2700" spc="-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the</a:t>
            </a:r>
            <a:r>
              <a:rPr dirty="0" sz="2700" spc="-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future.</a:t>
            </a:r>
            <a:endParaRPr sz="2700">
              <a:latin typeface="Arial MT"/>
              <a:cs typeface="Arial MT"/>
            </a:endParaRPr>
          </a:p>
          <a:p>
            <a:pPr marL="356235" marR="519430" indent="-344170">
              <a:lnSpc>
                <a:spcPts val="2590"/>
              </a:lnSpc>
              <a:spcBef>
                <a:spcPts val="650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700" spc="5">
                <a:latin typeface="Arial MT"/>
                <a:cs typeface="Arial MT"/>
              </a:rPr>
              <a:t>Instances</a:t>
            </a:r>
            <a:r>
              <a:rPr dirty="0" sz="2700" spc="-25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of</a:t>
            </a:r>
            <a:r>
              <a:rPr dirty="0" sz="2700" spc="-6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this</a:t>
            </a:r>
            <a:r>
              <a:rPr dirty="0" sz="2700" spc="-20">
                <a:latin typeface="Arial MT"/>
                <a:cs typeface="Arial MT"/>
              </a:rPr>
              <a:t> </a:t>
            </a:r>
            <a:r>
              <a:rPr dirty="0" sz="2700" spc="-5">
                <a:latin typeface="Arial MT"/>
                <a:cs typeface="Arial MT"/>
              </a:rPr>
              <a:t>Java </a:t>
            </a:r>
            <a:r>
              <a:rPr dirty="0" sz="2700" spc="5">
                <a:latin typeface="Arial MT"/>
                <a:cs typeface="Arial MT"/>
              </a:rPr>
              <a:t>class</a:t>
            </a:r>
            <a:r>
              <a:rPr dirty="0" sz="2700" spc="-70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are</a:t>
            </a:r>
            <a:r>
              <a:rPr dirty="0" sz="2700" spc="-3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obtained</a:t>
            </a:r>
            <a:r>
              <a:rPr dirty="0" sz="2700" spc="-7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from: </a:t>
            </a:r>
            <a:r>
              <a:rPr dirty="0" sz="2700" spc="-735">
                <a:latin typeface="Arial MT"/>
                <a:cs typeface="Arial MT"/>
              </a:rPr>
              <a:t> </a:t>
            </a:r>
            <a:r>
              <a:rPr dirty="0" sz="2700" spc="-10" b="1">
                <a:latin typeface="Arial"/>
                <a:cs typeface="Arial"/>
              </a:rPr>
              <a:t>getActivity</a:t>
            </a:r>
            <a:r>
              <a:rPr dirty="0" sz="2700" spc="-10">
                <a:latin typeface="Arial MT"/>
                <a:cs typeface="Arial MT"/>
              </a:rPr>
              <a:t>(Context,</a:t>
            </a:r>
            <a:r>
              <a:rPr dirty="0" sz="2700" spc="7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int,</a:t>
            </a:r>
            <a:r>
              <a:rPr dirty="0" sz="2700" spc="-2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Intent,</a:t>
            </a:r>
            <a:r>
              <a:rPr dirty="0" sz="2700" spc="-2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int), </a:t>
            </a:r>
            <a:r>
              <a:rPr dirty="0" sz="2700" spc="5">
                <a:latin typeface="Arial MT"/>
                <a:cs typeface="Arial MT"/>
              </a:rPr>
              <a:t> </a:t>
            </a:r>
            <a:r>
              <a:rPr dirty="0" sz="2700" spc="-5" b="1">
                <a:latin typeface="Arial"/>
                <a:cs typeface="Arial"/>
              </a:rPr>
              <a:t>getBroadcast</a:t>
            </a:r>
            <a:r>
              <a:rPr dirty="0" sz="2700" spc="-5">
                <a:latin typeface="Arial MT"/>
                <a:cs typeface="Arial MT"/>
              </a:rPr>
              <a:t>(Context, </a:t>
            </a:r>
            <a:r>
              <a:rPr dirty="0" sz="2700">
                <a:latin typeface="Arial MT"/>
                <a:cs typeface="Arial MT"/>
              </a:rPr>
              <a:t>int, Intent, int), </a:t>
            </a:r>
            <a:r>
              <a:rPr dirty="0" sz="2700" spc="5">
                <a:latin typeface="Arial MT"/>
                <a:cs typeface="Arial MT"/>
              </a:rPr>
              <a:t>and </a:t>
            </a:r>
            <a:r>
              <a:rPr dirty="0" sz="2700" spc="10">
                <a:latin typeface="Arial MT"/>
                <a:cs typeface="Arial MT"/>
              </a:rPr>
              <a:t> </a:t>
            </a:r>
            <a:r>
              <a:rPr dirty="0" sz="2700" spc="-5" b="1">
                <a:latin typeface="Arial"/>
                <a:cs typeface="Arial"/>
              </a:rPr>
              <a:t>getService</a:t>
            </a:r>
            <a:r>
              <a:rPr dirty="0" sz="2700" spc="-5">
                <a:latin typeface="Arial MT"/>
                <a:cs typeface="Arial MT"/>
              </a:rPr>
              <a:t>(Context,</a:t>
            </a:r>
            <a:r>
              <a:rPr dirty="0" sz="2700" spc="-4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int,</a:t>
            </a:r>
            <a:r>
              <a:rPr dirty="0" sz="2700" spc="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Intent,</a:t>
            </a:r>
            <a:r>
              <a:rPr dirty="0" sz="2700" spc="-4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int);</a:t>
            </a:r>
            <a:endParaRPr sz="2700">
              <a:latin typeface="Arial MT"/>
              <a:cs typeface="Arial MT"/>
            </a:endParaRPr>
          </a:p>
          <a:p>
            <a:pPr marL="356870" marR="5080" indent="-344805">
              <a:lnSpc>
                <a:spcPts val="2590"/>
              </a:lnSpc>
              <a:spcBef>
                <a:spcPts val="655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700">
                <a:latin typeface="Arial MT"/>
                <a:cs typeface="Arial MT"/>
              </a:rPr>
              <a:t>the</a:t>
            </a:r>
            <a:r>
              <a:rPr dirty="0" sz="2700" spc="-10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returned</a:t>
            </a:r>
            <a:r>
              <a:rPr dirty="0" sz="2700" spc="-25">
                <a:latin typeface="Arial MT"/>
                <a:cs typeface="Arial MT"/>
              </a:rPr>
              <a:t> </a:t>
            </a:r>
            <a:r>
              <a:rPr dirty="0" sz="2700" spc="-5">
                <a:latin typeface="Arial MT"/>
                <a:cs typeface="Arial MT"/>
              </a:rPr>
              <a:t>PendingIntent</a:t>
            </a:r>
            <a:r>
              <a:rPr dirty="0" sz="2700" spc="-60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can</a:t>
            </a:r>
            <a:r>
              <a:rPr dirty="0" sz="2700" spc="-55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be</a:t>
            </a:r>
            <a:r>
              <a:rPr dirty="0" sz="2700" spc="-35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handed</a:t>
            </a:r>
            <a:r>
              <a:rPr dirty="0" sz="2700" spc="-55">
                <a:latin typeface="Arial MT"/>
                <a:cs typeface="Arial MT"/>
              </a:rPr>
              <a:t> </a:t>
            </a:r>
            <a:r>
              <a:rPr dirty="0" sz="2700" spc="-5">
                <a:latin typeface="Arial MT"/>
                <a:cs typeface="Arial MT"/>
              </a:rPr>
              <a:t>over </a:t>
            </a:r>
            <a:r>
              <a:rPr dirty="0" sz="2700">
                <a:latin typeface="Arial MT"/>
                <a:cs typeface="Arial MT"/>
              </a:rPr>
              <a:t>to </a:t>
            </a:r>
            <a:r>
              <a:rPr dirty="0" sz="2700" spc="-73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other applications </a:t>
            </a:r>
            <a:r>
              <a:rPr dirty="0" sz="2700" spc="10">
                <a:latin typeface="Arial MT"/>
                <a:cs typeface="Arial MT"/>
              </a:rPr>
              <a:t>so </a:t>
            </a:r>
            <a:r>
              <a:rPr dirty="0" sz="2700">
                <a:latin typeface="Arial MT"/>
                <a:cs typeface="Arial MT"/>
              </a:rPr>
              <a:t>that they </a:t>
            </a:r>
            <a:r>
              <a:rPr dirty="0" sz="2700" spc="5">
                <a:latin typeface="Arial MT"/>
                <a:cs typeface="Arial MT"/>
              </a:rPr>
              <a:t>can perform </a:t>
            </a:r>
            <a:r>
              <a:rPr dirty="0" sz="2700">
                <a:latin typeface="Arial MT"/>
                <a:cs typeface="Arial MT"/>
              </a:rPr>
              <a:t>the </a:t>
            </a:r>
            <a:r>
              <a:rPr dirty="0" sz="2700" spc="5">
                <a:latin typeface="Arial MT"/>
                <a:cs typeface="Arial MT"/>
              </a:rPr>
              <a:t> embedded</a:t>
            </a:r>
            <a:r>
              <a:rPr dirty="0" sz="2700" spc="-35">
                <a:latin typeface="Arial MT"/>
                <a:cs typeface="Arial MT"/>
              </a:rPr>
              <a:t> </a:t>
            </a:r>
            <a:r>
              <a:rPr dirty="0" sz="2700" spc="-5">
                <a:latin typeface="Arial MT"/>
                <a:cs typeface="Arial MT"/>
              </a:rPr>
              <a:t>intent</a:t>
            </a:r>
            <a:r>
              <a:rPr dirty="0" sz="2700" spc="-55">
                <a:latin typeface="Arial MT"/>
                <a:cs typeface="Arial MT"/>
              </a:rPr>
              <a:t> </a:t>
            </a:r>
            <a:r>
              <a:rPr dirty="0" sz="2700" spc="5" b="1">
                <a:latin typeface="Arial"/>
                <a:cs typeface="Arial"/>
              </a:rPr>
              <a:t>on</a:t>
            </a:r>
            <a:r>
              <a:rPr dirty="0" sz="2700" spc="-15" b="1">
                <a:latin typeface="Arial"/>
                <a:cs typeface="Arial"/>
              </a:rPr>
              <a:t> </a:t>
            </a:r>
            <a:r>
              <a:rPr dirty="0" sz="2700" spc="-5" b="1">
                <a:latin typeface="Arial"/>
                <a:cs typeface="Arial"/>
              </a:rPr>
              <a:t>your</a:t>
            </a:r>
            <a:r>
              <a:rPr dirty="0" sz="2700" spc="15" b="1">
                <a:latin typeface="Arial"/>
                <a:cs typeface="Arial"/>
              </a:rPr>
              <a:t> </a:t>
            </a:r>
            <a:r>
              <a:rPr dirty="0" sz="2700" b="1">
                <a:latin typeface="Arial"/>
                <a:cs typeface="Arial"/>
              </a:rPr>
              <a:t>behalf</a:t>
            </a:r>
            <a:r>
              <a:rPr dirty="0" sz="2700" spc="-50" b="1">
                <a:latin typeface="Arial"/>
                <a:cs typeface="Arial"/>
              </a:rPr>
              <a:t> </a:t>
            </a:r>
            <a:r>
              <a:rPr dirty="0" sz="2700" spc="5">
                <a:latin typeface="Arial MT"/>
                <a:cs typeface="Arial MT"/>
              </a:rPr>
              <a:t>at</a:t>
            </a:r>
            <a:r>
              <a:rPr dirty="0" sz="2700" spc="-25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a</a:t>
            </a:r>
            <a:r>
              <a:rPr dirty="0" sz="2700" spc="-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later</a:t>
            </a:r>
            <a:r>
              <a:rPr dirty="0" sz="2700" spc="-2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time.</a:t>
            </a:r>
            <a:endParaRPr sz="2700">
              <a:latin typeface="Arial MT"/>
              <a:cs typeface="Arial MT"/>
            </a:endParaRPr>
          </a:p>
          <a:p>
            <a:pPr marL="356870" marR="207645" indent="-344805">
              <a:lnSpc>
                <a:spcPts val="2590"/>
              </a:lnSpc>
              <a:spcBef>
                <a:spcPts val="655"/>
              </a:spcBef>
              <a:buClr>
                <a:srgbClr val="2D7CAD"/>
              </a:buClr>
              <a:buFont typeface="Wingdings"/>
              <a:buChar char=""/>
              <a:tabLst>
                <a:tab pos="357505" algn="l"/>
              </a:tabLst>
            </a:pPr>
            <a:r>
              <a:rPr dirty="0" sz="2700">
                <a:latin typeface="Arial MT"/>
                <a:cs typeface="Arial MT"/>
              </a:rPr>
              <a:t>By</a:t>
            </a:r>
            <a:r>
              <a:rPr dirty="0" sz="2700" spc="5">
                <a:latin typeface="Arial MT"/>
                <a:cs typeface="Arial MT"/>
              </a:rPr>
              <a:t> </a:t>
            </a:r>
            <a:r>
              <a:rPr dirty="0" sz="2700" spc="-5">
                <a:latin typeface="Arial MT"/>
                <a:cs typeface="Arial MT"/>
              </a:rPr>
              <a:t>giving </a:t>
            </a:r>
            <a:r>
              <a:rPr dirty="0" sz="2700" spc="5">
                <a:latin typeface="Arial MT"/>
                <a:cs typeface="Arial MT"/>
              </a:rPr>
              <a:t>a</a:t>
            </a:r>
            <a:r>
              <a:rPr dirty="0" sz="2700" spc="-2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PendingIntent</a:t>
            </a:r>
            <a:r>
              <a:rPr dirty="0" sz="2700" spc="-8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to</a:t>
            </a:r>
            <a:r>
              <a:rPr dirty="0" sz="2700" spc="-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another</a:t>
            </a:r>
            <a:r>
              <a:rPr dirty="0" sz="2700" spc="-4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application, </a:t>
            </a:r>
            <a:r>
              <a:rPr dirty="0" sz="2700" spc="-735">
                <a:latin typeface="Arial MT"/>
                <a:cs typeface="Arial MT"/>
              </a:rPr>
              <a:t> </a:t>
            </a:r>
            <a:r>
              <a:rPr dirty="0" sz="2700" spc="-10">
                <a:latin typeface="Arial MT"/>
                <a:cs typeface="Arial MT"/>
              </a:rPr>
              <a:t>you </a:t>
            </a:r>
            <a:r>
              <a:rPr dirty="0" sz="2700" spc="5">
                <a:latin typeface="Arial MT"/>
                <a:cs typeface="Arial MT"/>
              </a:rPr>
              <a:t>are </a:t>
            </a:r>
            <a:r>
              <a:rPr dirty="0" sz="2700" spc="5" b="1">
                <a:latin typeface="Arial"/>
                <a:cs typeface="Arial"/>
              </a:rPr>
              <a:t>granting </a:t>
            </a:r>
            <a:r>
              <a:rPr dirty="0" sz="2700">
                <a:latin typeface="Arial MT"/>
                <a:cs typeface="Arial MT"/>
              </a:rPr>
              <a:t>it the right to </a:t>
            </a:r>
            <a:r>
              <a:rPr dirty="0" sz="2700" spc="5">
                <a:latin typeface="Arial MT"/>
                <a:cs typeface="Arial MT"/>
              </a:rPr>
              <a:t>perform </a:t>
            </a:r>
            <a:r>
              <a:rPr dirty="0" sz="2700">
                <a:latin typeface="Arial MT"/>
                <a:cs typeface="Arial MT"/>
              </a:rPr>
              <a:t>the </a:t>
            </a:r>
            <a:r>
              <a:rPr dirty="0" sz="2700" spc="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operation </a:t>
            </a:r>
            <a:r>
              <a:rPr dirty="0" sz="2700" spc="-10">
                <a:latin typeface="Arial MT"/>
                <a:cs typeface="Arial MT"/>
              </a:rPr>
              <a:t>you </a:t>
            </a:r>
            <a:r>
              <a:rPr dirty="0" sz="2700" spc="-5">
                <a:latin typeface="Arial MT"/>
                <a:cs typeface="Arial MT"/>
              </a:rPr>
              <a:t>have </a:t>
            </a:r>
            <a:r>
              <a:rPr dirty="0" sz="2700" spc="5">
                <a:latin typeface="Arial MT"/>
                <a:cs typeface="Arial MT"/>
              </a:rPr>
              <a:t>specified as </a:t>
            </a:r>
            <a:r>
              <a:rPr dirty="0" sz="2700">
                <a:latin typeface="Arial MT"/>
                <a:cs typeface="Arial MT"/>
              </a:rPr>
              <a:t>if the other </a:t>
            </a:r>
            <a:r>
              <a:rPr dirty="0" sz="2700" spc="5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application was yourself </a:t>
            </a:r>
            <a:r>
              <a:rPr dirty="0" sz="2700" spc="-5">
                <a:latin typeface="Arial MT"/>
                <a:cs typeface="Arial MT"/>
              </a:rPr>
              <a:t>(with </a:t>
            </a:r>
            <a:r>
              <a:rPr dirty="0" sz="2700">
                <a:latin typeface="Arial MT"/>
                <a:cs typeface="Arial MT"/>
              </a:rPr>
              <a:t>the </a:t>
            </a:r>
            <a:r>
              <a:rPr dirty="0" sz="2700" spc="5">
                <a:latin typeface="Arial MT"/>
                <a:cs typeface="Arial MT"/>
              </a:rPr>
              <a:t>same </a:t>
            </a:r>
            <a:r>
              <a:rPr dirty="0" sz="2700" spc="1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permissions</a:t>
            </a:r>
            <a:r>
              <a:rPr dirty="0" sz="2700" spc="-95">
                <a:latin typeface="Arial MT"/>
                <a:cs typeface="Arial MT"/>
              </a:rPr>
              <a:t> </a:t>
            </a:r>
            <a:r>
              <a:rPr dirty="0" sz="2700" spc="5">
                <a:latin typeface="Arial MT"/>
                <a:cs typeface="Arial MT"/>
              </a:rPr>
              <a:t>and</a:t>
            </a:r>
            <a:r>
              <a:rPr dirty="0" sz="2700" spc="-30">
                <a:latin typeface="Arial MT"/>
                <a:cs typeface="Arial MT"/>
              </a:rPr>
              <a:t> </a:t>
            </a:r>
            <a:r>
              <a:rPr dirty="0" sz="2700">
                <a:latin typeface="Arial MT"/>
                <a:cs typeface="Arial MT"/>
              </a:rPr>
              <a:t>identity).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Jesús Alonso</dc:creator>
  <dc:title>PROGRAMA DE POSTGRAU DE DISSENY I CREACIÓ DE VIDEOJOCS</dc:title>
  <dcterms:created xsi:type="dcterms:W3CDTF">2023-11-28T14:43:03Z</dcterms:created>
  <dcterms:modified xsi:type="dcterms:W3CDTF">2023-11-28T14:43:03Z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2018-03-19T00:00:00Z</vt:filetime>
  </property>
  <property fmtid="{D5CDD505-2E9C-101B-9397-08002B2CF9AE}" pid="3" name="Creator">
    <vt:lpwstr>Acrobat PDFMaker 11 para PowerPoint</vt:lpwstr>
  </property>
  <property fmtid="{D5CDD505-2E9C-101B-9397-08002B2CF9AE}" pid="4" name="LastSaved">
    <vt:filetime>2023-11-28T00:00:00Z</vt:filetime>
  </property>
</Properties>
</file>