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4:48:14.5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54 0 4008 0 0,'7'4'1'0'0,"9"1"4"0"0,23 11 15 0 0,-38-16-19 0 0,0 1 0 0 0,-1-1-1 0 0,1 1 1 0 0,0-1 0 0 0,0 1-1 0 0,0-1 1 0 0,0 1 0 0 0,-1-1-1 0 0,1 1 1 0 0,0 0 0 0 0,-1 0-1 0 0,1-1 1 0 0,0 1 0 0 0,-1 0-1 0 0,1 0 1 0 0,-1 0-1 0 0,1-1 1 0 0,-1 1 0 0 0,0 0-1 0 0,1 0 1 0 0,-1 0 0 0 0,0 0-1 0 0,0 0 1 0 0,0 0 0 0 0,1 0-1 0 0,-1 0 1 0 0,0 0 0 0 0,0 0-1 0 0,0 0 1 0 0,-1 1 0 0 0,-21 55 45 0 0,16-43-11 0 0,1 0 0 0 0,-1 0 0 0 0,2 1 0 0 0,-5 23 0 0 0,5 5 56 0 0,0 81-1 0 0,12 147 128 0 0,-1-30-30 0 0,7 44-52 0 0,-8-83-70 0 0,-4-68-34 0 0,4 202 72 0 0,-12-42 32 0 0,5-205-99 0 0,4 56 53 0 0,-1-104-27 0 0,-6 64 1 0 0,0-37-29 0 0,-3 104 53 0 0,-2 269 164 0 0,11 97-28 0 0,-10 411 100 0 0,-3-460-128 0 0,11-351-151 0 0,4 382 182 0 0,26-1-37 0 0,-13-317-96 0 0,12 110 45 0 0,27 320 44 0 0,-44-457-125 0 0,1 204 66 0 0,-8-195-66 0 0,-19 477 88 0 0,6-481-118 0 0,-52 432 139 0 0,48-532-138 0 0,-62 350 111 0 0,22-161 16 0 0,36-200-98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4:56:54.6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620 1 7736 0 0,'-6'3'9'0'0,"1"1"0"0"0,-1 0 0 0 0,1 0 0 0 0,-1 0 1 0 0,1 1-1 0 0,0 0 0 0 0,1 0 0 0 0,-1 0 0 0 0,-3 6 0 0 0,-27 28 84 0 0,-146 90 251 0 0,120-88-226 0 0,-111 98 1098 0 0,161-129-1166 0 0,-2 3 128 0 0,1 0 0 0 0,0 1 1 0 0,-14 22-1 0 0,21-25-83 0 0,0 0 0 0 0,1 0 0 0 0,0 1 0 0 0,0-1 0 0 0,1 1 0 0 0,1 0 0 0 0,0 0 0 0 0,1 0 0 0 0,0 21 0 0 0,-2 2-17 0 0,-1 15 11 0 0,1 0 1 0 0,3 0-1 0 0,2 0 0 0 0,2 0 1 0 0,2 0-1 0 0,3-1 0 0 0,17 60 1 0 0,7 16 55 0 0,25 183 0 0 0,-54-265-108 0 0,-3 68 0 0 0,-1-34-11 0 0,-3 141 31 0 0,2 43 16 0 0,-6 591 461 0 0,-19-550-276 0 0,13 1-25 0 0,12-175-144 0 0,0 17 27 0 0,18 157 0 0 0,-6-210-9 0 0,5-2 0 0 0,50 164 1 0 0,13 16 52 0 0,-42-141-98 0 0,22 138 71 0 0,-50-216-114 0 0,8 53 40 0 0,3 113-1 0 0,-13 108 7 0 0,-66 591 28 0 0,9-310-28 0 0,44-488-36 0 0,14 166 0 0 0,-3-232-19 0 0,3-1 0 0 0,2-1-1 0 0,2 1 1 0 0,2-2 0 0 0,34 81-1 0 0,130 208 79 0 0,-135-260-68 0 0,-8-18 0 0 0,-4 1 0 0 0,-2 2-1 0 0,-3 1 1 0 0,31 121 0 0 0,8 236 28 0 0,-45-260-33 0 0,-7-45-8 0 0,-7-52-4 0 0,2-1 0 0 0,23 81 0 0 0,-23-110-3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4:56:59.5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244 1 5720 0 0,'-9'1'4'0'0,"-5"3"15"0"0,9-2-12 0 0,1 0 1 0 0,-1 1-1 0 0,0-1 0 0 0,1 1 0 0 0,0 0 0 0 0,-6 6 0 0 0,-22 31 424 0 0,31-38-303 0 0,31 9 224 0 0,-27-8-338 0 0,-1 1 0 0 0,0-1 0 0 0,0 0 0 0 0,-1 0 0 0 0,1 1 0 0 0,-1-1 0 0 0,0 1 0 0 0,0 0-1 0 0,0-1 1 0 0,0 1 0 0 0,0 0 0 0 0,-1-1 0 0 0,0 1 0 0 0,0 0 0 0 0,0 0 0 0 0,-1 6 0 0 0,1 0 2 0 0,-2 1-1 0 0,1-1 0 0 0,-1 0 0 0 0,-1 0 1 0 0,-4 12-1 0 0,-79 199 187 0 0,69-168-155 0 0,2 1 1 0 0,-9 68-1 0 0,23-114-40 0 0,-14 98 161 0 0,-2 132 0 0 0,13-27 157 0 0,3 124 166 0 0,0-271-386 0 0,-1-46-41 0 0,3 37 0 0 0,3 3 71 0 0,-3-35-71 0 0,1 1 0 0 0,6 30 0 0 0,9 13 131 0 0,3 0 1 0 0,46 103-1 0 0,-47-125-92 0 0,-3 0 0 0 0,-1 1 0 0 0,10 59-1 0 0,13 144 245 0 0,-26-160-205 0 0,5 97 335 0 0,-8 212 0 0 0,-9-376-444 0 0,17 286 480 0 0,-3-128-266 0 0,1 139 21 0 0,-28 254 169 0 0,5-398-313 0 0,-28 221 118 0 0,1-23-28 0 0,8-58-13 0 0,-4 170 81 0 0,34-333-196 0 0,9 255 307 0 0,-11-271-220 0 0,-26 211 1 0 0,-2 43 96 0 0,30-191-89 0 0,-2-159-147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00:17.0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271 1 7632 0 0,'-16'32'32'0'0,"-4"17"98"0"0,12-29-62 0 0,0-1 0 0 0,-1 0 0 0 0,-18 28 0 0 0,13-24 1 0 0,10-17-22 0 0,1 0 1 0 0,-1 0-1 0 0,0 0 0 0 0,0-1 1 0 0,0 0-1 0 0,-1 0 0 0 0,1 0 1 0 0,-9 6-1 0 0,-20 18 204 0 0,29-25-217 0 0,0 1 1 0 0,-1-1 0 0 0,1-1-1 0 0,0 1 1 0 0,-1-1 0 0 0,-5 4-1 0 0,-19 20 601 0 0,27-25-603 0 0,0 0-1 0 0,-1 0 1 0 0,1 0 0 0 0,0 1-1 0 0,0-1 1 0 0,1 0 0 0 0,-1 1-1 0 0,0-1 1 0 0,1 1 0 0 0,0 0-1 0 0,0-1 1 0 0,-1 1 0 0 0,1 0-1 0 0,1 0 1 0 0,-2 3 0 0 0,4 9 72 0 0,1 0 1 0 0,0 0 0 0 0,1 0 0 0 0,9 22 0 0 0,-9-25-75 0 0,38 105 188 0 0,-24-73-154 0 0,-7-19 6 0 0,-1 0 1 0 0,12 52 0 0 0,28 113 194 0 0,-33-130-173 0 0,-10-28-23 0 0,5 53-1 0 0,-5-35 11 0 0,3 60 78 0 0,-3-60-36 0 0,0 98 0 0 0,-3-48 23 0 0,-7 79 62 0 0,-2-29-74 0 0,4-96-49 0 0,-2 0-1 0 0,-18 84 1 0 0,0 10 57 0 0,16-98-112 0 0,-12 175 204 0 0,25 329 287 0 0,-12-489-358 0 0,-20 115 1 0 0,14-119-5 0 0,-31 154 120 0 0,27-115-141 0 0,5 1-1 0 0,5 0 0 0 0,14 182 1 0 0,10-26 20 0 0,-22 46-59 0 0,-2-42 35 0 0,7-191-99 0 0,19 119 1 0 0,0-49-32 0 0,14 61 5 0 0,53 234 0 0 0,-63-291-10 0 0,-4-30-4 0 0,7 115 1 0 0,-24-112-2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00:18.1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121 0 5016 0 0,'16'3'14'0'0,"7"0"47"0"0,17 3 79 0 0,-37-6-34 0 0,-28 25 126 0 0,23-24-183 0 0,0 1-1 0 0,1-1 1 0 0,-1 1-1 0 0,0 0 0 0 0,1 0 1 0 0,-1 0-1 0 0,1-1 1 0 0,0 1-1 0 0,0 0 1 0 0,0 1-1 0 0,0-1 1 0 0,0 0-1 0 0,-1 4 1 0 0,-13 21 444 0 0,14-25-418 0 0,2 1-3 0 0,1 6-38 0 0,1 0 0 0 0,-2 0 0 0 0,1 1 0 0 0,-1-1 0 0 0,0 1 1 0 0,-1 0-1 0 0,0-1 0 0 0,-3 18 0 0 0,0 16 12 0 0,0-9-17 0 0,1-28-23 0 0,1-1 0 0 0,1 0 0 0 0,-1 1 0 0 0,1-1 0 0 0,0 0 0 0 0,0 1 0 0 0,2 8 0 0 0,0-8 0 0 0,-1 1 0 0 0,0-1 0 0 0,0 0 0 0 0,-1 1 0 0 0,1-1 0 0 0,-2 1 0 0 0,1-1-1 0 0,0 1 1 0 0,-4 10 0 0 0,3 32 16 0 0,1-11-12 0 0,0-32-8 0 0,0 0 0 0 0,1 0 1 0 0,0-1-1 0 0,0 1 0 0 0,0 0 0 0 0,1 0 0 0 0,-1-1 1 0 0,1 1-1 0 0,3 5 0 0 0,-2-4 0 0 0,0 0-1 0 0,-1 0 1 0 0,1 1 0 0 0,1 14 0 0 0,-3-12 2 0 0,1 1 0 0 0,1-1 0 0 0,6 19 0 0 0,-5-18 0 0 0,0 0 0 0 0,-1 0 0 0 0,2 17 0 0 0,6 35 13 0 0,-7-47-14 0 0,-1 0 0 0 0,0 1 0 0 0,-1-1 0 0 0,-1 18 0 0 0,-1-18 0 0 0,0 0 1 0 0,1 0 0 0 0,1 0-1 0 0,1 0 1 0 0,0 0-1 0 0,6 18 1 0 0,-6-24 0 0 0,-2 0-1 0 0,0 0 1 0 0,0 0-1 0 0,0 0 1 0 0,-2 0-1 0 0,-1 14 1 0 0,1 29 15 0 0,12 208 42 0 0,-12-243-50 0 0,0 0 0 0 0,-1 0-1 0 0,-6 21 1 0 0,4-23-1 0 0,1 0 0 0 0,1 0 0 0 0,0 28 0 0 0,2-41-9 0 0,1 11 5 0 0,0 0-1 0 0,-1-1 1 0 0,-1 1 0 0 0,0-1-1 0 0,-6 25 1 0 0,2-20-2 0 0,0-3 5 0 0,1 0-1 0 0,1 0 0 0 0,0 0 1 0 0,-1 26-1 0 0,4-25 0 0 0,1 2 6 0 0,-2 0-1 0 0,0 0 1 0 0,-5 27 0 0 0,-3-3 14 0 0,1 0-1 0 0,-1 56 1 0 0,7-82-17 0 0,-1 1 0 0 0,0 0 0 0 0,-1-1 0 0 0,-11 29 0 0 0,-8 31 47 0 0,-16 62 77 0 0,32-109-112 0 0,2-8 15 0 0,1 0-1 0 0,-3 34 1 0 0,-9 88 160 0 0,3-16-81 0 0,4-46 24 0 0,-6 52 112 0 0,9-100-210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1622" y="297005"/>
            <a:ext cx="5786627" cy="6922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0" y="285750"/>
            <a:ext cx="2143505" cy="6522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750" y="6400800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77372" y="266477"/>
            <a:ext cx="4989255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486419"/>
            <a:ext cx="8072119" cy="422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11540" y="6509703"/>
            <a:ext cx="2038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05" y="2811756"/>
            <a:ext cx="7143749" cy="15918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622" y="835152"/>
            <a:ext cx="3358121" cy="1022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302" y="881888"/>
            <a:ext cx="1838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C072C"/>
                </a:solidFill>
                <a:latin typeface="Arial MT"/>
                <a:cs typeface="Arial MT"/>
              </a:rPr>
              <a:t>Postgrado</a:t>
            </a:r>
            <a:r>
              <a:rPr sz="2400" spc="-75" dirty="0">
                <a:solidFill>
                  <a:srgbClr val="5C072C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5C07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2897"/>
            <a:ext cx="3888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Mobile</a:t>
            </a:r>
            <a:r>
              <a:rPr sz="3200" spc="-16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Apps</a:t>
            </a:r>
            <a:r>
              <a:rPr sz="3200" spc="-5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8714" y="3175190"/>
            <a:ext cx="43078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404040"/>
                </a:solidFill>
                <a:latin typeface="Calibri"/>
                <a:cs typeface="Calibri"/>
              </a:rPr>
              <a:t>FUNDAMENTALS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6833" y="5094414"/>
            <a:ext cx="34296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 MT"/>
                <a:cs typeface="Arial MT"/>
              </a:rPr>
              <a:t>Juan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Luis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1231" y="266477"/>
            <a:ext cx="20739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5" dirty="0"/>
              <a:t>ND</a:t>
            </a:r>
            <a:r>
              <a:rPr dirty="0"/>
              <a:t>R</a:t>
            </a:r>
            <a:r>
              <a:rPr spc="-5" dirty="0"/>
              <a:t>OID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95108"/>
            <a:ext cx="8033384" cy="425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Application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components:</a:t>
            </a:r>
            <a:endParaRPr sz="2800">
              <a:latin typeface="Arial"/>
              <a:cs typeface="Arial"/>
            </a:endParaRPr>
          </a:p>
          <a:p>
            <a:pPr marL="755650" marR="183515" lvl="1" indent="-286385">
              <a:lnSpc>
                <a:spcPct val="80000"/>
              </a:lnSpc>
              <a:spcBef>
                <a:spcPts val="58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b="1" spc="-5" dirty="0">
                <a:latin typeface="Arial"/>
                <a:cs typeface="Arial"/>
              </a:rPr>
              <a:t>Activity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activity </a:t>
            </a:r>
            <a:r>
              <a:rPr sz="2400" spc="-5" dirty="0">
                <a:latin typeface="Arial MT"/>
                <a:cs typeface="Arial MT"/>
              </a:rPr>
              <a:t>provides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user interface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usually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 of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single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screen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handles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triggered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 that interface.</a:t>
            </a:r>
            <a:endParaRPr sz="2400">
              <a:latin typeface="Arial MT"/>
              <a:cs typeface="Arial MT"/>
            </a:endParaRPr>
          </a:p>
          <a:p>
            <a:pPr marL="755015" marR="85090" lvl="1" indent="-285750">
              <a:lnSpc>
                <a:spcPct val="80000"/>
              </a:lnSpc>
              <a:spcBef>
                <a:spcPts val="57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  <a:tab pos="756285" algn="l"/>
              </a:tabLst>
            </a:pPr>
            <a:r>
              <a:rPr sz="2400" b="1" spc="-5" dirty="0">
                <a:latin typeface="Arial"/>
                <a:cs typeface="Arial"/>
              </a:rPr>
              <a:t>Service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service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component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runs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background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perform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long-term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operations,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periodic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operations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activities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involving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remote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connections.</a:t>
            </a:r>
            <a:endParaRPr sz="2400">
              <a:latin typeface="Arial MT"/>
              <a:cs typeface="Arial MT"/>
            </a:endParaRPr>
          </a:p>
          <a:p>
            <a:pPr marL="755015" marR="184150" lvl="1" indent="-285750">
              <a:lnSpc>
                <a:spcPts val="2300"/>
              </a:lnSpc>
              <a:spcBef>
                <a:spcPts val="56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b="1" spc="-5" dirty="0">
                <a:latin typeface="Arial"/>
                <a:cs typeface="Arial"/>
              </a:rPr>
              <a:t>Broadcast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receiver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inactive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until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reception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broadcast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message,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reacting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event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given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task.</a:t>
            </a:r>
            <a:endParaRPr sz="2400">
              <a:latin typeface="Arial MT"/>
              <a:cs typeface="Arial MT"/>
            </a:endParaRPr>
          </a:p>
          <a:p>
            <a:pPr marL="755015" marR="5080" lvl="1" indent="-285750">
              <a:lnSpc>
                <a:spcPct val="80000"/>
              </a:lnSpc>
              <a:spcBef>
                <a:spcPts val="60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b="1" spc="-5" dirty="0">
                <a:latin typeface="Arial"/>
                <a:cs typeface="Arial"/>
              </a:rPr>
              <a:t>Content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provider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content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provider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manages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application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make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available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 other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applications.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B1CDFA9-05CA-4B69-E84E-C3199B05183C}"/>
                  </a:ext>
                </a:extLst>
              </p14:cNvPr>
              <p14:cNvContentPartPr/>
              <p14:nvPr/>
            </p14:nvContentPartPr>
            <p14:xfrm>
              <a:off x="865017" y="1780703"/>
              <a:ext cx="85320" cy="37915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B1CDFA9-05CA-4B69-E84E-C3199B0518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1017" y="1672703"/>
                <a:ext cx="192960" cy="400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7723" y="266477"/>
            <a:ext cx="18211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pc="-5" dirty="0"/>
              <a:t>NTENTS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796" y="1580451"/>
            <a:ext cx="7774305" cy="3951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An </a:t>
            </a:r>
            <a:r>
              <a:rPr sz="2800" b="1" spc="-5" dirty="0">
                <a:latin typeface="Arial"/>
                <a:cs typeface="Arial"/>
              </a:rPr>
              <a:t>Intent </a:t>
            </a:r>
            <a:r>
              <a:rPr sz="2800" dirty="0">
                <a:latin typeface="Arial MT"/>
                <a:cs typeface="Arial MT"/>
              </a:rPr>
              <a:t>object is the communication unit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 components of the same or different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applications. </a:t>
            </a:r>
            <a:r>
              <a:rPr sz="2800" spc="-5" dirty="0">
                <a:latin typeface="Arial MT"/>
                <a:cs typeface="Arial MT"/>
              </a:rPr>
              <a:t>This </a:t>
            </a:r>
            <a:r>
              <a:rPr sz="2800" dirty="0">
                <a:latin typeface="Arial MT"/>
                <a:cs typeface="Arial MT"/>
              </a:rPr>
              <a:t>is a passive object keeping a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 structure </a:t>
            </a:r>
            <a:r>
              <a:rPr sz="2800" spc="-5" dirty="0">
                <a:latin typeface="Arial MT"/>
                <a:cs typeface="Arial MT"/>
              </a:rPr>
              <a:t>with </a:t>
            </a:r>
            <a:r>
              <a:rPr sz="2800" dirty="0">
                <a:latin typeface="Arial MT"/>
                <a:cs typeface="Arial MT"/>
              </a:rPr>
              <a:t>instructions about an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operation to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executed.</a:t>
            </a:r>
            <a:endParaRPr sz="2800">
              <a:latin typeface="Arial MT"/>
              <a:cs typeface="Arial MT"/>
            </a:endParaRPr>
          </a:p>
          <a:p>
            <a:pPr marL="355600" marR="9525" indent="-343535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In any case, the Android </a:t>
            </a:r>
            <a:r>
              <a:rPr sz="2800" spc="-5" dirty="0">
                <a:latin typeface="Arial MT"/>
                <a:cs typeface="Arial MT"/>
              </a:rPr>
              <a:t>OS </a:t>
            </a:r>
            <a:r>
              <a:rPr sz="2800" dirty="0">
                <a:latin typeface="Arial MT"/>
                <a:cs typeface="Arial MT"/>
              </a:rPr>
              <a:t>identifies the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activity,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service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broadcast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receivers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receive the intent, instantiating them if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necessary.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FAFEFEA-2D36-9372-E77F-434EF0CE1676}"/>
                  </a:ext>
                </a:extLst>
              </p14:cNvPr>
              <p14:cNvContentPartPr/>
              <p14:nvPr/>
            </p14:nvContentPartPr>
            <p14:xfrm>
              <a:off x="470817" y="1646783"/>
              <a:ext cx="349200" cy="36892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FAFEFEA-2D36-9372-E77F-434EF0CE16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77" y="1539143"/>
                <a:ext cx="456840" cy="390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7723" y="266477"/>
            <a:ext cx="18211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pc="-5" dirty="0"/>
              <a:t>NTENTS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6958"/>
            <a:ext cx="7971790" cy="35394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composed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of:</a:t>
            </a:r>
            <a:endParaRPr sz="2400">
              <a:latin typeface="Arial MT"/>
              <a:cs typeface="Arial MT"/>
            </a:endParaRPr>
          </a:p>
          <a:p>
            <a:pPr marL="755015" marR="664845" lvl="1" indent="-285750">
              <a:lnSpc>
                <a:spcPts val="2160"/>
              </a:lnSpc>
              <a:spcBef>
                <a:spcPts val="5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b="1" spc="-5" dirty="0">
                <a:latin typeface="Arial"/>
                <a:cs typeface="Arial"/>
              </a:rPr>
              <a:t>Component </a:t>
            </a:r>
            <a:r>
              <a:rPr sz="2000" b="1" spc="-10" dirty="0">
                <a:latin typeface="Arial"/>
                <a:cs typeface="Arial"/>
              </a:rPr>
              <a:t>name</a:t>
            </a:r>
            <a:r>
              <a:rPr sz="2000" spc="-10" dirty="0">
                <a:latin typeface="Arial MT"/>
                <a:cs typeface="Arial MT"/>
              </a:rPr>
              <a:t>: </a:t>
            </a:r>
            <a:r>
              <a:rPr sz="2000" spc="-5" dirty="0">
                <a:latin typeface="Arial MT"/>
                <a:cs typeface="Arial MT"/>
              </a:rPr>
              <a:t>naming the receiver component of the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intent.</a:t>
            </a:r>
            <a:endParaRPr sz="2000">
              <a:latin typeface="Arial MT"/>
              <a:cs typeface="Arial MT"/>
            </a:endParaRPr>
          </a:p>
          <a:p>
            <a:pPr marL="755015" lvl="1" indent="-286385">
              <a:lnSpc>
                <a:spcPct val="100000"/>
              </a:lnSpc>
              <a:spcBef>
                <a:spcPts val="204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b="1" spc="-5" dirty="0">
                <a:latin typeface="Arial"/>
                <a:cs typeface="Arial"/>
              </a:rPr>
              <a:t>Action</a:t>
            </a:r>
            <a:r>
              <a:rPr sz="2000" spc="-5" dirty="0">
                <a:latin typeface="Arial MT"/>
                <a:cs typeface="Arial MT"/>
              </a:rPr>
              <a:t>: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string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 characters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indicating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action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 executed.</a:t>
            </a:r>
            <a:endParaRPr sz="2000">
              <a:latin typeface="Arial MT"/>
              <a:cs typeface="Arial MT"/>
            </a:endParaRPr>
          </a:p>
          <a:p>
            <a:pPr marL="755015" lvl="1" indent="-286385">
              <a:lnSpc>
                <a:spcPts val="2280"/>
              </a:lnSpc>
              <a:spcBef>
                <a:spcPts val="24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b="1" spc="-5" dirty="0">
                <a:latin typeface="Arial"/>
                <a:cs typeface="Arial"/>
              </a:rPr>
              <a:t>Data</a:t>
            </a:r>
            <a:r>
              <a:rPr sz="2000" spc="-5" dirty="0">
                <a:latin typeface="Arial MT"/>
                <a:cs typeface="Arial MT"/>
              </a:rPr>
              <a:t>: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URI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address location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work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 the</a:t>
            </a:r>
            <a:endParaRPr sz="2000">
              <a:latin typeface="Arial MT"/>
              <a:cs typeface="Arial MT"/>
            </a:endParaRPr>
          </a:p>
          <a:p>
            <a:pPr marL="755015">
              <a:lnSpc>
                <a:spcPts val="2280"/>
              </a:lnSpc>
            </a:pPr>
            <a:r>
              <a:rPr sz="2000" b="1" spc="-5" dirty="0">
                <a:latin typeface="Arial"/>
                <a:cs typeface="Arial"/>
              </a:rPr>
              <a:t>type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(MIME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type)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 processed.</a:t>
            </a:r>
            <a:endParaRPr sz="2000">
              <a:latin typeface="Arial MT"/>
              <a:cs typeface="Arial MT"/>
            </a:endParaRPr>
          </a:p>
          <a:p>
            <a:pPr marL="755015" marR="267970" lvl="1" indent="-285750">
              <a:lnSpc>
                <a:spcPts val="2160"/>
              </a:lnSpc>
              <a:spcBef>
                <a:spcPts val="509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b="1" spc="-5" dirty="0">
                <a:latin typeface="Arial"/>
                <a:cs typeface="Arial"/>
              </a:rPr>
              <a:t>Category</a:t>
            </a:r>
            <a:r>
              <a:rPr sz="2000" spc="-5" dirty="0">
                <a:latin typeface="Arial MT"/>
                <a:cs typeface="Arial MT"/>
              </a:rPr>
              <a:t>: complementary to the action, string of characters 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indicating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type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component which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will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process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intent.</a:t>
            </a:r>
            <a:endParaRPr sz="2000">
              <a:latin typeface="Arial MT"/>
              <a:cs typeface="Arial MT"/>
            </a:endParaRPr>
          </a:p>
          <a:p>
            <a:pPr marL="755015" lvl="1" indent="-286385">
              <a:lnSpc>
                <a:spcPct val="100000"/>
              </a:lnSpc>
              <a:spcBef>
                <a:spcPts val="209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b="1" spc="-5" dirty="0">
                <a:latin typeface="Arial"/>
                <a:cs typeface="Arial"/>
              </a:rPr>
              <a:t>Extras</a:t>
            </a:r>
            <a:r>
              <a:rPr sz="2000" spc="-5" dirty="0">
                <a:latin typeface="Arial MT"/>
                <a:cs typeface="Arial MT"/>
              </a:rPr>
              <a:t>: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pairs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key-value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with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complementary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  <a:p>
            <a:pPr marL="755015" marR="972819" lvl="1" indent="-285750">
              <a:lnSpc>
                <a:spcPts val="2160"/>
              </a:lnSpc>
              <a:spcBef>
                <a:spcPts val="509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b="1" spc="-5" dirty="0">
                <a:latin typeface="Arial"/>
                <a:cs typeface="Arial"/>
              </a:rPr>
              <a:t>Flags</a:t>
            </a:r>
            <a:r>
              <a:rPr sz="2000" spc="-5" dirty="0">
                <a:latin typeface="Arial MT"/>
                <a:cs typeface="Arial MT"/>
              </a:rPr>
              <a:t>: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auxiliary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flags 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warn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Android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how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receiving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component must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 executed.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942B202-6867-73BB-76FA-3883FCC926DE}"/>
                  </a:ext>
                </a:extLst>
              </p14:cNvPr>
              <p14:cNvContentPartPr/>
              <p14:nvPr/>
            </p14:nvContentPartPr>
            <p14:xfrm>
              <a:off x="986697" y="2029463"/>
              <a:ext cx="114120" cy="29343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942B202-6867-73BB-76FA-3883FCC926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2697" y="1921823"/>
                <a:ext cx="221760" cy="315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7455" y="255365"/>
            <a:ext cx="3303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INTENT</a:t>
            </a:r>
            <a:r>
              <a:rPr spc="-70" dirty="0"/>
              <a:t> </a:t>
            </a:r>
            <a:r>
              <a:rPr spc="-5" dirty="0"/>
              <a:t>FILTERS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5989" y="1594738"/>
            <a:ext cx="68814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Declaring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intent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filters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manifest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file: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05" y="2500122"/>
            <a:ext cx="7560563" cy="32323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7909" y="266477"/>
            <a:ext cx="49403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STARTING</a:t>
            </a:r>
            <a:r>
              <a:rPr spc="-50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spc="-5" dirty="0"/>
              <a:t>ACTIVITY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400"/>
            <a:ext cx="6480175" cy="347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Creating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 Intent with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explicit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resolution: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C7BAC"/>
              </a:buClr>
              <a:buFont typeface="Wingdings"/>
              <a:buChar char=""/>
            </a:pPr>
            <a:endParaRPr sz="2300">
              <a:latin typeface="Arial MT"/>
              <a:cs typeface="Arial MT"/>
            </a:endParaRPr>
          </a:p>
          <a:p>
            <a:pPr marL="755650" marR="5080">
              <a:lnSpc>
                <a:spcPct val="110000"/>
              </a:lnSpc>
            </a:pPr>
            <a:r>
              <a:rPr sz="2000" spc="-5" dirty="0">
                <a:latin typeface="Arial MT"/>
                <a:cs typeface="Arial MT"/>
              </a:rPr>
              <a:t>Intent myIntent = new Intent( this , Activity2.class );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startActivity(myIntent);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Creating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 Intent with </a:t>
            </a:r>
            <a:r>
              <a:rPr sz="2400" b="1" spc="-5" dirty="0">
                <a:latin typeface="Arial"/>
                <a:cs typeface="Arial"/>
              </a:rPr>
              <a:t>implicit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resolution: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>
              <a:latin typeface="Arial MT"/>
              <a:cs typeface="Arial MT"/>
            </a:endParaRPr>
          </a:p>
          <a:p>
            <a:pPr marL="755650" marR="1149985">
              <a:lnSpc>
                <a:spcPct val="110000"/>
              </a:lnSpc>
              <a:spcBef>
                <a:spcPts val="5"/>
              </a:spcBef>
            </a:pPr>
            <a:r>
              <a:rPr sz="2000" spc="-5" dirty="0">
                <a:latin typeface="Arial MT"/>
                <a:cs typeface="Arial MT"/>
              </a:rPr>
              <a:t>Intent myIntent = new Intent(); 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myIntent.setAction("edu.upc.exercise2");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startActivity(myIntent);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AC807C1-34A9-779F-8151-1185639F7C62}"/>
                  </a:ext>
                </a:extLst>
              </p14:cNvPr>
              <p14:cNvContentPartPr/>
              <p14:nvPr/>
            </p14:nvContentPartPr>
            <p14:xfrm>
              <a:off x="781497" y="1668030"/>
              <a:ext cx="128880" cy="24242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AC807C1-34A9-779F-8151-1185639F7C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7497" y="1560390"/>
                <a:ext cx="236520" cy="263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3023215-3B2A-B3BF-C861-267689AAA424}"/>
                  </a:ext>
                </a:extLst>
              </p14:cNvPr>
              <p14:cNvContentPartPr/>
              <p14:nvPr/>
            </p14:nvContentPartPr>
            <p14:xfrm>
              <a:off x="872937" y="4038990"/>
              <a:ext cx="93240" cy="11145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3023215-3B2A-B3BF-C861-267689AAA4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937" y="3930990"/>
                <a:ext cx="200880" cy="133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4965" y="266477"/>
            <a:ext cx="48056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ACTIVITIES</a:t>
            </a:r>
            <a:r>
              <a:rPr spc="-60" dirty="0"/>
              <a:t>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5" dirty="0"/>
              <a:t>TASKS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796" y="1537779"/>
            <a:ext cx="7771765" cy="331152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219710" indent="-342900">
              <a:lnSpc>
                <a:spcPts val="3020"/>
              </a:lnSpc>
              <a:spcBef>
                <a:spcPts val="484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Android defines the </a:t>
            </a:r>
            <a:r>
              <a:rPr sz="2800" b="1" spc="-5" dirty="0">
                <a:latin typeface="Arial"/>
                <a:cs typeface="Arial"/>
              </a:rPr>
              <a:t>Task </a:t>
            </a:r>
            <a:r>
              <a:rPr sz="2800" dirty="0">
                <a:latin typeface="Arial MT"/>
                <a:cs typeface="Arial MT"/>
              </a:rPr>
              <a:t>concept or “stack of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activities”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 given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marL="355600" marR="318770" indent="-343535">
              <a:lnSpc>
                <a:spcPts val="3020"/>
              </a:lnSpc>
              <a:spcBef>
                <a:spcPts val="680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An </a:t>
            </a:r>
            <a:r>
              <a:rPr sz="2800" dirty="0">
                <a:latin typeface="Arial MT"/>
                <a:cs typeface="Arial MT"/>
              </a:rPr>
              <a:t>activity initiates another one, for example,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calling </a:t>
            </a:r>
            <a:r>
              <a:rPr sz="2800" spc="-5" dirty="0">
                <a:latin typeface="Arial MT"/>
                <a:cs typeface="Arial MT"/>
              </a:rPr>
              <a:t>startActivity(intent), </a:t>
            </a:r>
            <a:r>
              <a:rPr sz="2800" dirty="0">
                <a:latin typeface="Arial MT"/>
                <a:cs typeface="Arial MT"/>
              </a:rPr>
              <a:t>being the target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activity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another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marL="355600" marR="5080" indent="-343535">
              <a:lnSpc>
                <a:spcPts val="3020"/>
              </a:lnSpc>
              <a:spcBef>
                <a:spcPts val="680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Once </a:t>
            </a:r>
            <a:r>
              <a:rPr sz="2800" dirty="0">
                <a:latin typeface="Arial MT"/>
                <a:cs typeface="Arial MT"/>
              </a:rPr>
              <a:t>a new activity is initiated, on pressing the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</a:t>
            </a:r>
            <a:r>
              <a:rPr sz="2800" b="1" dirty="0">
                <a:latin typeface="Arial"/>
                <a:cs typeface="Arial"/>
              </a:rPr>
              <a:t>back</a:t>
            </a:r>
            <a:r>
              <a:rPr sz="2800" dirty="0">
                <a:latin typeface="Arial MT"/>
                <a:cs typeface="Arial MT"/>
              </a:rPr>
              <a:t>” button </a:t>
            </a:r>
            <a:r>
              <a:rPr sz="2800" spc="-5" dirty="0">
                <a:latin typeface="Arial MT"/>
                <a:cs typeface="Arial MT"/>
              </a:rPr>
              <a:t>we </a:t>
            </a:r>
            <a:r>
              <a:rPr sz="2800" dirty="0">
                <a:latin typeface="Arial MT"/>
                <a:cs typeface="Arial MT"/>
              </a:rPr>
              <a:t>come back to the previous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activity.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4565" y="266477"/>
            <a:ext cx="358647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STARTING</a:t>
            </a:r>
            <a:r>
              <a:rPr spc="-95" dirty="0"/>
              <a:t> </a:t>
            </a:r>
            <a:r>
              <a:rPr spc="-5" dirty="0"/>
              <a:t>TASKS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796" y="1537779"/>
            <a:ext cx="7927340" cy="40792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4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A task is created on executing an activity </a:t>
            </a:r>
            <a:r>
              <a:rPr sz="2800" spc="-5" dirty="0">
                <a:latin typeface="Arial MT"/>
                <a:cs typeface="Arial MT"/>
              </a:rPr>
              <a:t>with </a:t>
            </a:r>
            <a:r>
              <a:rPr sz="2800" dirty="0">
                <a:latin typeface="Arial MT"/>
                <a:cs typeface="Arial MT"/>
              </a:rPr>
              <a:t> filter action “</a:t>
            </a:r>
            <a:r>
              <a:rPr sz="2800" b="1" dirty="0">
                <a:latin typeface="Arial"/>
                <a:cs typeface="Arial"/>
              </a:rPr>
              <a:t>MAIN</a:t>
            </a:r>
            <a:r>
              <a:rPr sz="2800" dirty="0">
                <a:latin typeface="Arial MT"/>
                <a:cs typeface="Arial MT"/>
              </a:rPr>
              <a:t>” and category </a:t>
            </a:r>
            <a:r>
              <a:rPr sz="2800" spc="-5" dirty="0">
                <a:latin typeface="Arial MT"/>
                <a:cs typeface="Arial MT"/>
              </a:rPr>
              <a:t>“</a:t>
            </a:r>
            <a:r>
              <a:rPr sz="2800" b="1" spc="-5" dirty="0">
                <a:latin typeface="Arial"/>
                <a:cs typeface="Arial"/>
              </a:rPr>
              <a:t>LAUNCHER</a:t>
            </a:r>
            <a:r>
              <a:rPr sz="2800" spc="-5" dirty="0">
                <a:latin typeface="Arial MT"/>
                <a:cs typeface="Arial MT"/>
              </a:rPr>
              <a:t>”,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this </a:t>
            </a:r>
            <a:r>
              <a:rPr sz="2800" spc="-5" dirty="0">
                <a:latin typeface="Arial MT"/>
                <a:cs typeface="Arial MT"/>
              </a:rPr>
              <a:t>way </a:t>
            </a:r>
            <a:r>
              <a:rPr sz="2800" dirty="0">
                <a:latin typeface="Arial MT"/>
                <a:cs typeface="Arial MT"/>
              </a:rPr>
              <a:t>the activity is accessible from the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desktop </a:t>
            </a:r>
            <a:r>
              <a:rPr sz="2800" dirty="0">
                <a:latin typeface="Arial MT"/>
                <a:cs typeface="Arial MT"/>
              </a:rPr>
              <a:t>apps manager. </a:t>
            </a:r>
            <a:r>
              <a:rPr sz="2800" spc="-5" dirty="0">
                <a:latin typeface="Arial MT"/>
                <a:cs typeface="Arial MT"/>
              </a:rPr>
              <a:t>This </a:t>
            </a:r>
            <a:r>
              <a:rPr sz="2800" dirty="0">
                <a:latin typeface="Arial MT"/>
                <a:cs typeface="Arial MT"/>
              </a:rPr>
              <a:t>is one </a:t>
            </a:r>
            <a:r>
              <a:rPr sz="2800" spc="-5" dirty="0">
                <a:latin typeface="Arial MT"/>
                <a:cs typeface="Arial MT"/>
              </a:rPr>
              <a:t>way </a:t>
            </a:r>
            <a:r>
              <a:rPr sz="2800" dirty="0">
                <a:latin typeface="Arial MT"/>
                <a:cs typeface="Arial MT"/>
              </a:rPr>
              <a:t>to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retrieve the task once it has been sent to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background,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e.g.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pressing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HOME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button.</a:t>
            </a:r>
            <a:endParaRPr sz="2800">
              <a:latin typeface="Arial MT"/>
              <a:cs typeface="Arial MT"/>
            </a:endParaRPr>
          </a:p>
          <a:p>
            <a:pPr marL="355600" marR="121920" indent="-343535">
              <a:lnSpc>
                <a:spcPts val="3020"/>
              </a:lnSpc>
              <a:spcBef>
                <a:spcPts val="690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A long-press of the </a:t>
            </a:r>
            <a:r>
              <a:rPr sz="2800" spc="-5" dirty="0">
                <a:latin typeface="Arial MT"/>
                <a:cs typeface="Arial MT"/>
              </a:rPr>
              <a:t>HOME </a:t>
            </a:r>
            <a:r>
              <a:rPr sz="2800" dirty="0">
                <a:latin typeface="Arial MT"/>
                <a:cs typeface="Arial MT"/>
              </a:rPr>
              <a:t>button also provides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recent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apps.</a:t>
            </a:r>
            <a:endParaRPr sz="2800">
              <a:latin typeface="Arial MT"/>
              <a:cs typeface="Arial MT"/>
            </a:endParaRPr>
          </a:p>
          <a:p>
            <a:pPr marL="355600" marR="952500" indent="-343535">
              <a:lnSpc>
                <a:spcPts val="3020"/>
              </a:lnSpc>
              <a:spcBef>
                <a:spcPts val="680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Otherwise,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task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sent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background is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unreachable.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4965" y="266477"/>
            <a:ext cx="48056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ACTIVITIES</a:t>
            </a:r>
            <a:r>
              <a:rPr spc="-60" dirty="0"/>
              <a:t>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5" dirty="0"/>
              <a:t>TASKS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796" y="1537779"/>
            <a:ext cx="8035290" cy="39941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27305" indent="-342900">
              <a:lnSpc>
                <a:spcPts val="3020"/>
              </a:lnSpc>
              <a:spcBef>
                <a:spcPts val="484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task contains a stack of activity objects,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objects as instances of different or the same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activity.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activities' stack is usually not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reordered, so only </a:t>
            </a:r>
            <a:r>
              <a:rPr sz="2800" b="1" spc="-5" dirty="0">
                <a:latin typeface="Arial"/>
                <a:cs typeface="Arial"/>
              </a:rPr>
              <a:t>push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b="1" spc="-5" dirty="0">
                <a:latin typeface="Arial"/>
                <a:cs typeface="Arial"/>
              </a:rPr>
              <a:t>pop </a:t>
            </a:r>
            <a:r>
              <a:rPr sz="2800" dirty="0">
                <a:latin typeface="Arial MT"/>
                <a:cs typeface="Arial MT"/>
              </a:rPr>
              <a:t>operations are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commonly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used.</a:t>
            </a:r>
            <a:endParaRPr sz="2800">
              <a:latin typeface="Arial MT"/>
              <a:cs typeface="Arial MT"/>
            </a:endParaRPr>
          </a:p>
          <a:p>
            <a:pPr marL="355600" marR="5080" indent="-343535">
              <a:lnSpc>
                <a:spcPts val="3020"/>
              </a:lnSpc>
              <a:spcBef>
                <a:spcPts val="690"/>
              </a:spcBef>
              <a:buClr>
                <a:srgbClr val="2C7BAC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A whole task can be brought back to the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foreground (user application activated) or sent to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background (user activity deactivated), for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example,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pressing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BACK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HOME </a:t>
            </a:r>
            <a:r>
              <a:rPr sz="2800" dirty="0">
                <a:latin typeface="Arial MT"/>
                <a:cs typeface="Arial MT"/>
              </a:rPr>
              <a:t> buttons.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341" y="2504852"/>
            <a:ext cx="1977389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rgbClr val="404040"/>
                </a:solidFill>
                <a:latin typeface="Calibri"/>
                <a:cs typeface="Calibri"/>
              </a:rPr>
              <a:t>ACTIVITY </a:t>
            </a:r>
            <a:r>
              <a:rPr sz="4000" b="1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404040"/>
                </a:solidFill>
                <a:latin typeface="Calibri"/>
                <a:cs typeface="Calibri"/>
              </a:rPr>
              <a:t>CYCLE</a:t>
            </a:r>
            <a:r>
              <a:rPr sz="4000" b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4000" b="1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404040"/>
                </a:solidFill>
                <a:latin typeface="Calibri"/>
                <a:cs typeface="Calibri"/>
              </a:rPr>
              <a:t>LIFE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8871" y="643127"/>
            <a:ext cx="4459211" cy="58056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11540" y="6509703"/>
            <a:ext cx="33147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z="1800" dirty="0">
                <a:latin typeface="Arial MT"/>
                <a:cs typeface="Arial MT"/>
              </a:rPr>
              <a:t>10</a:t>
            </a:fld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475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RESOURCES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11540" y="6509703"/>
            <a:ext cx="33147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z="1800" dirty="0">
                <a:latin typeface="Arial MT"/>
                <a:cs typeface="Arial MT"/>
              </a:rPr>
              <a:t>11</a:t>
            </a:fld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08824"/>
            <a:ext cx="7893684" cy="38296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675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They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external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files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packed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application.</a:t>
            </a:r>
            <a:endParaRPr sz="2400">
              <a:latin typeface="Arial MT"/>
              <a:cs typeface="Arial MT"/>
            </a:endParaRPr>
          </a:p>
          <a:p>
            <a:pPr marL="355600" marR="413384" indent="-342900">
              <a:lnSpc>
                <a:spcPct val="80000"/>
              </a:lnSpc>
              <a:spcBef>
                <a:spcPts val="575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The resources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must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located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folder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“res”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organized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 follows:</a:t>
            </a:r>
            <a:endParaRPr sz="2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241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Arial MT"/>
                <a:cs typeface="Arial MT"/>
              </a:rPr>
              <a:t>res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/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drawable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/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png,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jpg, 9.png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gif files</a:t>
            </a:r>
            <a:endParaRPr sz="20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650" algn="l"/>
                <a:tab pos="756285" algn="l"/>
              </a:tabLst>
            </a:pPr>
            <a:r>
              <a:rPr sz="2000" spc="-5" dirty="0">
                <a:latin typeface="Arial MT"/>
                <a:cs typeface="Arial MT"/>
              </a:rPr>
              <a:t>res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/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layout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/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screen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layout XML files</a:t>
            </a:r>
            <a:endParaRPr sz="20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650" algn="l"/>
                <a:tab pos="756285" algn="l"/>
              </a:tabLst>
            </a:pPr>
            <a:r>
              <a:rPr sz="2000" spc="-5" dirty="0">
                <a:latin typeface="Arial MT"/>
                <a:cs typeface="Arial MT"/>
              </a:rPr>
              <a:t>res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/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values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/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predefined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XML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files,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next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slide</a:t>
            </a:r>
            <a:endParaRPr sz="20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650" algn="l"/>
                <a:tab pos="756285" algn="l"/>
              </a:tabLst>
            </a:pPr>
            <a:r>
              <a:rPr sz="2000" spc="-5" dirty="0">
                <a:latin typeface="Arial MT"/>
                <a:cs typeface="Arial MT"/>
              </a:rPr>
              <a:t>Others…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2C7BAC"/>
              </a:buClr>
              <a:buFont typeface="Wingdings"/>
              <a:buChar char=""/>
            </a:pPr>
            <a:endParaRPr sz="2550">
              <a:latin typeface="Arial MT"/>
              <a:cs typeface="Arial MT"/>
            </a:endParaRPr>
          </a:p>
          <a:p>
            <a:pPr marL="355600" marR="123825" indent="-342900">
              <a:lnSpc>
                <a:spcPts val="2300"/>
              </a:lnSpc>
              <a:spcBef>
                <a:spcPts val="5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file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names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hanging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 res must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lower-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case letters, otherwise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you’ll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unexpected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errors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475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RESOURCES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11540" y="6509703"/>
            <a:ext cx="33147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z="1800" dirty="0">
                <a:latin typeface="Arial MT"/>
                <a:cs typeface="Arial MT"/>
              </a:rPr>
              <a:t>12</a:t>
            </a:fld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81000"/>
            <a:ext cx="7735570" cy="338074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487045" indent="-474980">
              <a:lnSpc>
                <a:spcPct val="100000"/>
              </a:lnSpc>
              <a:spcBef>
                <a:spcPts val="490"/>
              </a:spcBef>
              <a:buClr>
                <a:srgbClr val="2C7BAC"/>
              </a:buClr>
              <a:buFont typeface="Wingdings"/>
              <a:buChar char=""/>
              <a:tabLst>
                <a:tab pos="487680" algn="l"/>
              </a:tabLst>
            </a:pPr>
            <a:r>
              <a:rPr sz="3200" spc="-5" dirty="0">
                <a:latin typeface="Arial MT"/>
                <a:cs typeface="Arial MT"/>
              </a:rPr>
              <a:t>res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/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values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/</a:t>
            </a:r>
            <a:endParaRPr sz="3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34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b="1" dirty="0">
                <a:latin typeface="Arial"/>
                <a:cs typeface="Arial"/>
              </a:rPr>
              <a:t>arrays.xml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declare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arrays.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b="1" spc="-5" dirty="0">
                <a:latin typeface="Arial"/>
                <a:cs typeface="Arial"/>
              </a:rPr>
              <a:t>colors.xml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declare colors.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b="1" spc="-5" dirty="0">
                <a:latin typeface="Arial"/>
                <a:cs typeface="Arial"/>
              </a:rPr>
              <a:t>dimens.xml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declare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dimensions.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b="1" spc="-5" dirty="0">
                <a:latin typeface="Arial"/>
                <a:cs typeface="Arial"/>
              </a:rPr>
              <a:t>strings.xml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declare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strings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characters.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b="1" dirty="0">
                <a:latin typeface="Arial"/>
                <a:cs typeface="Arial"/>
              </a:rPr>
              <a:t>styles.xml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declare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styles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themes.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Others…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6995" y="266477"/>
            <a:ext cx="28016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DIMENSIONS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6419"/>
            <a:ext cx="7891780" cy="422275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2C7BAC"/>
              </a:buClr>
              <a:buSzPct val="96666"/>
              <a:buFont typeface="Wingdings"/>
              <a:buChar char=""/>
              <a:tabLst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Units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define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dimensions:</a:t>
            </a:r>
            <a:endParaRPr sz="3000">
              <a:latin typeface="Arial MT"/>
              <a:cs typeface="Arial MT"/>
            </a:endParaRPr>
          </a:p>
          <a:p>
            <a:pPr marL="755650" marR="142240" lvl="1" indent="-285750">
              <a:lnSpc>
                <a:spcPct val="100000"/>
              </a:lnSpc>
              <a:spcBef>
                <a:spcPts val="63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600" spc="-5" dirty="0">
                <a:latin typeface="Arial MT"/>
                <a:cs typeface="Arial MT"/>
              </a:rPr>
              <a:t>dp,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dip: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density-independent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pixels.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These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units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are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relative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a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160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dpi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(dots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per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inch)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screen</a:t>
            </a:r>
            <a:endParaRPr sz="26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600" spc="-5" dirty="0">
                <a:latin typeface="Arial MT"/>
                <a:cs typeface="Arial MT"/>
              </a:rPr>
              <a:t>sp: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scale-independent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pixels: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dip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+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scaled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by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the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user's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font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size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preference</a:t>
            </a:r>
            <a:endParaRPr sz="26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600" spc="-5" dirty="0">
                <a:latin typeface="Arial MT"/>
                <a:cs typeface="Arial MT"/>
              </a:rPr>
              <a:t>pt: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points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(1/72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of an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inch)</a:t>
            </a:r>
            <a:endParaRPr sz="26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600" spc="-5" dirty="0">
                <a:latin typeface="Arial MT"/>
                <a:cs typeface="Arial MT"/>
              </a:rPr>
              <a:t>px: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pixels</a:t>
            </a:r>
            <a:endParaRPr sz="26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600" spc="-5" dirty="0">
                <a:latin typeface="Arial MT"/>
                <a:cs typeface="Arial MT"/>
              </a:rPr>
              <a:t>mm: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millimeters</a:t>
            </a:r>
            <a:endParaRPr sz="26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600" spc="-5" dirty="0">
                <a:latin typeface="Arial MT"/>
                <a:cs typeface="Arial MT"/>
              </a:rPr>
              <a:t>in: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inches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7359" y="266477"/>
            <a:ext cx="25615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DIMENSION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66672" y="4221479"/>
            <a:ext cx="6076950" cy="1945005"/>
            <a:chOff x="1566672" y="4221479"/>
            <a:chExt cx="6076950" cy="1945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6672" y="4221479"/>
              <a:ext cx="6076937" cy="18188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08048" y="4221479"/>
              <a:ext cx="4535805" cy="1945005"/>
            </a:xfrm>
            <a:custGeom>
              <a:avLst/>
              <a:gdLst/>
              <a:ahLst/>
              <a:cxnLst/>
              <a:rect l="l" t="t" r="r" b="b"/>
              <a:pathLst>
                <a:path w="4535805" h="1945004">
                  <a:moveTo>
                    <a:pt x="1440180" y="1152144"/>
                  </a:moveTo>
                  <a:lnTo>
                    <a:pt x="0" y="1152144"/>
                  </a:lnTo>
                  <a:lnTo>
                    <a:pt x="0" y="1944624"/>
                  </a:lnTo>
                  <a:lnTo>
                    <a:pt x="1440180" y="1944624"/>
                  </a:lnTo>
                  <a:lnTo>
                    <a:pt x="1440180" y="1152144"/>
                  </a:lnTo>
                  <a:close/>
                </a:path>
                <a:path w="4535805" h="1945004">
                  <a:moveTo>
                    <a:pt x="1440180" y="117348"/>
                  </a:moveTo>
                  <a:lnTo>
                    <a:pt x="0" y="117348"/>
                  </a:lnTo>
                  <a:lnTo>
                    <a:pt x="0" y="909066"/>
                  </a:lnTo>
                  <a:lnTo>
                    <a:pt x="1440180" y="909066"/>
                  </a:lnTo>
                  <a:lnTo>
                    <a:pt x="1440180" y="117348"/>
                  </a:lnTo>
                  <a:close/>
                </a:path>
                <a:path w="4535805" h="1945004">
                  <a:moveTo>
                    <a:pt x="4535424" y="0"/>
                  </a:moveTo>
                  <a:lnTo>
                    <a:pt x="2646426" y="0"/>
                  </a:lnTo>
                  <a:lnTo>
                    <a:pt x="2646426" y="791718"/>
                  </a:lnTo>
                  <a:lnTo>
                    <a:pt x="4535424" y="791718"/>
                  </a:lnTo>
                  <a:lnTo>
                    <a:pt x="4535424" y="0"/>
                  </a:lnTo>
                  <a:close/>
                </a:path>
              </a:pathLst>
            </a:custGeom>
            <a:solidFill>
              <a:srgbClr val="BADFE2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9827" y="1557540"/>
            <a:ext cx="7324343" cy="5996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6684" y="2290572"/>
            <a:ext cx="5172442" cy="17144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756</Words>
  <Application>Microsoft Office PowerPoint</Application>
  <PresentationFormat>Presentación en pantalla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Arial MT</vt:lpstr>
      <vt:lpstr>Calibri</vt:lpstr>
      <vt:lpstr>Wingdings</vt:lpstr>
      <vt:lpstr>Office Theme</vt:lpstr>
      <vt:lpstr>Mobile Apps Design</vt:lpstr>
      <vt:lpstr>ANDROID</vt:lpstr>
      <vt:lpstr>INTENTS</vt:lpstr>
      <vt:lpstr>INTENTS</vt:lpstr>
      <vt:lpstr>INTENT FILTERS</vt:lpstr>
      <vt:lpstr>STARTING AN ACTIVITY</vt:lpstr>
      <vt:lpstr>ACTIVITIES AND TASKS</vt:lpstr>
      <vt:lpstr>STARTING TASKS</vt:lpstr>
      <vt:lpstr>ACTIVITIES AND TASKS</vt:lpstr>
      <vt:lpstr>Presentación de PowerPoint</vt:lpstr>
      <vt:lpstr>RESOURCES</vt:lpstr>
      <vt:lpstr>RESOURCES</vt:lpstr>
      <vt:lpstr>DIMENSIONS</vt:lpstr>
      <vt:lpstr>DIMENSION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POSTGRAU DE DISSENY I CREACIÓ DE VIDEOJOCS</dc:title>
  <dc:creator>Jesús Alonso</dc:creator>
  <cp:lastModifiedBy>Sergi Salvà</cp:lastModifiedBy>
  <cp:revision>1</cp:revision>
  <dcterms:created xsi:type="dcterms:W3CDTF">2023-11-28T14:39:34Z</dcterms:created>
  <dcterms:modified xsi:type="dcterms:W3CDTF">2023-11-28T15:04:03Z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2023-11-24T00:00:00Z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2023-11-28T00:00:00Z</vt:filetime>
  </property>
</Properties>
</file>