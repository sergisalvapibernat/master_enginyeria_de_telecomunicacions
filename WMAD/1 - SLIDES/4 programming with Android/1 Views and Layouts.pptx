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38:25.8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5120 0 0,'0'0'922'0'0,"3"4"-862"0"0,4 8 51 0 0,0 0-1 0 0,-1 0 1 0 0,-1 0-1 0 0,0 1 1 0 0,5 18-1 0 0,1 7 21 0 0,3 20 14 0 0,-12-46-106 0 0,1 1 0 0 0,1-1-1 0 0,0 0 1 0 0,0 0 0 0 0,10 17-1 0 0,11 35 41 0 0,-13-24-36 0 0,-5-18 2 0 0,0 1-1 0 0,5 41 1 0 0,13 94 115 0 0,-14-107-113 0 0,-6-32-3 0 0,5 38 0 0 0,1 39 65 0 0,2 63-1 0 0,-6-68-55 0 0,-3-47 4 0 0,-2 58 0 0 0,1 97 125 0 0,0 18 14 0 0,8 9 56 0 0,7 97-64 0 0,4 12 28 0 0,-12-39-46 0 0,3 44 27 0 0,-3 22-1 0 0,-8-175-87 0 0,-4 116 12 0 0,-1-175-60 0 0,-11 244 101 0 0,-6-129-72 0 0,6-90-36 0 0,-30 272 106 0 0,28-280-118 0 0,-8 110 51 0 0,-6 46 15 0 0,21-152-72 0 0,-8 207 35 0 0,5-15-2 0 0,8-248-48 0 0,5 75 22 0 0,0 15-7 0 0,3 149 46 0 0,-3-316-77 0 0,-2 179 46 0 0,-1-35-10 0 0,-8 150 33 0 0,-4 5 54 0 0,-14 395 42 0 0,22-490-119 0 0,1 90 12 0 0,7-141-20 0 0,2 66 24 0 0,-1-127-36 0 0,4 61 16 0 0,0-101-13 0 0,-3 91-1 0 0,-3-14 28 0 0,1-60-26 0 0,3 123 28 0 0,-7-141-47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38:33.1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647 1 3312 0 0,'20'11'1'0'0,"9"4"3"0"0,-20-10-1 0 0,-8-5-3 0 0,0 0 1 0 0,-1 1-1 0 0,1-1 1 0 0,0 0-1 0 0,-1 1 1 0 0,1-1-1 0 0,-1 1 1 0 0,1-1-1 0 0,-1 1 0 0 0,1 0 1 0 0,-1-1-1 0 0,1 1 1 0 0,-1-1-1 0 0,1 1 1 0 0,-1 0-1 0 0,0-1 1 0 0,1 1-1 0 0,-1 0 1 0 0,0 0-1 0 0,0-1 1 0 0,0 1-1 0 0,1 0 0 0 0,-1 0 1 0 0,0-1-1 0 0,0 1 1 0 0,0 0-1 0 0,0 0 1 0 0,0-1-1 0 0,0 1 1 0 0,-1 0-1 0 0,1 0 1 0 0,0-1-1 0 0,0 1 1 0 0,0 0-1 0 0,-1-1 0 0 0,1 1 1 0 0,0 0-1 0 0,-2 1 1 0 0,-21 30 14 0 0,12-18-8 0 0,-17 22 34 0 0,20-27-9 0 0,0 0-1 0 0,1 1 0 0 0,0 0 0 0 0,0 0 0 0 0,1 1 0 0 0,1 0 0 0 0,-8 19 1 0 0,-6 47 130 0 0,11-39-84 0 0,-14 36-1 0 0,17-58-39 0 0,1 1 0 0 0,-3 21 0 0 0,-4 17 49 0 0,-1-2 18 0 0,3 1 0 0 0,-3 102-1 0 0,10-107-68 0 0,1 168 77 0 0,-4-56 6 0 0,-13 233 58 0 0,-48 63 88 0 0,37-277-182 0 0,-11 56 66 0 0,-32 310 85 0 0,67-489-204 0 0,-22 127 62 0 0,-2 21-12 0 0,-22 187 45 0 0,-3-41 97 0 0,31-214-46 0 0,-10 271 1 0 0,28-279 1 0 0,1 83 91 0 0,21 144 100 0 0,0-78 90 0 0,-7 53-190 0 0,-6-65 114 0 0,-5 9-75 0 0,-4 119-64 0 0,1-230-128 0 0,-11 167 257 0 0,-15-104-78 0 0,21-173-215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38:59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185 0 4416 0 0,'-15'18'4'0'0,"1"1"-1"0"0,1 0 1 0 0,1 1 0 0 0,1 0 0 0 0,1 0 0 0 0,0 2-1 0 0,2-1 1 0 0,0 1 0 0 0,2 0 0 0 0,0 1 0 0 0,1-1-1 0 0,-2 45 1 0 0,-4 33 68 0 0,-2 36 8 0 0,2-1-29 0 0,0 18 2 0 0,6 27 48 0 0,2 62 29 0 0,-2 12-11 0 0,15-19 33 0 0,44 246 1 0 0,35 383 173 0 0,-70-315-170 0 0,-19-547-156 0 0,17 415 116 0 0,-5-217-74 0 0,8 199 70 0 0,-11-151-23 0 0,-1 111 30 0 0,-16 176 42 0 0,10 673 300 0 0,2-1119-429 0 0,27 1189 506 0 0,-61-430-268 0 0,16-436-99 0 0,-2 154 37 0 0,15-426-161 0 0,0 95 30 0 0,3-169-58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2.6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120 1 9040 0 0,'155'41'142'0'0,"-153"-40"-134"0"0,0-1-1 0 0,0 1 0 0 0,-1 0 0 0 0,1 0 1 0 0,0 0-1 0 0,-1 0 0 0 0,1 0 1 0 0,0 0-1 0 0,-1 0 0 0 0,1 0 0 0 0,-1 1 1 0 0,0-1-1 0 0,1 0 0 0 0,-1 1 0 0 0,0 0 1 0 0,0-1-1 0 0,0 1 0 0 0,0 0 0 0 0,0-1 1 0 0,0 1-1 0 0,-1 0 0 0 0,1 0 0 0 0,0 0 1 0 0,-1 0-1 0 0,0-1 0 0 0,1 1 1 0 0,-1 4-1 0 0,0 0 14 0 0,0-1 0 0 0,-1 1 0 0 0,0-1 0 0 0,0 1 0 0 0,0-1 0 0 0,0 1 0 0 0,-5 8 0 0 0,-2 9 232 0 0,2 0 0 0 0,-6 27 0 0 0,8-27-170 0 0,-2 0-1 0 0,-9 25 1 0 0,-13 35 90 0 0,20-55-71 0 0,-1-1 0 0 0,-15 32 0 0 0,3-10 44 0 0,3 2 1 0 0,-19 80 0 0 0,25-85-90 0 0,-5 30 36 0 0,5 0 0 0 0,2 0 0 0 0,2 81 0 0 0,4-83-57 0 0,4 514 137 0 0,4-453-131 0 0,19 318 54 0 0,-8-210-55 0 0,6 10 0 0 0,2 39 13 0 0,17 281 28 0 0,-24-233-33 0 0,-11-156-18 0 0,-3 200 70 0 0,-2-90-40 0 0,-11 540 51 0 0,4-568-68 0 0,-36 595 108 0 0,-4-427-74 0 0,32-318-60 0 0,6-43-6 0 0,-22 144 40 0 0,7-118-20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4.7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306 0 4008 0 0,'3'4'9'0'0,"-1"-1"-3"0"0,0 0 0 0 0,0-1 0 0 0,-1 1 0 0 0,1 0 0 0 0,-1 0 0 0 0,1 0 0 0 0,-1 0 0 0 0,1 5 0 0 0,0 7 25 0 0,-3-4-5 0 0,0-9 1 0 0,-9 9 43 0 0,-9 11-32 0 0,2 0-1 0 0,1 1 1 0 0,0 0-1 0 0,2 2 0 0 0,0 0 1 0 0,2 0-1 0 0,1 1 1 0 0,1 1-1 0 0,1 0 1 0 0,2 0-1 0 0,-6 34 1 0 0,-40 201 95 0 0,27-87-79 0 0,-6 27 28 0 0,-6 219-1 0 0,36-328-58 0 0,-3 2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5.1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 0 5320 0 0,'-7'25'0'0'0,"-13"42"0"0"0,38 20 0 0 0,-2 21 24 0 0,-16 0 8 0 0,-16 10-8 0 0,10-10 16 0 0,6-15-24 0 0,0-9 8 0 0,-10 9-8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5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5824 0 0,'2'65'0'0'0,"4"117"0"0"0,27 23 0 0 0,2 0 24 0 0,-11-18 8 0 0,-6 0-8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7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420 1 4720 0 0,'6'10'7'0'0,"9"21"26"0"0,-15-5 24 0 0,-29 90 24 0 0,-8 37 72 0 0,-65 672 798 0 0,68-486-705 0 0,12-113-122 0 0,-11 101 49 0 0,-52 504 96 0 0,51-453-165 0 0,-31 970 194 0 0,65-685-148 0 0,18 325 1 0 0,-15-745-124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8.1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5920 0 0,'6'70'9'0'0,"11"35"29"0"0,5 68 27 0 0,-2 293 101 0 0,39 772 421 0 0,-45-1074-524 0 0,-6-12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08.5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127 0 5920 0 0,'0'0'0'0'0,"-25"61"0"0"0,19 3 0 0 0,0 10 40 0 0,-6 0-8 0 0,-6 9 8 0 0,0 5 0 0 0,6-6-8 0 0,1-1-8 0 0,-2 10 0 0 0,9 13 16 0 0,3 4 24 0 0,2-5 0 0 0,9 8-8 0 0,-2 4 8 0 0,8 11-16 0 0,0-3-8 0 0,1 10 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11.3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502 1 5920 0 0,'0'0'136'0'0,"-4"5"-118"0"0,-13 25 107 0 0,1 1 0 0 0,-17 46-1 0 0,9-21-68 0 0,11-22 13 0 0,1 0 0 0 0,1 1 1 0 0,3 1-1 0 0,0-1 0 0 0,-4 65 1 0 0,10 185 259 0 0,5-135-185 0 0,-20 298 151 0 0,1-93-115 0 0,-13 171 2 0 0,-9-47-30 0 0,-2 513 152 0 0,30-781-246 0 0,-1 28 67 0 0,-13 445 213 0 0,17-540-293 0 0,-35 731 252 0 0,34-654-199 0 0,-3 47 1 0 0,-48 1205 655 0 0,39-674-234 0 0,8 616 528 0 0,27-636-546 0 0,28-25-84 0 0,-37-622-321 0 0,-4-5 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13.6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614 1 5224 0 0,'5'12'1'0'0,"4"5"5"0"0,-3-5 0 0 0,-4-8-4 0 0,0-1 0 0 0,-1 1 0 0 0,1-1 0 0 0,-1 1 0 0 0,0 0 0 0 0,0-1 0 0 0,0 1 0 0 0,-1 0 0 0 0,1 0 0 0 0,-1 0 0 0 0,0 0 0 0 0,-1 7 0 0 0,-31 221 173 0 0,2-22 133 0 0,-4 260 0 0 0,-3 404 224 0 0,-14-202-246 0 0,59 3-10 0 0,89 424 88 0 0,-82-814-288 0 0,-11-156-46 0 0,-23 707 186 0 0,-65-1-65 0 0,13-166-14 0 0,-31 420 67 0 0,57-696-133 0 0,-7 76 4 0 0,0-12 35 0 0,2-24-20 0 0,26-208-53 0 0,-9 120 22 0 0,15-95 2 0 0,-15 382 111 0 0,31-453-48 0 0,36 292 0 0 0,-20-385-53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16.4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292 1 10344 0 0,'0'0'1010'0'0,"-1"4"-706"0"0,-9 19-1 0 0,-24 37 1 0 0,21-38-122 0 0,0 0 0 0 0,2 0 1 0 0,-9 28-1 0 0,-12 66 180 0 0,7 1-1 0 0,-13 132 0 0 0,33-213-257 0 0,-4 67 119 0 0,3 112-1 0 0,3-22-95 0 0,-1-107-90 0 0,-11 152 34 0 0,-28 374-5 0 0,36-389-50 0 0,4-115-8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16.7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168 0 11448 0 0,'-11'34'0'0'0,"-21"58"0"0"0,17 42 0 0 0,0-1 144 0 0,-3-4 8 0 0,-5 11 8 0 0,8 8-8 0 0,4-11-72 0 0,-3-11 0 0 0,0-3 0 0 0,17 10 8 0 0,4-2 168 0 0,0-11-8 0 0,-3-12 0 0 0,11-5 8 0 0,1-2-152 0 0,-5-5 16 0 0,-4 0-16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17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12256 0 0,'0'37'0'0'0,"0"63"0"0"0,59 38 0 0 0,-16-18 264 0 0,-15-11 8 0 0,-13 9-8 0 0,7 9 8 0 0,5-1-168 0 0,0-11 16 0 0,4 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3:22.5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558 1 6520 0 0,'5'17'3'0'0,"5"7"14"0"0,-7-18-11 0 0,0 0 0 0 0,0 0 0 0 0,-1 1 0 0 0,0-1 0 0 0,-1 0 1 0 0,1 1-1 0 0,-1 0 0 0 0,0-1 0 0 0,-1 10 0 0 0,0 85 250 0 0,21 170 0 0 0,-1-56-9 0 0,-14-132-197 0 0,4 116 58 0 0,-5 59 36 0 0,-60 686 98 0 0,38-671-199 0 0,2-18-6 0 0,-15 179 45 0 0,9-99-12 0 0,-79 1045 138 0 0,73-905-127 0 0,-33 458 64 0 0,19-379-45 0 0,24-372-76 0 0,-3 42 11 0 0,-12 131 34 0 0,25-295-57 0 0,-5 120 29 0 0,-6 47 2 0 0,15-208-39 0 0,-30 240 43 0 0,31-217-38 0 0,-18 186 37 0 0,12-175-38 0 0,-21 192 37 0 0,26-170-34 0 0,-10 130 21 0 0,-24 216 42 0 0,27-257-29 0 0,-2 103 29 0 0,8-137-38 0 0,0 34 7 0 0,6-110-31 0 0,-1 109 38 0 0,-6-53-16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8:51.4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378 0 8488 0 0,'-1'3'27'0'0,"0"1"0"0"0,0-1 1 0 0,1 0-1 0 0,-1 0 1 0 0,1 1-1 0 0,0-1 0 0 0,0 0 1 0 0,0 1-1 0 0,0-1 1 0 0,1 5-1 0 0,-1 22 240 0 0,-7 72 98 0 0,-4 32 22 0 0,1-26-192 0 0,4 1 1 0 0,4-1 0 0 0,20 164-1 0 0,-7-71-43 0 0,-2-16-44 0 0,-7-120-80 0 0,-4 151 48 0 0,0-122-46 0 0,-16 287 82 0 0,3-167-70 0 0,-5 20-8 0 0,-15 155 12 0 0,-77 1210 168 0 0,76-570-134 0 0,-3-170-32 0 0,15-477-33 0 0,-40 839 96 0 0,59-1097-92 0 0,-1 118 10 0 0,6-3 4 0 0,2 73 17 0 0,1-136-14 0 0,1 30 13 0 0,25 121 57 0 0,-21-272-82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8:56.47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 0 4312 0 0,'7'22'29'0'0,"-4"-9"-1"0"0,-1 6 26 0 0,-2-5 3 0 0,0 0 0 0 0,-4 25 0 0 0,2-20-39 0 0,-3 14 101 0 0,2 0-1 0 0,1 1 1 0 0,2 0 0 0 0,1-1-1 0 0,2 0 1 0 0,1 1 0 0 0,2-1-1 0 0,17 54 1 0 0,78 344 972 0 0,-87-359-982 0 0,-2-14-26 0 0,33 192 243 0 0,-40-210-291 0 0,62 722 593 0 0,-49-202-244 0 0,-3 26-152 0 0,-1-113 40 0 0,-3-88-93 0 0,-1 148 106 0 0,-8-230-93 0 0,-1 41 24 0 0,-4-63-71 0 0,-4 121 6 0 0,9-192-7 0 0,2-46 8 0 0,-2-80-81 0 0,0-47-19 0 0,-5 62 1 0 0,-3 16 78 0 0,5-81-78 0 0,-5 7 19 0 0,-11-1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8:58.7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8240 0 0,'3'15'4'0'0,"3"7"15"0"0,1 0 12 0 0,4 10 33 0 0,9 27 65 0 0,-12-18-66 0 0,1 36 107 0 0,11 134 395 0 0,-11 157 343 0 0,-8-19-164 0 0,43 201-94 0 0,-13-259-492 0 0,-19-161-116 0 0,18 254 53 0 0,-34 518 92 0 0,2-880-184 0 0,-71 753 109 0 0,14 1-2 0 0,53-555-92 0 0,1-139-10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0" y="285750"/>
            <a:ext cx="2143505" cy="6522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0" y="6400800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6416" y="266477"/>
            <a:ext cx="6031166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05013"/>
            <a:ext cx="8072119" cy="418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hyperlink" Target="http://schemas.android.com/apk/res/androi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4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customXml" Target="../ink/ink1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622" y="835152"/>
            <a:ext cx="3358121" cy="102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888"/>
            <a:ext cx="183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Postgrado</a:t>
            </a:r>
            <a:r>
              <a:rPr sz="2400" spc="-75" dirty="0">
                <a:solidFill>
                  <a:srgbClr val="5C072C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2897"/>
            <a:ext cx="3888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Mobile</a:t>
            </a:r>
            <a:r>
              <a:rPr sz="3200" spc="-16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Apps</a:t>
            </a:r>
            <a:r>
              <a:rPr sz="3200" spc="-5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1119" y="3175190"/>
            <a:ext cx="5460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404040"/>
                </a:solidFill>
                <a:latin typeface="Calibri"/>
                <a:cs typeface="Calibri"/>
              </a:rPr>
              <a:t>VIEWS</a:t>
            </a:r>
            <a:r>
              <a:rPr sz="48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8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b="1" spc="-5" dirty="0">
                <a:solidFill>
                  <a:srgbClr val="404040"/>
                </a:solidFill>
                <a:latin typeface="Calibri"/>
                <a:cs typeface="Calibri"/>
              </a:rPr>
              <a:t>LAYOUTS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Juan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Luis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USER</a:t>
            </a:r>
            <a:r>
              <a:rPr spc="-65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0921"/>
            <a:ext cx="7829550" cy="4219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0" indent="-362585">
              <a:lnSpc>
                <a:spcPts val="365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user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interface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built using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View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and</a:t>
            </a:r>
            <a:endParaRPr sz="3200">
              <a:latin typeface="Arial MT"/>
              <a:cs typeface="Arial MT"/>
            </a:endParaRPr>
          </a:p>
          <a:p>
            <a:pPr marL="354965">
              <a:lnSpc>
                <a:spcPts val="3650"/>
              </a:lnSpc>
            </a:pPr>
            <a:r>
              <a:rPr sz="3200" b="1" spc="-5" dirty="0">
                <a:latin typeface="Arial"/>
                <a:cs typeface="Arial"/>
              </a:rPr>
              <a:t>ViewGroup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objects</a:t>
            </a:r>
            <a:endParaRPr sz="3200">
              <a:latin typeface="Arial MT"/>
              <a:cs typeface="Arial MT"/>
            </a:endParaRPr>
          </a:p>
          <a:p>
            <a:pPr marL="354965" marR="433705" indent="-342900" algn="just">
              <a:lnSpc>
                <a:spcPts val="3460"/>
              </a:lnSpc>
              <a:spcBef>
                <a:spcPts val="81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Subclasses of View, the “</a:t>
            </a:r>
            <a:r>
              <a:rPr sz="3200" b="1" spc="-5" dirty="0">
                <a:latin typeface="Arial"/>
                <a:cs typeface="Arial"/>
              </a:rPr>
              <a:t>widgets</a:t>
            </a:r>
            <a:r>
              <a:rPr sz="3200" spc="-5" dirty="0">
                <a:latin typeface="Arial MT"/>
                <a:cs typeface="Arial MT"/>
              </a:rPr>
              <a:t>”, </a:t>
            </a:r>
            <a:r>
              <a:rPr sz="3200" spc="-10" dirty="0">
                <a:latin typeface="Arial MT"/>
                <a:cs typeface="Arial MT"/>
              </a:rPr>
              <a:t>are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implementations </a:t>
            </a:r>
            <a:r>
              <a:rPr sz="3200" spc="-5" dirty="0">
                <a:latin typeface="Arial MT"/>
                <a:cs typeface="Arial MT"/>
              </a:rPr>
              <a:t>of the View class, </a:t>
            </a:r>
            <a:r>
              <a:rPr sz="3200" spc="-10" dirty="0">
                <a:latin typeface="Arial MT"/>
                <a:cs typeface="Arial MT"/>
              </a:rPr>
              <a:t>e.g.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Button,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TextView,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etc.</a:t>
            </a:r>
            <a:endParaRPr sz="3200">
              <a:latin typeface="Arial MT"/>
              <a:cs typeface="Arial MT"/>
            </a:endParaRPr>
          </a:p>
          <a:p>
            <a:pPr marL="354965" marR="94615" indent="-342900">
              <a:lnSpc>
                <a:spcPts val="3460"/>
              </a:lnSpc>
              <a:spcBef>
                <a:spcPts val="75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Subclasses of ViewGroup, the “</a:t>
            </a:r>
            <a:r>
              <a:rPr sz="3200" b="1" spc="-5" dirty="0">
                <a:latin typeface="Arial"/>
                <a:cs typeface="Arial"/>
              </a:rPr>
              <a:t>layouts</a:t>
            </a:r>
            <a:r>
              <a:rPr sz="3200" spc="-5" dirty="0">
                <a:latin typeface="Arial MT"/>
                <a:cs typeface="Arial MT"/>
              </a:rPr>
              <a:t>”,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implement </a:t>
            </a: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spc="-10" dirty="0">
                <a:latin typeface="Arial MT"/>
                <a:cs typeface="Arial MT"/>
              </a:rPr>
              <a:t>arrangement </a:t>
            </a:r>
            <a:r>
              <a:rPr sz="3200" spc="-5" dirty="0">
                <a:latin typeface="Arial MT"/>
                <a:cs typeface="Arial MT"/>
              </a:rPr>
              <a:t>of View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elements </a:t>
            </a:r>
            <a:r>
              <a:rPr sz="3200" spc="-5" dirty="0">
                <a:latin typeface="Arial MT"/>
                <a:cs typeface="Arial MT"/>
              </a:rPr>
              <a:t>inside a container (the view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group): linear,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tabular,</a:t>
            </a:r>
            <a:r>
              <a:rPr sz="3200" spc="-5" dirty="0">
                <a:latin typeface="Arial MT"/>
                <a:cs typeface="Arial MT"/>
              </a:rPr>
              <a:t> relative,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etc.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AAAAFD0-9E20-F783-FDCA-4AD332722141}"/>
                  </a:ext>
                </a:extLst>
              </p14:cNvPr>
              <p14:cNvContentPartPr/>
              <p14:nvPr/>
            </p14:nvContentPartPr>
            <p14:xfrm>
              <a:off x="457497" y="1679550"/>
              <a:ext cx="123480" cy="4087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AAAAFD0-9E20-F783-FDCA-4AD3327221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497" y="1571550"/>
                <a:ext cx="231120" cy="430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USER</a:t>
            </a:r>
            <a:r>
              <a:rPr spc="-65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875905" cy="295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The UI associated to an activity is </a:t>
            </a:r>
            <a:r>
              <a:rPr sz="3200" spc="-10" dirty="0">
                <a:latin typeface="Arial MT"/>
                <a:cs typeface="Arial MT"/>
              </a:rPr>
              <a:t>defined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by a hierarchy of View objects, using 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View object as the </a:t>
            </a:r>
            <a:r>
              <a:rPr sz="3200" b="1" spc="-5" dirty="0">
                <a:latin typeface="Arial"/>
                <a:cs typeface="Arial"/>
              </a:rPr>
              <a:t>root </a:t>
            </a:r>
            <a:r>
              <a:rPr sz="3200" spc="-5" dirty="0">
                <a:latin typeface="Arial MT"/>
                <a:cs typeface="Arial MT"/>
              </a:rPr>
              <a:t>and </a:t>
            </a:r>
            <a:r>
              <a:rPr sz="3200" spc="-10" dirty="0">
                <a:latin typeface="Arial MT"/>
                <a:cs typeface="Arial MT"/>
              </a:rPr>
              <a:t>parameter </a:t>
            </a:r>
            <a:r>
              <a:rPr sz="3200" spc="-5" dirty="0">
                <a:latin typeface="Arial MT"/>
                <a:cs typeface="Arial MT"/>
              </a:rPr>
              <a:t>of: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setContentView(view), this method </a:t>
            </a:r>
            <a:r>
              <a:rPr sz="3200" spc="-10" dirty="0">
                <a:latin typeface="Arial MT"/>
                <a:cs typeface="Arial MT"/>
              </a:rPr>
              <a:t>is </a:t>
            </a:r>
            <a:r>
              <a:rPr sz="3200" spc="-5" dirty="0">
                <a:latin typeface="Arial MT"/>
                <a:cs typeface="Arial MT"/>
              </a:rPr>
              <a:t> usually called from onCreate() to create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activity.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2128" y="4143755"/>
            <a:ext cx="3143249" cy="21252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2119F6D-EEF2-A967-26CB-2EFDD5864BB5}"/>
                  </a:ext>
                </a:extLst>
              </p14:cNvPr>
              <p14:cNvContentPartPr/>
              <p14:nvPr/>
            </p14:nvContentPartPr>
            <p14:xfrm>
              <a:off x="682137" y="1715910"/>
              <a:ext cx="257760" cy="2811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2119F6D-EEF2-A967-26CB-2EFDD5864B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137" y="1608270"/>
                <a:ext cx="365400" cy="302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USER</a:t>
            </a:r>
            <a:r>
              <a:rPr spc="-65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065"/>
            <a:ext cx="7760970" cy="39344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328295" indent="-342900">
              <a:lnSpc>
                <a:spcPts val="2920"/>
              </a:lnSpc>
              <a:spcBef>
                <a:spcPts val="459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spc="-5" dirty="0">
                <a:latin typeface="Arial MT"/>
                <a:cs typeface="Arial MT"/>
              </a:rPr>
              <a:t>The </a:t>
            </a:r>
            <a:r>
              <a:rPr sz="2700" b="1" dirty="0">
                <a:latin typeface="Arial"/>
                <a:cs typeface="Arial"/>
              </a:rPr>
              <a:t>drawing </a:t>
            </a:r>
            <a:r>
              <a:rPr sz="2700" spc="-5" dirty="0">
                <a:latin typeface="Arial MT"/>
                <a:cs typeface="Arial MT"/>
              </a:rPr>
              <a:t>of the </a:t>
            </a:r>
            <a:r>
              <a:rPr sz="2700" dirty="0">
                <a:latin typeface="Arial MT"/>
                <a:cs typeface="Arial MT"/>
              </a:rPr>
              <a:t>view </a:t>
            </a:r>
            <a:r>
              <a:rPr sz="2700" spc="-5" dirty="0">
                <a:latin typeface="Arial MT"/>
                <a:cs typeface="Arial MT"/>
              </a:rPr>
              <a:t>is made </a:t>
            </a:r>
            <a:r>
              <a:rPr sz="2700" dirty="0">
                <a:latin typeface="Arial MT"/>
                <a:cs typeface="Arial MT"/>
              </a:rPr>
              <a:t>from </a:t>
            </a:r>
            <a:r>
              <a:rPr sz="2700" spc="-5" dirty="0">
                <a:latin typeface="Arial MT"/>
                <a:cs typeface="Arial MT"/>
              </a:rPr>
              <a:t>the root </a:t>
            </a:r>
            <a:r>
              <a:rPr sz="2700" spc="-7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view </a:t>
            </a:r>
            <a:r>
              <a:rPr sz="2700" spc="-5" dirty="0">
                <a:latin typeface="Arial MT"/>
                <a:cs typeface="Arial MT"/>
              </a:rPr>
              <a:t>downwards </a:t>
            </a:r>
            <a:r>
              <a:rPr sz="2700" dirty="0">
                <a:latin typeface="Arial MT"/>
                <a:cs typeface="Arial MT"/>
              </a:rPr>
              <a:t>to the </a:t>
            </a:r>
            <a:r>
              <a:rPr sz="2700" spc="-5" dirty="0">
                <a:latin typeface="Arial MT"/>
                <a:cs typeface="Arial MT"/>
              </a:rPr>
              <a:t>leaves, </a:t>
            </a:r>
            <a:r>
              <a:rPr sz="2700" dirty="0">
                <a:latin typeface="Arial MT"/>
                <a:cs typeface="Arial MT"/>
              </a:rPr>
              <a:t>this </a:t>
            </a:r>
            <a:r>
              <a:rPr sz="2700" spc="-5" dirty="0">
                <a:latin typeface="Arial MT"/>
                <a:cs typeface="Arial MT"/>
              </a:rPr>
              <a:t>way 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descendent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views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take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their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references on 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b="1" spc="-5" dirty="0">
                <a:latin typeface="Arial"/>
                <a:cs typeface="Arial"/>
              </a:rPr>
              <a:t>dimensions </a:t>
            </a:r>
            <a:r>
              <a:rPr sz="2700" spc="-5" dirty="0">
                <a:latin typeface="Arial MT"/>
                <a:cs typeface="Arial MT"/>
              </a:rPr>
              <a:t>and </a:t>
            </a:r>
            <a:r>
              <a:rPr sz="2700" b="1" spc="-5" dirty="0">
                <a:latin typeface="Arial"/>
                <a:cs typeface="Arial"/>
              </a:rPr>
              <a:t>location </a:t>
            </a:r>
            <a:r>
              <a:rPr sz="2700" dirty="0">
                <a:latin typeface="Arial MT"/>
                <a:cs typeface="Arial MT"/>
              </a:rPr>
              <a:t>from </a:t>
            </a:r>
            <a:r>
              <a:rPr sz="2700" spc="-5" dirty="0">
                <a:latin typeface="Arial MT"/>
                <a:cs typeface="Arial MT"/>
              </a:rPr>
              <a:t>their parent 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already drawn.</a:t>
            </a:r>
            <a:endParaRPr sz="2700">
              <a:latin typeface="Arial MT"/>
              <a:cs typeface="Arial MT"/>
            </a:endParaRPr>
          </a:p>
          <a:p>
            <a:pPr marL="355600" marR="194310" indent="-342900">
              <a:lnSpc>
                <a:spcPts val="2920"/>
              </a:lnSpc>
              <a:spcBef>
                <a:spcPts val="63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The </a:t>
            </a:r>
            <a:r>
              <a:rPr sz="2700" spc="-5" dirty="0">
                <a:latin typeface="Arial MT"/>
                <a:cs typeface="Arial MT"/>
              </a:rPr>
              <a:t>geometry of any view is </a:t>
            </a:r>
            <a:r>
              <a:rPr sz="2700" b="1" spc="-5" dirty="0">
                <a:latin typeface="Arial"/>
                <a:cs typeface="Arial"/>
              </a:rPr>
              <a:t>rectangular</a:t>
            </a:r>
            <a:r>
              <a:rPr sz="2700" spc="-5" dirty="0">
                <a:latin typeface="Arial MT"/>
                <a:cs typeface="Arial MT"/>
              </a:rPr>
              <a:t>. The </a:t>
            </a:r>
            <a:r>
              <a:rPr sz="2700" dirty="0">
                <a:latin typeface="Arial MT"/>
                <a:cs typeface="Arial MT"/>
              </a:rPr>
              <a:t> view </a:t>
            </a:r>
            <a:r>
              <a:rPr sz="2700" spc="-5" dirty="0">
                <a:latin typeface="Arial MT"/>
                <a:cs typeface="Arial MT"/>
              </a:rPr>
              <a:t>location is defined by its coordinates: </a:t>
            </a:r>
            <a:r>
              <a:rPr sz="2700" dirty="0">
                <a:latin typeface="Arial MT"/>
                <a:cs typeface="Arial MT"/>
              </a:rPr>
              <a:t>(</a:t>
            </a:r>
            <a:r>
              <a:rPr sz="2700" b="1" dirty="0">
                <a:latin typeface="Arial"/>
                <a:cs typeface="Arial"/>
              </a:rPr>
              <a:t>left, </a:t>
            </a:r>
            <a:r>
              <a:rPr sz="2700" b="1" spc="-74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top</a:t>
            </a:r>
            <a:r>
              <a:rPr sz="2700" dirty="0">
                <a:latin typeface="Arial MT"/>
                <a:cs typeface="Arial MT"/>
              </a:rPr>
              <a:t>)</a:t>
            </a:r>
            <a:r>
              <a:rPr sz="2700" spc="-5" dirty="0">
                <a:latin typeface="Arial MT"/>
                <a:cs typeface="Arial MT"/>
              </a:rPr>
              <a:t> and dimensions </a:t>
            </a:r>
            <a:r>
              <a:rPr sz="2700" dirty="0">
                <a:latin typeface="Arial MT"/>
                <a:cs typeface="Arial MT"/>
              </a:rPr>
              <a:t>(</a:t>
            </a:r>
            <a:r>
              <a:rPr sz="2700" b="1" dirty="0">
                <a:latin typeface="Arial"/>
                <a:cs typeface="Arial"/>
              </a:rPr>
              <a:t>width, </a:t>
            </a:r>
            <a:r>
              <a:rPr sz="2700" b="1" spc="-5" dirty="0">
                <a:latin typeface="Arial"/>
                <a:cs typeface="Arial"/>
              </a:rPr>
              <a:t>height</a:t>
            </a:r>
            <a:r>
              <a:rPr sz="2700" spc="-5" dirty="0">
                <a:latin typeface="Arial MT"/>
                <a:cs typeface="Arial MT"/>
              </a:rPr>
              <a:t>)</a:t>
            </a:r>
            <a:endParaRPr sz="2700">
              <a:latin typeface="Arial MT"/>
              <a:cs typeface="Arial MT"/>
            </a:endParaRPr>
          </a:p>
          <a:p>
            <a:pPr marL="355600" marR="5080" indent="-342900">
              <a:lnSpc>
                <a:spcPts val="2920"/>
              </a:lnSpc>
              <a:spcBef>
                <a:spcPts val="63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If </a:t>
            </a:r>
            <a:r>
              <a:rPr sz="2700" spc="-5" dirty="0">
                <a:latin typeface="Arial MT"/>
                <a:cs typeface="Arial MT"/>
              </a:rPr>
              <a:t>there’s </a:t>
            </a:r>
            <a:r>
              <a:rPr sz="2700" dirty="0">
                <a:latin typeface="Arial MT"/>
                <a:cs typeface="Arial MT"/>
              </a:rPr>
              <a:t>some </a:t>
            </a:r>
            <a:r>
              <a:rPr sz="2700" spc="-5" dirty="0">
                <a:latin typeface="Arial MT"/>
                <a:cs typeface="Arial MT"/>
              </a:rPr>
              <a:t>overlapping, </a:t>
            </a:r>
            <a:r>
              <a:rPr sz="2700" dirty="0">
                <a:latin typeface="Arial MT"/>
                <a:cs typeface="Arial MT"/>
              </a:rPr>
              <a:t>the </a:t>
            </a:r>
            <a:r>
              <a:rPr sz="2700" spc="-5" dirty="0">
                <a:latin typeface="Arial MT"/>
                <a:cs typeface="Arial MT"/>
              </a:rPr>
              <a:t>last drawn views </a:t>
            </a:r>
            <a:r>
              <a:rPr sz="2700" spc="-7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will</a:t>
            </a:r>
            <a:r>
              <a:rPr sz="2700" spc="-5" dirty="0">
                <a:latin typeface="Arial MT"/>
                <a:cs typeface="Arial MT"/>
              </a:rPr>
              <a:t> be shown on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top of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the previously drawn.</a:t>
            </a:r>
            <a:endParaRPr sz="27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D9F0782-B949-99E6-838A-422E0D0F04AB}"/>
                  </a:ext>
                </a:extLst>
              </p14:cNvPr>
              <p14:cNvContentPartPr/>
              <p14:nvPr/>
            </p14:nvContentPartPr>
            <p14:xfrm>
              <a:off x="847017" y="1646070"/>
              <a:ext cx="96480" cy="3832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D9F0782-B949-99E6-838A-422E0D0F04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377" y="1538070"/>
                <a:ext cx="204120" cy="404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99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LAYOUTS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263765" cy="245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180465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define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layout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there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two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methodologies: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XML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file.</a:t>
            </a:r>
            <a:endParaRPr sz="28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By </a:t>
            </a:r>
            <a:r>
              <a:rPr sz="2800" dirty="0">
                <a:latin typeface="Arial MT"/>
                <a:cs typeface="Arial MT"/>
              </a:rPr>
              <a:t>code, instantiating and composing 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layout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 run </a:t>
            </a:r>
            <a:r>
              <a:rPr sz="2800" spc="-5" dirty="0">
                <a:latin typeface="Arial MT"/>
                <a:cs typeface="Arial MT"/>
              </a:rPr>
              <a:t>time.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18326B4-D544-DA01-4718-679091DEF38D}"/>
                  </a:ext>
                </a:extLst>
              </p14:cNvPr>
              <p14:cNvContentPartPr/>
              <p14:nvPr/>
            </p14:nvContentPartPr>
            <p14:xfrm>
              <a:off x="674217" y="1707990"/>
              <a:ext cx="111240" cy="28440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18326B4-D544-DA01-4718-679091DEF3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217" y="1600350"/>
                <a:ext cx="218880" cy="305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493" y="266477"/>
            <a:ext cx="4740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DECLARATIVE</a:t>
            </a:r>
            <a:r>
              <a:rPr spc="-90" dirty="0"/>
              <a:t> </a:t>
            </a:r>
            <a:r>
              <a:rPr dirty="0"/>
              <a:t>LAYOUT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9397"/>
            <a:ext cx="7594600" cy="433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Example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declarative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&lt;?xml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version="1.0" encoding="utf-8"?&gt;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 MT"/>
              <a:cs typeface="Arial MT"/>
            </a:endParaRPr>
          </a:p>
          <a:p>
            <a:pPr marL="1555115" marR="5080" indent="-800735">
              <a:lnSpc>
                <a:spcPts val="1540"/>
              </a:lnSpc>
            </a:pPr>
            <a:r>
              <a:rPr sz="1600" spc="-5" dirty="0">
                <a:latin typeface="Arial MT"/>
                <a:cs typeface="Arial MT"/>
              </a:rPr>
              <a:t>&lt;LinearLayout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xmlns:android="</a:t>
            </a:r>
            <a:r>
              <a:rPr sz="1600" spc="-5" dirty="0">
                <a:latin typeface="Arial MT"/>
                <a:cs typeface="Arial MT"/>
                <a:hlinkClick r:id="rId2"/>
              </a:rPr>
              <a:t>http://schemas.android.com/apk/res/android"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android:layout_width="fill_parent"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android:layout_height="fill_parent"</a:t>
            </a:r>
            <a:endParaRPr sz="1600">
              <a:latin typeface="Arial MT"/>
              <a:cs typeface="Arial MT"/>
            </a:endParaRPr>
          </a:p>
          <a:p>
            <a:pPr marL="1555115">
              <a:lnSpc>
                <a:spcPts val="1540"/>
              </a:lnSpc>
            </a:pPr>
            <a:r>
              <a:rPr sz="1600" spc="-5" dirty="0">
                <a:latin typeface="Arial MT"/>
                <a:cs typeface="Arial MT"/>
              </a:rPr>
              <a:t>android:orientation="vertical"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&gt;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 MT"/>
              <a:cs typeface="Arial MT"/>
            </a:endParaRPr>
          </a:p>
          <a:p>
            <a:pPr marL="1555115" marR="2440940" indent="-571500">
              <a:lnSpc>
                <a:spcPts val="1540"/>
              </a:lnSpc>
            </a:pPr>
            <a:r>
              <a:rPr sz="1600" spc="-5" dirty="0">
                <a:latin typeface="Arial MT"/>
                <a:cs typeface="Arial MT"/>
              </a:rPr>
              <a:t>&lt;TextView android:id="@+id/text"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android:layout_width="wrap_content"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android:layout_height="wrap_content"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android:text="Hello,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am</a:t>
            </a:r>
            <a:r>
              <a:rPr sz="1600" dirty="0">
                <a:latin typeface="Arial MT"/>
                <a:cs typeface="Arial MT"/>
              </a:rPr>
              <a:t> a </a:t>
            </a:r>
            <a:r>
              <a:rPr sz="1600" spc="-5" dirty="0">
                <a:latin typeface="Arial MT"/>
                <a:cs typeface="Arial MT"/>
              </a:rPr>
              <a:t>TextView"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/&gt;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 MT"/>
              <a:cs typeface="Arial MT"/>
            </a:endParaRPr>
          </a:p>
          <a:p>
            <a:pPr marL="1440815" marR="2722245" indent="-457200">
              <a:lnSpc>
                <a:spcPts val="154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&lt;Button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android:id="@+id/button"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android:layout_width="wrap_content"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android:layout_height="wrap_content"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android:text="Hello,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am</a:t>
            </a:r>
            <a:r>
              <a:rPr sz="1600" dirty="0">
                <a:latin typeface="Arial MT"/>
                <a:cs typeface="Arial MT"/>
              </a:rPr>
              <a:t> a </a:t>
            </a:r>
            <a:r>
              <a:rPr sz="1600" spc="-5" dirty="0">
                <a:latin typeface="Arial MT"/>
                <a:cs typeface="Arial MT"/>
              </a:rPr>
              <a:t>Button" /&gt;</a:t>
            </a:r>
            <a:endParaRPr sz="1600">
              <a:latin typeface="Arial MT"/>
              <a:cs typeface="Arial MT"/>
            </a:endParaRPr>
          </a:p>
          <a:p>
            <a:pPr marL="755650">
              <a:lnSpc>
                <a:spcPct val="100000"/>
              </a:lnSpc>
              <a:spcBef>
                <a:spcPts val="1535"/>
              </a:spcBef>
            </a:pPr>
            <a:r>
              <a:rPr sz="1600" spc="-5" dirty="0">
                <a:latin typeface="Arial MT"/>
                <a:cs typeface="Arial MT"/>
              </a:rPr>
              <a:t>&lt;/LinearLayout&gt;</a:t>
            </a:r>
            <a:endParaRPr sz="16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89E6F0C-798B-00D9-C28F-438F995909C7}"/>
                  </a:ext>
                </a:extLst>
              </p14:cNvPr>
              <p14:cNvContentPartPr/>
              <p14:nvPr/>
            </p14:nvContentPartPr>
            <p14:xfrm>
              <a:off x="781497" y="1522230"/>
              <a:ext cx="117720" cy="596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89E6F0C-798B-00D9-C28F-438F995909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497" y="1414230"/>
                <a:ext cx="225360" cy="8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729A960-E473-82D5-59A9-011EE506628D}"/>
                  </a:ext>
                </a:extLst>
              </p14:cNvPr>
              <p14:cNvContentPartPr/>
              <p14:nvPr/>
            </p14:nvContentPartPr>
            <p14:xfrm>
              <a:off x="723537" y="3252750"/>
              <a:ext cx="12600" cy="3207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729A960-E473-82D5-59A9-011EE50662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897" y="3144750"/>
                <a:ext cx="12024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F382D02-EA5A-2579-60E3-C94E0D7EA09E}"/>
                  </a:ext>
                </a:extLst>
              </p14:cNvPr>
              <p14:cNvContentPartPr/>
              <p14:nvPr/>
            </p14:nvContentPartPr>
            <p14:xfrm>
              <a:off x="809217" y="4948350"/>
              <a:ext cx="42840" cy="3711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F382D02-EA5A-2579-60E3-C94E0D7EA0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5217" y="4840350"/>
                <a:ext cx="150480" cy="58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1119" y="266477"/>
            <a:ext cx="33540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CODED</a:t>
            </a:r>
            <a:r>
              <a:rPr spc="-100" dirty="0"/>
              <a:t> </a:t>
            </a:r>
            <a:r>
              <a:rPr dirty="0"/>
              <a:t>LAYOUT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389" y="1097597"/>
            <a:ext cx="6479540" cy="518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LinearLayout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LinearLayout(this);</a:t>
            </a:r>
            <a:endParaRPr sz="1800">
              <a:latin typeface="Arial MT"/>
              <a:cs typeface="Arial MT"/>
            </a:endParaRPr>
          </a:p>
          <a:p>
            <a:pPr marL="12700" marR="410845">
              <a:lnSpc>
                <a:spcPct val="80000"/>
              </a:lnSpc>
              <a:spcBef>
                <a:spcPts val="430"/>
              </a:spcBef>
            </a:pPr>
            <a:r>
              <a:rPr sz="1800" spc="-5" dirty="0">
                <a:latin typeface="Arial MT"/>
                <a:cs typeface="Arial MT"/>
              </a:rPr>
              <a:t>layout.setLayoutParams(new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LinearLayout.LayoutParams(LayoutParams.FILL_PARENT,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LayoutParams.FILL_PARENT));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layout.setOrientation(LinearLayout.VERTICAL);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 marR="280289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TextView tv </a:t>
            </a:r>
            <a:r>
              <a:rPr sz="1800" dirty="0">
                <a:latin typeface="Arial MT"/>
                <a:cs typeface="Arial MT"/>
              </a:rPr>
              <a:t>= new </a:t>
            </a:r>
            <a:r>
              <a:rPr sz="1800" spc="-5" dirty="0">
                <a:latin typeface="Arial MT"/>
                <a:cs typeface="Arial MT"/>
              </a:rPr>
              <a:t>TextView(this);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tv.setText("Hello, </a:t>
            </a:r>
            <a:r>
              <a:rPr sz="1800" dirty="0">
                <a:latin typeface="Arial MT"/>
                <a:cs typeface="Arial MT"/>
              </a:rPr>
              <a:t>I am a </a:t>
            </a:r>
            <a:r>
              <a:rPr sz="1800" spc="-5" dirty="0">
                <a:latin typeface="Arial MT"/>
                <a:cs typeface="Arial MT"/>
              </a:rPr>
              <a:t>TextView");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tv.setLayoutParams(new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80000"/>
              </a:lnSpc>
            </a:pPr>
            <a:r>
              <a:rPr sz="1800" spc="-5" dirty="0">
                <a:latin typeface="Arial MT"/>
                <a:cs typeface="Arial MT"/>
              </a:rPr>
              <a:t>LinearLayout.LayoutParams(LayoutParams.WRAP_CONTENT,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LayoutParams.WRAP_CONTENT));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 marR="294386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Button btn=new Button(this);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btn.setText("Hello, </a:t>
            </a:r>
            <a:r>
              <a:rPr sz="1800" dirty="0">
                <a:latin typeface="Arial MT"/>
                <a:cs typeface="Arial MT"/>
              </a:rPr>
              <a:t>I am a </a:t>
            </a:r>
            <a:r>
              <a:rPr sz="1800" spc="-5" dirty="0">
                <a:latin typeface="Arial MT"/>
                <a:cs typeface="Arial MT"/>
              </a:rPr>
              <a:t>Button");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btn.setLayoutParams(new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80000"/>
              </a:lnSpc>
            </a:pPr>
            <a:r>
              <a:rPr sz="1800" spc="-5" dirty="0">
                <a:latin typeface="Arial MT"/>
                <a:cs typeface="Arial MT"/>
              </a:rPr>
              <a:t>LinearLayout.LayoutParams(LayoutParams.WRAP_CONTENT,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LayoutParams.WRAP_CONTENT));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12700" marR="43732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layout.addView(tv);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layout.addView(btn);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41D9C1B-F2EC-E22F-A4AF-AC54AAA34E41}"/>
                  </a:ext>
                </a:extLst>
              </p14:cNvPr>
              <p14:cNvContentPartPr/>
              <p14:nvPr/>
            </p14:nvContentPartPr>
            <p14:xfrm>
              <a:off x="661977" y="1194630"/>
              <a:ext cx="158760" cy="2342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41D9C1B-F2EC-E22F-A4AF-AC54AAA34E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7977" y="1086990"/>
                <a:ext cx="266400" cy="25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3976818-C48E-E6AE-163F-C4989F3B9B7D}"/>
                  </a:ext>
                </a:extLst>
              </p14:cNvPr>
              <p14:cNvContentPartPr/>
              <p14:nvPr/>
            </p14:nvContentPartPr>
            <p14:xfrm>
              <a:off x="658017" y="3703470"/>
              <a:ext cx="52560" cy="8532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3976818-C48E-E6AE-163F-C4989F3B9B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4017" y="3595830"/>
                <a:ext cx="160200" cy="10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54283F8-7B9A-E2E0-4143-8C8A461F97D6}"/>
                  </a:ext>
                </a:extLst>
              </p14:cNvPr>
              <p14:cNvContentPartPr/>
              <p14:nvPr/>
            </p14:nvContentPartPr>
            <p14:xfrm>
              <a:off x="614817" y="5365590"/>
              <a:ext cx="45720" cy="5839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54283F8-7B9A-E2E0-4143-8C8A461F97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1177" y="5257590"/>
                <a:ext cx="153360" cy="79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699" y="266477"/>
            <a:ext cx="47415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LAYOUT</a:t>
            </a:r>
            <a:r>
              <a:rPr spc="-90" dirty="0"/>
              <a:t> </a:t>
            </a:r>
            <a:r>
              <a:rPr spc="-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0451"/>
            <a:ext cx="77679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Any View </a:t>
            </a:r>
            <a:r>
              <a:rPr sz="2800" dirty="0">
                <a:latin typeface="Arial MT"/>
                <a:cs typeface="Arial MT"/>
              </a:rPr>
              <a:t>object can set its </a:t>
            </a:r>
            <a:r>
              <a:rPr sz="2800" b="1" spc="-5" dirty="0">
                <a:latin typeface="Arial"/>
                <a:cs typeface="Arial"/>
              </a:rPr>
              <a:t>layout </a:t>
            </a:r>
            <a:r>
              <a:rPr sz="2800" b="1" dirty="0">
                <a:latin typeface="Arial"/>
                <a:cs typeface="Arial"/>
              </a:rPr>
              <a:t>parameters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 indicate how to allocate itself inside its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container</a:t>
            </a:r>
            <a:r>
              <a:rPr sz="2800" spc="-5" dirty="0">
                <a:latin typeface="Arial MT"/>
                <a:cs typeface="Arial MT"/>
              </a:rPr>
              <a:t> (ViewGroup):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022" y="2852928"/>
            <a:ext cx="5572505" cy="33383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37551BC-5761-A61F-9E6D-783077B14B36}"/>
                  </a:ext>
                </a:extLst>
              </p14:cNvPr>
              <p14:cNvContentPartPr/>
              <p14:nvPr/>
            </p14:nvContentPartPr>
            <p14:xfrm>
              <a:off x="698337" y="1554630"/>
              <a:ext cx="180720" cy="4258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37551BC-5761-A61F-9E6D-783077B14B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697" y="1446990"/>
                <a:ext cx="288360" cy="447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1151" y="266477"/>
            <a:ext cx="33566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05" dirty="0"/>
              <a:t> </a:t>
            </a:r>
            <a:r>
              <a:rPr spc="-5" dirty="0"/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019925" cy="402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The widgets are a </a:t>
            </a:r>
            <a:r>
              <a:rPr sz="3200" b="1" spc="-5" dirty="0">
                <a:latin typeface="Arial"/>
                <a:cs typeface="Arial"/>
              </a:rPr>
              <a:t>library </a:t>
            </a:r>
            <a:r>
              <a:rPr sz="3200" spc="-5" dirty="0">
                <a:latin typeface="Arial MT"/>
                <a:cs typeface="Arial MT"/>
              </a:rPr>
              <a:t>of </a:t>
            </a:r>
            <a:r>
              <a:rPr sz="3200" spc="-10" dirty="0">
                <a:latin typeface="Arial MT"/>
                <a:cs typeface="Arial MT"/>
              </a:rPr>
              <a:t>fully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implemented </a:t>
            </a:r>
            <a:r>
              <a:rPr sz="3200" spc="-5" dirty="0">
                <a:latin typeface="Arial MT"/>
                <a:cs typeface="Arial MT"/>
              </a:rPr>
              <a:t>View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classes </a:t>
            </a:r>
            <a:r>
              <a:rPr sz="3200" spc="-10" dirty="0">
                <a:latin typeface="Arial MT"/>
                <a:cs typeface="Arial MT"/>
              </a:rPr>
              <a:t>contained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within the package: </a:t>
            </a:r>
            <a:r>
              <a:rPr sz="3200" b="1" spc="-5" dirty="0">
                <a:latin typeface="Arial"/>
                <a:cs typeface="Arial"/>
              </a:rPr>
              <a:t>android.widget</a:t>
            </a:r>
            <a:r>
              <a:rPr sz="3200" spc="-5" dirty="0">
                <a:latin typeface="Arial MT"/>
                <a:cs typeface="Arial MT"/>
              </a:rPr>
              <a:t>.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Examples 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basic widgets </a:t>
            </a:r>
            <a:r>
              <a:rPr sz="3200" spc="-10" dirty="0">
                <a:latin typeface="Arial MT"/>
                <a:cs typeface="Arial MT"/>
              </a:rPr>
              <a:t>are: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Button,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ToggleButton,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ImageButton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ImageView,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TextView, EditText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CheckBox,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RadioButton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CalendarView,</a:t>
            </a:r>
            <a:r>
              <a:rPr sz="2800" dirty="0">
                <a:latin typeface="Arial MT"/>
                <a:cs typeface="Arial MT"/>
              </a:rPr>
              <a:t> DatePicker,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78FF5FE-ED86-C531-36F1-EAE0C66F77B7}"/>
                  </a:ext>
                </a:extLst>
              </p14:cNvPr>
              <p14:cNvContentPartPr/>
              <p14:nvPr/>
            </p14:nvContentPartPr>
            <p14:xfrm>
              <a:off x="543897" y="1688190"/>
              <a:ext cx="232560" cy="43606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78FF5FE-ED86-C531-36F1-EAE0C66F77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897" y="1580550"/>
                <a:ext cx="340200" cy="45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99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LAYOUTS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027" y="1566672"/>
            <a:ext cx="7171943" cy="37246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50A4C65-3430-6469-B6B3-87A7600E2610}"/>
                  </a:ext>
                </a:extLst>
              </p14:cNvPr>
              <p14:cNvContentPartPr/>
              <p14:nvPr/>
            </p14:nvContentPartPr>
            <p14:xfrm>
              <a:off x="741537" y="1490910"/>
              <a:ext cx="105480" cy="9000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50A4C65-3430-6469-B6B3-87A7600E26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537" y="1383270"/>
                <a:ext cx="213120" cy="11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989AEB7-E7E7-8F43-7F00-E27812FC47F9}"/>
                  </a:ext>
                </a:extLst>
              </p14:cNvPr>
              <p14:cNvContentPartPr/>
              <p14:nvPr/>
            </p14:nvContentPartPr>
            <p14:xfrm>
              <a:off x="574497" y="3538950"/>
              <a:ext cx="60480" cy="750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989AEB7-E7E7-8F43-7F00-E27812FC47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497" y="3430950"/>
                <a:ext cx="168120" cy="9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73BACF2-F25B-BE2A-448F-4DFFE082A81B}"/>
                  </a:ext>
                </a:extLst>
              </p14:cNvPr>
              <p14:cNvContentPartPr/>
              <p14:nvPr/>
            </p14:nvContentPartPr>
            <p14:xfrm>
              <a:off x="523017" y="5364510"/>
              <a:ext cx="91440" cy="3988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73BACF2-F25B-BE2A-448F-4DFFE082A8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9377" y="5256870"/>
                <a:ext cx="199080" cy="61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1384" y="214090"/>
            <a:ext cx="366585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XML</a:t>
            </a:r>
            <a:r>
              <a:rPr spc="-80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1069"/>
            <a:ext cx="7400925" cy="42703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74650" indent="-362585">
              <a:lnSpc>
                <a:spcPct val="100000"/>
              </a:lnSpc>
              <a:spcBef>
                <a:spcPts val="87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ViewGroup.LayoutParams: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android:layout_height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android:layout_width</a:t>
            </a:r>
            <a:endParaRPr sz="2800">
              <a:latin typeface="Arial MT"/>
              <a:cs typeface="Arial MT"/>
            </a:endParaRPr>
          </a:p>
          <a:p>
            <a:pPr marL="374650" indent="-362585">
              <a:lnSpc>
                <a:spcPct val="100000"/>
              </a:lnSpc>
              <a:spcBef>
                <a:spcPts val="76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ViewGroup.MarginLayoutParams: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android:layout_marginBottom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android:layout_marginLeft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android:layout_marginRight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lr>
                <a:srgbClr val="2C7BAC"/>
              </a:buClr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android:layout_marginTop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44E29B7-6013-2081-777F-A18ADDBD2485}"/>
                  </a:ext>
                </a:extLst>
              </p14:cNvPr>
              <p14:cNvContentPartPr/>
              <p14:nvPr/>
            </p14:nvContentPartPr>
            <p14:xfrm>
              <a:off x="288297" y="1845150"/>
              <a:ext cx="235080" cy="38347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44E29B7-6013-2081-777F-A18ADDBD2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657" y="1737510"/>
                <a:ext cx="342720" cy="405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6553" y="266477"/>
            <a:ext cx="53022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PADDING</a:t>
            </a:r>
            <a:r>
              <a:rPr spc="-35" dirty="0"/>
              <a:t> </a:t>
            </a:r>
            <a:r>
              <a:rPr spc="-5" dirty="0"/>
              <a:t>AND</a:t>
            </a:r>
            <a:r>
              <a:rPr spc="-35" dirty="0"/>
              <a:t> </a:t>
            </a:r>
            <a:r>
              <a:rPr spc="-5" dirty="0"/>
              <a:t>MARGINS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455" y="1557528"/>
            <a:ext cx="5171681" cy="44287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2821" y="302990"/>
            <a:ext cx="366585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XML</a:t>
            </a:r>
            <a:r>
              <a:rPr spc="-80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5380355" cy="418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b="1" dirty="0">
                <a:latin typeface="Arial"/>
                <a:cs typeface="Arial"/>
              </a:rPr>
              <a:t>of</a:t>
            </a:r>
            <a:r>
              <a:rPr sz="2500" b="1" spc="-15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FrameLayout.LayoutParams</a:t>
            </a:r>
            <a:r>
              <a:rPr sz="2500" spc="-5" dirty="0">
                <a:latin typeface="Arial MT"/>
                <a:cs typeface="Arial MT"/>
              </a:rPr>
              <a:t>:</a:t>
            </a:r>
            <a:endParaRPr sz="2500">
              <a:latin typeface="Arial MT"/>
              <a:cs typeface="Arial MT"/>
            </a:endParaRPr>
          </a:p>
          <a:p>
            <a:pPr marL="755650" lvl="1" indent="-285750">
              <a:lnSpc>
                <a:spcPts val="2635"/>
              </a:lnSpc>
              <a:spcBef>
                <a:spcPts val="1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android:layout_gravity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ts val="2995"/>
              </a:lnSpc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b="1" dirty="0">
                <a:latin typeface="Arial"/>
                <a:cs typeface="Arial"/>
              </a:rPr>
              <a:t>of</a:t>
            </a:r>
            <a:r>
              <a:rPr sz="2500" b="1" spc="-5" dirty="0">
                <a:latin typeface="Arial"/>
                <a:cs typeface="Arial"/>
              </a:rPr>
              <a:t> LinearLayout.LayoutParams</a:t>
            </a:r>
            <a:r>
              <a:rPr sz="2500" spc="-5" dirty="0">
                <a:latin typeface="Arial MT"/>
                <a:cs typeface="Arial MT"/>
              </a:rPr>
              <a:t>:</a:t>
            </a:r>
            <a:endParaRPr sz="25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android:layout_gravity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ts val="2635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android:layout_weight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ts val="2995"/>
              </a:lnSpc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b="1" dirty="0">
                <a:latin typeface="Arial"/>
                <a:cs typeface="Arial"/>
              </a:rPr>
              <a:t>of</a:t>
            </a:r>
            <a:r>
              <a:rPr sz="2500" b="1" spc="-3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RelativeLayout.LayoutParams</a:t>
            </a:r>
            <a:r>
              <a:rPr sz="2500" spc="-5" dirty="0">
                <a:latin typeface="Arial MT"/>
                <a:cs typeface="Arial MT"/>
              </a:rPr>
              <a:t>:</a:t>
            </a:r>
            <a:endParaRPr sz="25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android:layout_above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android:layout_below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android:layout_alignBottom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android:layout_alignParentBottom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android:layout_toLeftOf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200" spc="-5" dirty="0">
                <a:latin typeface="Arial MT"/>
                <a:cs typeface="Arial MT"/>
              </a:rPr>
              <a:t>etc.</a:t>
            </a:r>
            <a:endParaRPr sz="2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E3EA72F-99BC-5C66-8FCB-C5593F2D2B43}"/>
                  </a:ext>
                </a:extLst>
              </p14:cNvPr>
              <p14:cNvContentPartPr/>
              <p14:nvPr/>
            </p14:nvContentPartPr>
            <p14:xfrm>
              <a:off x="796617" y="1583430"/>
              <a:ext cx="136440" cy="3475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E3EA72F-99BC-5C66-8FCB-C5593F2D2B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977" y="1475430"/>
                <a:ext cx="244080" cy="369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8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</a:t>
            </a:r>
            <a:r>
              <a:rPr dirty="0"/>
              <a:t>R</a:t>
            </a:r>
            <a:r>
              <a:rPr spc="-5" dirty="0"/>
              <a:t>CI</a:t>
            </a:r>
            <a:r>
              <a:rPr spc="-15" dirty="0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296037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Complete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b_login </a:t>
            </a:r>
            <a:r>
              <a:rPr sz="3200" spc="-5" dirty="0">
                <a:latin typeface="Arial MT"/>
                <a:cs typeface="Arial MT"/>
              </a:rPr>
              <a:t>layout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have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form </a:t>
            </a:r>
            <a:r>
              <a:rPr sz="3200" spc="-88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like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this: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9273" y="1197102"/>
            <a:ext cx="3162299" cy="53781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2A2E625-A58E-7C96-4CA3-39DDCFBE27D0}"/>
                  </a:ext>
                </a:extLst>
              </p14:cNvPr>
              <p14:cNvContentPartPr/>
              <p14:nvPr/>
            </p14:nvContentPartPr>
            <p14:xfrm>
              <a:off x="441297" y="1590270"/>
              <a:ext cx="127080" cy="24476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2A2E625-A58E-7C96-4CA3-39DDCFBE27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297" y="1482270"/>
                <a:ext cx="234720" cy="266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8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</a:t>
            </a:r>
            <a:r>
              <a:rPr dirty="0"/>
              <a:t>R</a:t>
            </a:r>
            <a:r>
              <a:rPr spc="-5" dirty="0"/>
              <a:t>CI</a:t>
            </a:r>
            <a:r>
              <a:rPr spc="-15" dirty="0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309626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Complete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c_registration </a:t>
            </a:r>
            <a:r>
              <a:rPr sz="3200" spc="-5" dirty="0">
                <a:latin typeface="Arial MT"/>
                <a:cs typeface="Arial MT"/>
              </a:rPr>
              <a:t> layout to have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form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like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this: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9273" y="1197102"/>
            <a:ext cx="3162299" cy="53781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CF04EF0-A5ED-3717-383A-418578CFC3A2}"/>
                  </a:ext>
                </a:extLst>
              </p14:cNvPr>
              <p14:cNvContentPartPr/>
              <p14:nvPr/>
            </p14:nvContentPartPr>
            <p14:xfrm>
              <a:off x="473697" y="1869270"/>
              <a:ext cx="76320" cy="1918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CF04EF0-A5ED-3717-383A-418578CFC3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697" y="1761630"/>
                <a:ext cx="183960" cy="213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717</Words>
  <Application>Microsoft Office PowerPoint</Application>
  <PresentationFormat>Presentación en pantalla (4:3)</PresentationFormat>
  <Paragraphs>79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Arial MT</vt:lpstr>
      <vt:lpstr>Calibri</vt:lpstr>
      <vt:lpstr>Wingdings</vt:lpstr>
      <vt:lpstr>Office Theme</vt:lpstr>
      <vt:lpstr>Mobile Apps Design</vt:lpstr>
      <vt:lpstr>USER INTERFACE</vt:lpstr>
      <vt:lpstr>USER INTERFACE</vt:lpstr>
      <vt:lpstr>USER INTERFACE</vt:lpstr>
      <vt:lpstr>LAYOUTS</vt:lpstr>
      <vt:lpstr>DECLARATIVE LAYOUT</vt:lpstr>
      <vt:lpstr>CODED LAYOUT</vt:lpstr>
      <vt:lpstr>LAYOUT PARAMETERS</vt:lpstr>
      <vt:lpstr>BASIC WIDGETS</vt:lpstr>
      <vt:lpstr>LAYOUTS</vt:lpstr>
      <vt:lpstr>XML ATTRIBUTES</vt:lpstr>
      <vt:lpstr>PADDING AND MARGINS</vt:lpstr>
      <vt:lpstr>XML ATTRIBUTES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1</cp:revision>
  <dcterms:created xsi:type="dcterms:W3CDTF">2023-11-28T14:40:03Z</dcterms:created>
  <dcterms:modified xsi:type="dcterms:W3CDTF">2023-11-28T15:49:03Z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