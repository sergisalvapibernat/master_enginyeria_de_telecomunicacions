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5:00:05.62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 84 13360 0 0,'0'0'0'0'0,"-7"-25"0"0"0,7 9 0 0 0,3 5 104 0 0,-7-8-64 0 0,1 6 304 0 0,6 31-200 0 0,1-8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5:00:07.55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7528 0 0,'34'17'41'0'0,"-10"-5"26"0"0,8 8 57 0 0,-28-17-115 0 0,-1 0 1 0 0,0 0 0 0 0,0 0-1 0 0,-1 0 1 0 0,1 1-1 0 0,-1-1 1 0 0,1 1 0 0 0,-1 0-1 0 0,0-1 1 0 0,0 1-1 0 0,-1 0 1 0 0,1 0 0 0 0,-1 0-1 0 0,1 5 1 0 0,5 94 862 0 0,9 59-336 0 0,-2-8-86 0 0,6-34-140 0 0,-19-111-280 0 0,0 1-1 0 0,-1 0 1 0 0,-1 14 0 0 0,1 26 68 0 0,12 167 94 0 0,-10-125-137 0 0,-5-9 4 0 0,1-63-39 0 0,1-1 0 0 0,1 0 0 0 0,4 34 1 0 0,1-22 1 0 0,-1 0-1 0 0,-1 1 1 0 0,-2-1 0 0 0,-3 35 0 0 0,2 38 32 0 0,0-7 1 0 0,4 107 39 0 0,-4-191-89 0 0,1 8 12 0 0,-5 38 0 0 0,2-42-5 0 0,0 0-1 0 0,2 0 1 0 0,3 33-1 0 0,4 23 40 0 0,-3 80-1 0 0,-3-53-15 0 0,-3 6 3 0 0,1 18 4 0 0,7 179 63 0 0,1 9-11 0 0,4-183-64 0 0,4 134 125 0 0,-17-207-112 0 0,0-7 16 0 0,5 54 0 0 0,36 458 422 0 0,-28-379-291 0 0,-5-71-115 0 0,8 100 41 0 0,-8-160-81 0 0,9 151 139 0 0,-15-181-155 0 0,6 285 242 0 0,-3-245-213 0 0,20 241 237 0 0,-5-82-3 0 0,3 28-42 0 0,12 205 233 0 0,-32-310-341 0 0,0 30 70 0 0,-23 205 0 0 0,-77 305 286 0 0,83-586-399 0 0,6-47-21 0 0,-3 65 0 0 0,-2 35 22 0 0,7-95-28 0 0,0 93 0 0 0,10-5 46 0 0,8 118 64 0 0,-3-142-113 0 0,1 12 26 0 0,2 37 129 0 0,-3-30-50 0 0,-1 96 32 0 0,1-104-51 0 0,-1 14 111 0 0,-6-71-141 0 0,-5 67 20 0 0,4-131-126 0 0,-4 34 62 0 0,0 63-1 0 0,6-83-36 0 0,0-5 15 0 0,0 0 0 0 0,-2-1 1 0 0,-4 35-1 0 0,-4-2 100 0 0,-3 70 1 0 0,9-96-95 0 0,-10 46 0 0 0,8-49-19 0 0,1 1-1 0 0,-2 31 1 0 0,5-33-8 0 0,1-5 11 0 0,0 1-1 0 0,-2-1 0 0 0,-5 27 0 0 0,3-28-12 0 0,0-1 15 0 0,0 1 1 0 0,1 0 0 0 0,-2 27-1 0 0,5-28-8 0 0,-1 0 1 0 0,-1-1-1 0 0,-1 1 0 0 0,-5 17 0 0 0,6-22-15 0 0,2-6-9 0 0,0 1 0 0 0,-1-1 0 0 0,1 1 0 0 0,0-1-1 0 0,0 1 1 0 0,0-1 0 0 0,1 1 0 0 0,-1-1 0 0 0,1 1-1 0 0,1 3 1 0 0,-2-4 1 0 0,1 0-1 0 0,-1 1 1 0 0,1-1-1 0 0,-1 0 1 0 0,0 1-1 0 0,1-1 1 0 0,-1 0-1 0 0,0 1 1 0 0,-1 2-1 0 0,-6 8 55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2T15:03:49.62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2T15:03:50.74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10892,'-1'-7,"1"-1,-2 1,1-1,-3-8,-4-15,-2-105,8-137,3 149,-1-380,2-612,7 763,78-498,-12 404,35-226,-33-7,-36 24,3-57,102-711,-16-104,-86 965,-28 416,-5-193,-12 295,2 13,-1-1,-2 1,-1 0,-12-50,5 51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5:03:59.89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6632 0 0,'12'8'34'0'0,"5"3"121"0"0,11 9 292 0 0,-25-18-406 0 0,0 1 0 0 0,-1-1 0 0 0,1 1 0 0 0,-1 0 0 0 0,0 0 0 0 0,1 0 0 0 0,-1 1 0 0 0,-1-1 0 0 0,1 0 0 0 0,0 1 0 0 0,-1-1 0 0 0,2 6 0 0 0,24 76 528 0 0,4 21 906 0 0,-19-65-1249 0 0,-5-18-56 0 0,7 39 1 0 0,-13-55-157 0 0,12 85 205 0 0,3 161 0 0 0,-19 29-150 0 0,15-49-54 0 0,-2-81-10 0 0,0 88 3 0 0,-4-158-4 0 0,-1 17-1 0 0,0 113 6 0 0,-2-59 7 0 0,-1-23-8 0 0,7 178 39 0 0,-5-224-30 0 0,6 58 26 0 0,7 42-9 0 0,0-7 2 0 0,-12-147-28 0 0,2 12 18 0 0,-2 1-1 0 0,-1 53 0 0 0,-5-71-14 0 0,0 6 17 0 0,1-1-1 0 0,7 60 1 0 0,-7-89-28 0 0,6 26 18 0 0,-2 1-1 0 0,-1-1 0 0 0,-2 56 0 0 0,-1-76-14 0 0,-9 208 129 0 0,9-130-47 0 0,-2-47-30 0 0,6 47-1 0 0,1 6 19 0 0,-8 109-1 0 0,-1-91-31 0 0,4-55-16 0 0,-8 134 98 0 0,3-139-72 0 0,2-1 1 0 0,5 79-1 0 0,-1-118-46 0 0,3 33 29 0 0,-1 0 1 0 0,-5 71-1 0 0,-4-68-10 0 0,2-20 4 0 0,1 1 0 0 0,1 37 0 0 0,7 64 115 0 0,7 117 56 0 0,-4-129-134 0 0,9 69 24 0 0,-9-128-42 0 0,-2 0 0 0 0,-2 77 1 0 0,-5-115-37 0 0,-2 37 52 0 0,7 92 1 0 0,0-85-17 0 0,-2 0 0 0 0,-10 111 1 0 0,2-35 17 0 0,-4 48 52 0 0,10-182-114 0 0,-22 216 128 0 0,16-115-62 0 0,-26 151 0 0 0,-19 86 109 0 0,32-199-97 0 0,-21 222 95 0 0,29-245-127 0 0,-21 849 416 0 0,33-808-398 0 0,-5 253 127 0 0,1-79 36 0 0,0 171 268 0 0,3-467-426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5:03:34.836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1 366 7528 0 0,'38'0'45'0'0,"-5"1"43"0"0,16-2 51 0 0,-46 0-103 0 0,0 1 0 0 0,1-1 1 0 0,-1 0-1 0 0,0 0 0 0 0,0 0 1 0 0,0-1-1 0 0,0 1 0 0 0,0-1 1 0 0,-1 0-1 0 0,1 0 0 0 0,0 0 1 0 0,-1 0-1 0 0,1 0 0 0 0,-1 0 1 0 0,0-1-1 0 0,0 1 0 0 0,0-1 0 0 0,0 1 1 0 0,0-1-1 0 0,2-6 0 0 0,-3 8 8 0 0,0 0 0 0 0,0 0 0 0 0,-1 0 0 0 0,1-1 0 0 0,0 1 0 0 0,0 0 0 0 0,0 1 0 0 0,1-1 0 0 0,-1 0 0 0 0,0 0-1 0 0,0 0 1 0 0,3-1 0 0 0,9-8 173 0 0,-3-8 181 0 0,-9 16-368 0 0,0 0-1 0 0,0 0 1 0 0,0 0-1 0 0,0 0 1 0 0,0 0-1 0 0,0 0 1 0 0,1 0 0 0 0,-1 1-1 0 0,0-1 1 0 0,1 0-1 0 0,0 1 1 0 0,-1 0 0 0 0,1-1-1 0 0,2-1 1 0 0,13-12 180 0 0,-16 14-198 0 0,1-1-1 0 0,-1 0 1 0 0,0 1-1 0 0,1-1 1 0 0,-1 1-1 0 0,1 0 1 0 0,0 0-1 0 0,-1-1 1 0 0,1 1 0 0 0,0 0-1 0 0,0 0 1 0 0,0 1-1 0 0,0-1 1 0 0,-1 0-1 0 0,1 1 1 0 0,4-2-1 0 0,5 2 14 0 0,-1-1-1 0 0,1 1 1 0 0,-1 1-1 0 0,1 0 1 0 0,0 0-1 0 0,-1 1 1 0 0,14 4-1 0 0,5 4 8 0 0,32 16 1 0 0,-43-18-14 0 0,111 63 95 0 0,-79-48-26 0 0,2-2 1 0 0,96 26-1 0 0,22-1 166 0 0,-97-24-101 0 0,131 21 0 0 0,-67-18-29 0 0,-29-4-27 0 0,-60-16-50 0 0,54-2 1 0 0,-43-1-17 0 0,238-5 211 0 0,-291 3-239 0 0,291-11 286 0 0,-157 14 11 0 0,262 41 1 0 0,-213-18-123 0 0,-34-16-68 0 0,-88-8-71 0 0,244-11 196 0 0,-150-1-104 0 0,101-12 146 0 0,-75 5-177 0 0,-58 6 35 0 0,171-34 1 0 0,-160 16-28 0 0,188-46 206 0 0,-74 14-78 0 0,92-13 114 0 0,4 32-53 0 0,184 1 224 0 0,-272 24-284 0 0,-14 11-1 0 0,-69 5-104 0 0,193 3 199 0 0,-186 5-148 0 0,362-28 332 0 0,-64-1-225 0 0,-235 22-139 0 0,-31-4-30 0 0,36-2 3 0 0,-153 5-71 0 0,114 3 27 0 0,112 12 10 0 0,-258-11-71 0 0,21 0 26 0 0,128 20 0 0 0,-105-11-19 0 0,-24-3-9 0 0,67 4 33 0 0,-94-10-20 0 0,147 7 70 0 0,21-5 0 0 0,-119-4-48 0 0,-8-1-4 0 0,-3 0 79 0 0,111-12 0 0 0,-105 4-60 0 0,224-32 139 0 0,-223 25-161 0 0,-15 2-19 0 0,289-47 113 0 0,-260 41-102 0 0,-31 7-2 0 0,-52 7-18 0 0,39 0 1 0 0,6-1 3 0 0,45-2 19 0 0,-43 5-23 0 0,51-9 3 0 0,107-5 7 0 0,-85 10-19 0 0,-101 6-4 0 0,68-9-1 0 0,-71 4 10 0 0,91 1-1 0 0,236 12 53 0 0,-331-8-49 0 0,-28-1-4 0 0,0 2 0 0 0,0 1 0 0 0,28 4 0 0 0,103 15 91 0 0,-35-6-6 0 0,-18-2 22 0 0,-19 1-37 0 0,-48-9 39 0 0,34 9 0 0 0,-35-6-35 0 0,-1-2-1 0 0,58 2 0 0 0,-8-1 108 0 0,26-1 14 0 0,-66-4-51 0 0,46 6 0 0 0,20 4 60 0 0,-5 2 71 0 0,-52-4-187 0 0,-36-7-65 0 0,-1 0 0 0 0,1 1 0 0 0,-1 1 0 0 0,0 0 0 0 0,14 6 0 0 0,57 17 143 0 0,2 2-21 0 0,18 5-5 0 0,-75-24-47 0 0,50 8 0 0 0,1 1-2 0 0,-54-18-53 0 0,-24-2-47 0 0,0 1 0 0 0,0 0 0 0 0,-1-1 0 0 0,1 1 0 0 0,0 0 0 0 0,0 0 0 0 0,0 1 0 0 0,-1-1-1 0 0,1 0 1 0 0,0 0 0 0 0,0 1 0 0 0,2 1 0 0 0,-1-2 3 0 0,1 1 0 0 0,-1 0 0 0 0,0-1 0 0 0,0 0 0 0 0,1 0 0 0 0,-1 0 0 0 0,0 0 1 0 0,1 0-1 0 0,-1-1 0 0 0,5 0 0 0 0,7-1 15 0 0,3 0 0 0 0,0-1-1 0 0,0 0 1 0 0,0-1-1 0 0,0-1 1 0 0,0-1-1 0 0,25-12 1 0 0,13-3 2 0 0,-36 14-14 0 0,-1-1 0 0 0,23-13 0 0 0,-39 18-4 0 0,3-6-4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5:03:36.533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0 238 8432 0 0,'46'0'180'0'0,"24"2"567"0"0,108 17 1038 0 0,-34 0-253 0 0,206 1 1 0 0,-238-13-1151 0 0,34 1-101 0 0,87 2-199 0 0,246 44 0 0 0,-231-22-89 0 0,136-6-44 0 0,-243-20 33 0 0,506 14-150 0 0,-391-15 89 0 0,258 2-10 0 0,146-12 33 0 0,-360-17 28 0 0,-30 2 22 0 0,296-30 1 0 0,-179 12 4 0 0,170-27 41 0 0,5 0 14 0 0,-125 25 77 0 0,176 15 274 0 0,-180 20-50 0 0,97-7 36 0 0,165-55 117 0 0,-590 55-432 0 0,240-22 147 0 0,-120 24-90 0 0,-117 8-50 0 0,342 8 257 0 0,-2 25 23 0 0,-126-6-134 0 0,-7 4-75 0 0,-274-25-141 0 0,387 51 170 0 0,-176-17-66 0 0,-154-21-68 0 0,33 6 9 0 0,118 21 49 0 0,-212-39-86 0 0,468 79 312 0 0,-321-60-153 0 0,-59-9 29 0 0,103 5 111 0 0,-149-15-190 0 0,31-5 7 0 0,-69-2-40 0 0,43 5-1 0 0,126 13 180 0 0,68 7 16 0 0,0 13-109 0 0,-168-34-108 0 0,-18-2-5 0 0,117-6 169 0 0,-180 4-219 0 0,105-1 106 0 0,20-1 16 0 0,-109 2-87 0 0,51 4 0 0 0,35-1 108 0 0,17-12 100 0 0,-141 10-243 0 0,0 0 0 0 0,0-1 0 0 0,-1 1 0 0 0,1-2 0 0 0,-1 1 0 0 0,1-1 0 0 0,-1 0 0 0 0,0 0-1 0 0,0 0 1 0 0,0-1 0 0 0,6-5 0 0 0,24-14 69 0 0,-24 16-64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5:03:37.613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0 289 8640 0 0,'38'-8'260'0'0,"18"1"750"0"0,-31 4-300 0 0,42-10 0 0 0,146-34 434 0 0,-48 9 236 0 0,-57 11-1010 0 0,-72 20-280 0 0,174-32 706 0 0,100 8 143 0 0,-227 24-790 0 0,25-4-31 0 0,84-6 57 0 0,167 5 29 0 0,282-6-190 0 0,-417 15-25 0 0,366 4-40 0 0,-194 6-27 0 0,-240-6 43 0 0,297-8-63 0 0,-282 8 25 0 0,125 2-64 0 0,429 27-60 0 0,38 9 81 0 0,-315-14 89 0 0,57 2-5 0 0,-44-10 24 0 0,93 9 3 0 0,-249-10 4 0 0,140 41 1 0 0,-297-33 0 0 0,197 47 55 0 0,18 2 18 0 0,-360-72-49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5:03:38.529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1 103 4416 0 0,'65'-9'718'0'0,"-26"5"7"0"0,19 2 596 0 0,137 13 2322 0 0,-147-5-3609 0 0,-23-4 360 0 0,1-1 1 0 0,30-4-1 0 0,16 1-178 0 0,246-15 576 0 0,-181 5-600 0 0,409-42 94 0 0,434 34-228 0 0,-486 40-128 0 0,78 1-35 0 0,-547-21 95 0 0,619 6-180 0 0,411 32 21 0 0,-1037-37 165 0 0,1019 74-63 0 0,128-23 66 0 0,-751-71 1 0 0,-247 8 0 0 0,182-14 14 0 0,207-8 20 0 0,-473 30-19 0 0,179 1 50 0 0,-206 5-3 0 0,0 2-1 0 0,89 19 1 0 0,-75 0 103 0 0,-61-21-131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12T15:03:42.748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19504 177 10752 0 0,'34'0'21'0'0,"5"0"46"0"0,19-1 85 0 0,-37 0-78 0 0,0-1 1 0 0,0-2 0 0 0,28-7-1 0 0,-21 2-38 0 0,-15 4 178 0 0,-10 3-189 0 0,-1 1 0 0 0,1 0 0 0 0,0 0 0 0 0,0 0 0 0 0,0 1 0 0 0,0-1 0 0 0,0 0 0 0 0,0 1 0 0 0,4 0 0 0 0,-4-1-4 0 0,0 0 0 0 0,1 0 0 0 0,-1 0 0 0 0,0-1 0 0 0,0 1 0 0 0,0-1 0 0 0,0 0-1 0 0,0 0 1 0 0,4-4 0 0 0,12-6 77 0 0,1 4-49 0 0,1 0 0 0 0,1 2-1 0 0,-1 0 1 0 0,43-5 0 0 0,-58 10-47 0 0,13 2-1 0 0,-13 0 0 0 0,-2 0 0 0 0,15-1-5 0 0,-17-1-9 0 0,0 3 5 0 0,4 2 4 0 0,-4-3-9 0 0,6 1-181 0 0,-12 1 138 0 0,-21 0-37 0 0,-69-5-52 0 0,72-1 128 0 0,-11-2-21 0 0,-1 2 1 0 0,-45 1-1 0 0,50 2 5 0 0,0-1 0 0 0,-44-8 0 0 0,10 2 7 0 0,-146-11-39 0 0,91 17 52 0 0,-59-5-5 0 0,114 3 17 0 0,-93 6 1 0 0,96 0 0 0 0,-74 1 10 0 0,-203 14 37 0 0,184-8 25 0 0,-54 7 145 0 0,-74 3 254 0 0,158-15-280 0 0,-212 7 371 0 0,192-9-386 0 0,-377 18 535 0 0,502-20-662 0 0,-576 12 834 0 0,-186-66 553 0 0,401 22-625 0 0,90 11-194 0 0,41 7-299 0 0,-265-13 398 0 0,348 23-515 0 0,17 0-72 0 0,-261 5 231 0 0,25 2-54 0 0,95-5 10 0 0,-188 11 148 0 0,-853-10 562 0 0,629-15-612 0 0,530 15-323 0 0,-35-1-4 0 0,-157 0 54 0 0,55 2-6 0 0,-68 5-10 0 0,136 0-63 0 0,29-2-15 0 0,-624 38 8 0 0,326-3-54 0 0,99-4-1 0 0,-225 8 0 0 0,497-36 0 0 0,-54-1 0 0 0,-138 1 0 0 0,68 0 0 0 0,-306 1 0 0 0,400-13 0 0 0,41 0 0 0 0,40 5 0 0 0,-188-7 0 0 0,-192-16 6 0 0,250 17-2 0 0,-508 3 49 0 0,344 7 6 0 0,228 4 12 0 0,-191 32-1 0 0,247-26-35 0 0,10-3-4 0 0,-106 17 102 0 0,-356 41 247 0 0,520-66-366 0 0,-16 0 19 0 0,8-1 38 0 0,-59 12 1 0 0,79-11-64 0 0,-7-3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1622" y="297005"/>
            <a:ext cx="5786627" cy="6922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750" y="285750"/>
            <a:ext cx="2143505" cy="6522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5750" y="6400800"/>
            <a:ext cx="2095499" cy="171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7531" y="266477"/>
            <a:ext cx="4448936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95799" y="2809430"/>
            <a:ext cx="5752401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505" y="2811756"/>
            <a:ext cx="7143749" cy="15918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622" y="835152"/>
            <a:ext cx="3358121" cy="1022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9302" y="881888"/>
            <a:ext cx="1838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5C072C"/>
                </a:solidFill>
                <a:latin typeface="Arial MT"/>
                <a:cs typeface="Arial MT"/>
              </a:rPr>
              <a:t>Postgrado</a:t>
            </a:r>
            <a:r>
              <a:rPr sz="2400" spc="-75" dirty="0">
                <a:solidFill>
                  <a:srgbClr val="5C072C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5C072C"/>
                </a:solidFill>
                <a:latin typeface="Arial MT"/>
                <a:cs typeface="Arial MT"/>
              </a:rPr>
              <a:t>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9302" y="1342897"/>
            <a:ext cx="3888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Mobile</a:t>
            </a:r>
            <a:r>
              <a:rPr sz="3200" spc="-160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Apps</a:t>
            </a:r>
            <a:r>
              <a:rPr sz="3200" spc="-50" dirty="0">
                <a:solidFill>
                  <a:srgbClr val="5C072C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5C072C"/>
                </a:solidFill>
                <a:latin typeface="Arial"/>
                <a:cs typeface="Arial"/>
              </a:rPr>
              <a:t>Design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5980" marR="5080" indent="-84391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EVENT</a:t>
            </a:r>
            <a:r>
              <a:rPr spc="-45" dirty="0"/>
              <a:t> </a:t>
            </a:r>
            <a:r>
              <a:rPr spc="-5" dirty="0"/>
              <a:t>LISTENERS</a:t>
            </a:r>
            <a:r>
              <a:rPr spc="-35" dirty="0"/>
              <a:t> </a:t>
            </a:r>
            <a:r>
              <a:rPr dirty="0"/>
              <a:t>AND </a:t>
            </a:r>
            <a:r>
              <a:rPr spc="-1070" dirty="0"/>
              <a:t> </a:t>
            </a:r>
            <a:r>
              <a:rPr spc="-5" dirty="0"/>
              <a:t>INPUT</a:t>
            </a:r>
            <a:r>
              <a:rPr spc="-20" dirty="0"/>
              <a:t> </a:t>
            </a:r>
            <a:r>
              <a:rPr spc="-5" dirty="0"/>
              <a:t>METHOD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56833" y="5094414"/>
            <a:ext cx="34296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Arial MT"/>
                <a:cs typeface="Arial MT"/>
              </a:rPr>
              <a:t>Juan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Luis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8239" y="266477"/>
            <a:ext cx="37191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EVENT</a:t>
            </a:r>
            <a:r>
              <a:rPr spc="-75" dirty="0"/>
              <a:t> </a:t>
            </a:r>
            <a:r>
              <a:rPr spc="-5" dirty="0"/>
              <a:t>LISTENERS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065"/>
            <a:ext cx="7701280" cy="44018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41910" indent="-342900">
              <a:lnSpc>
                <a:spcPts val="2920"/>
              </a:lnSpc>
              <a:spcBef>
                <a:spcPts val="459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700" dirty="0">
                <a:latin typeface="Arial MT"/>
                <a:cs typeface="Arial MT"/>
              </a:rPr>
              <a:t>To </a:t>
            </a:r>
            <a:r>
              <a:rPr sz="2700" spc="-5" dirty="0">
                <a:latin typeface="Arial MT"/>
                <a:cs typeface="Arial MT"/>
              </a:rPr>
              <a:t>catch the events generated by any View </a:t>
            </a:r>
            <a:r>
              <a:rPr sz="2700" dirty="0">
                <a:latin typeface="Arial MT"/>
                <a:cs typeface="Arial MT"/>
              </a:rPr>
              <a:t>we 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must program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an event listener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and register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that </a:t>
            </a:r>
            <a:r>
              <a:rPr sz="2700" spc="-73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listener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5" dirty="0">
                <a:latin typeface="Arial MT"/>
                <a:cs typeface="Arial MT"/>
              </a:rPr>
              <a:t> the View.</a:t>
            </a:r>
            <a:endParaRPr sz="2700">
              <a:latin typeface="Arial MT"/>
              <a:cs typeface="Arial MT"/>
            </a:endParaRPr>
          </a:p>
          <a:p>
            <a:pPr marL="355600" marR="5080" indent="-342900">
              <a:lnSpc>
                <a:spcPts val="2920"/>
              </a:lnSpc>
              <a:spcBef>
                <a:spcPts val="64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700" dirty="0">
                <a:latin typeface="Arial MT"/>
                <a:cs typeface="Arial MT"/>
              </a:rPr>
              <a:t>To </a:t>
            </a:r>
            <a:r>
              <a:rPr sz="2700" spc="-5" dirty="0">
                <a:latin typeface="Arial MT"/>
                <a:cs typeface="Arial MT"/>
              </a:rPr>
              <a:t>do that </a:t>
            </a:r>
            <a:r>
              <a:rPr sz="2700" dirty="0">
                <a:latin typeface="Arial MT"/>
                <a:cs typeface="Arial MT"/>
              </a:rPr>
              <a:t>we </a:t>
            </a:r>
            <a:r>
              <a:rPr sz="2700" spc="-5" dirty="0">
                <a:latin typeface="Arial MT"/>
                <a:cs typeface="Arial MT"/>
              </a:rPr>
              <a:t>must program the necessary 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methods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of</a:t>
            </a:r>
            <a:r>
              <a:rPr sz="2700" dirty="0">
                <a:latin typeface="Arial MT"/>
                <a:cs typeface="Arial MT"/>
              </a:rPr>
              <a:t> the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interfaces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View.OnxxxListener 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defined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for the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View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class and/or other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Listeners </a:t>
            </a:r>
            <a:r>
              <a:rPr sz="2700" spc="-73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defined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by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classes extending </a:t>
            </a:r>
            <a:r>
              <a:rPr sz="2700" dirty="0">
                <a:latin typeface="Arial MT"/>
                <a:cs typeface="Arial MT"/>
              </a:rPr>
              <a:t>from</a:t>
            </a:r>
            <a:r>
              <a:rPr sz="2700" spc="-5" dirty="0">
                <a:latin typeface="Arial MT"/>
                <a:cs typeface="Arial MT"/>
              </a:rPr>
              <a:t> View, like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in: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C7BAC"/>
              </a:buClr>
              <a:buFont typeface="Wingdings"/>
              <a:buChar char=""/>
            </a:pPr>
            <a:endParaRPr sz="33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View.OnClickListener: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onClick()</a:t>
            </a:r>
            <a:endParaRPr sz="24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View.OnLongClickListener: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onLongClick()</a:t>
            </a:r>
            <a:endParaRPr sz="24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285"/>
              </a:spcBef>
              <a:buClr>
                <a:srgbClr val="2C7BAC"/>
              </a:buClr>
              <a:buFont typeface="Wingdings"/>
              <a:buChar char=""/>
              <a:tabLst>
                <a:tab pos="755015" algn="l"/>
                <a:tab pos="755650" algn="l"/>
              </a:tabLst>
            </a:pPr>
            <a:r>
              <a:rPr sz="2400" spc="-5" dirty="0">
                <a:latin typeface="Arial MT"/>
                <a:cs typeface="Arial MT"/>
              </a:rPr>
              <a:t>View.OnTouchListener: onTouch()</a:t>
            </a:r>
            <a:endParaRPr sz="24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D1B3F7B1-7CCF-F150-43AA-EAB8868BFD32}"/>
                  </a:ext>
                </a:extLst>
              </p14:cNvPr>
              <p14:cNvContentPartPr/>
              <p14:nvPr/>
            </p14:nvContentPartPr>
            <p14:xfrm>
              <a:off x="984537" y="1806270"/>
              <a:ext cx="4320" cy="306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D1B3F7B1-7CCF-F150-43AA-EAB8868BFD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2537" y="1662270"/>
                <a:ext cx="1479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15344B2-3A90-78D9-2C13-3FF895562EAD}"/>
                  </a:ext>
                </a:extLst>
              </p14:cNvPr>
              <p14:cNvContentPartPr/>
              <p14:nvPr/>
            </p14:nvContentPartPr>
            <p14:xfrm>
              <a:off x="857097" y="1732830"/>
              <a:ext cx="162360" cy="41130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15344B2-3A90-78D9-2C13-3FF895562E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097" y="1588830"/>
                <a:ext cx="306000" cy="4400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3597" y="0"/>
            <a:ext cx="484695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6460" marR="5080" indent="-87439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SPECIFYING</a:t>
            </a:r>
            <a:r>
              <a:rPr spc="-55" dirty="0"/>
              <a:t> </a:t>
            </a:r>
            <a:r>
              <a:rPr spc="-5" dirty="0"/>
              <a:t>THE</a:t>
            </a:r>
            <a:r>
              <a:rPr spc="-50" dirty="0"/>
              <a:t> </a:t>
            </a:r>
            <a:r>
              <a:rPr spc="-5" dirty="0"/>
              <a:t>INPUT </a:t>
            </a:r>
            <a:r>
              <a:rPr spc="-890" dirty="0"/>
              <a:t> </a:t>
            </a:r>
            <a:r>
              <a:rPr spc="-5" dirty="0"/>
              <a:t>METHOD</a:t>
            </a:r>
            <a:r>
              <a:rPr spc="-25" dirty="0"/>
              <a:t> </a:t>
            </a:r>
            <a:r>
              <a:rPr spc="-5" dirty="0"/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5013"/>
            <a:ext cx="8060055" cy="42164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marR="142875" indent="-342900">
              <a:lnSpc>
                <a:spcPct val="80000"/>
              </a:lnSpc>
              <a:spcBef>
                <a:spcPts val="7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dirty="0">
                <a:latin typeface="Arial MT"/>
                <a:cs typeface="Arial MT"/>
              </a:rPr>
              <a:t>You </a:t>
            </a:r>
            <a:r>
              <a:rPr sz="2500" spc="-5" dirty="0">
                <a:latin typeface="Arial MT"/>
                <a:cs typeface="Arial MT"/>
              </a:rPr>
              <a:t>should always declare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input method </a:t>
            </a:r>
            <a:r>
              <a:rPr sz="2500" dirty="0">
                <a:latin typeface="Arial MT"/>
                <a:cs typeface="Arial MT"/>
              </a:rPr>
              <a:t>for </a:t>
            </a:r>
            <a:r>
              <a:rPr sz="2500" spc="-5" dirty="0">
                <a:latin typeface="Arial MT"/>
                <a:cs typeface="Arial MT"/>
              </a:rPr>
              <a:t>your </a:t>
            </a:r>
            <a:r>
              <a:rPr sz="2500" dirty="0">
                <a:latin typeface="Arial MT"/>
                <a:cs typeface="Arial MT"/>
              </a:rPr>
              <a:t> text </a:t>
            </a:r>
            <a:r>
              <a:rPr sz="2500" spc="-5" dirty="0">
                <a:latin typeface="Arial MT"/>
                <a:cs typeface="Arial MT"/>
              </a:rPr>
              <a:t>fields by adding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500" u="heavy" spc="-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android:inputType</a:t>
            </a:r>
            <a:r>
              <a:rPr sz="2500" spc="-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attribute </a:t>
            </a:r>
            <a:r>
              <a:rPr sz="2500" dirty="0">
                <a:latin typeface="Arial MT"/>
                <a:cs typeface="Arial MT"/>
              </a:rPr>
              <a:t>to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500" u="heavy" spc="-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&lt;EditText&gt;</a:t>
            </a:r>
            <a:r>
              <a:rPr sz="2500" spc="-1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element: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android:inputType="phone".</a:t>
            </a:r>
            <a:endParaRPr sz="2500">
              <a:latin typeface="Arial MT"/>
              <a:cs typeface="Arial MT"/>
            </a:endParaRPr>
          </a:p>
          <a:p>
            <a:pPr marL="354965" marR="5080" indent="-342900">
              <a:lnSpc>
                <a:spcPct val="80000"/>
              </a:lnSpc>
              <a:spcBef>
                <a:spcPts val="6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dirty="0">
                <a:latin typeface="Arial MT"/>
                <a:cs typeface="Arial MT"/>
              </a:rPr>
              <a:t>You </a:t>
            </a:r>
            <a:r>
              <a:rPr sz="2500" spc="-5" dirty="0">
                <a:latin typeface="Arial MT"/>
                <a:cs typeface="Arial MT"/>
              </a:rPr>
              <a:t>can combine </a:t>
            </a:r>
            <a:r>
              <a:rPr sz="2500" dirty="0">
                <a:latin typeface="Arial MT"/>
                <a:cs typeface="Arial MT"/>
              </a:rPr>
              <a:t>different </a:t>
            </a:r>
            <a:r>
              <a:rPr sz="2500" spc="-5" dirty="0">
                <a:latin typeface="Arial MT"/>
                <a:cs typeface="Arial MT"/>
              </a:rPr>
              <a:t>behaviors and </a:t>
            </a:r>
            <a:r>
              <a:rPr sz="2500" spc="-10" dirty="0">
                <a:latin typeface="Arial MT"/>
                <a:cs typeface="Arial MT"/>
              </a:rPr>
              <a:t>input </a:t>
            </a:r>
            <a:r>
              <a:rPr sz="2500" spc="-5" dirty="0">
                <a:latin typeface="Arial MT"/>
                <a:cs typeface="Arial MT"/>
              </a:rPr>
              <a:t>method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styles </a:t>
            </a:r>
            <a:r>
              <a:rPr sz="2500" spc="-5" dirty="0">
                <a:latin typeface="Arial MT"/>
                <a:cs typeface="Arial MT"/>
              </a:rPr>
              <a:t>with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500" u="heavy" spc="-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android:inputType</a:t>
            </a:r>
            <a:r>
              <a:rPr sz="2500" spc="-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attribute: 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android:inputType= 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"textCapSentences|textAutoCorrect".</a:t>
            </a:r>
            <a:endParaRPr sz="2500">
              <a:latin typeface="Arial MT"/>
              <a:cs typeface="Arial MT"/>
            </a:endParaRPr>
          </a:p>
          <a:p>
            <a:pPr marL="354965" marR="317500" indent="-342900">
              <a:lnSpc>
                <a:spcPct val="80000"/>
              </a:lnSpc>
              <a:spcBef>
                <a:spcPts val="6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spc="-5" dirty="0">
                <a:latin typeface="Arial MT"/>
                <a:cs typeface="Arial MT"/>
              </a:rPr>
              <a:t>Most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soft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input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methods provide</a:t>
            </a:r>
            <a:r>
              <a:rPr sz="2500" dirty="0">
                <a:latin typeface="Arial MT"/>
                <a:cs typeface="Arial MT"/>
              </a:rPr>
              <a:t> a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user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action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button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at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bottom-right corner </a:t>
            </a:r>
            <a:r>
              <a:rPr sz="2500" dirty="0">
                <a:latin typeface="Arial MT"/>
                <a:cs typeface="Arial MT"/>
              </a:rPr>
              <a:t>that's </a:t>
            </a:r>
            <a:r>
              <a:rPr sz="2500" spc="-5" dirty="0">
                <a:latin typeface="Arial MT"/>
                <a:cs typeface="Arial MT"/>
              </a:rPr>
              <a:t>appropriate </a:t>
            </a:r>
            <a:r>
              <a:rPr sz="2500" dirty="0">
                <a:latin typeface="Arial MT"/>
                <a:cs typeface="Arial MT"/>
              </a:rPr>
              <a:t>for the 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current </a:t>
            </a:r>
            <a:r>
              <a:rPr sz="2500" dirty="0">
                <a:latin typeface="Arial MT"/>
                <a:cs typeface="Arial MT"/>
              </a:rPr>
              <a:t>text </a:t>
            </a:r>
            <a:r>
              <a:rPr sz="2500" spc="-5" dirty="0">
                <a:latin typeface="Arial MT"/>
                <a:cs typeface="Arial MT"/>
              </a:rPr>
              <a:t>field. </a:t>
            </a:r>
            <a:r>
              <a:rPr sz="2500" dirty="0">
                <a:latin typeface="Arial MT"/>
                <a:cs typeface="Arial MT"/>
              </a:rPr>
              <a:t>By </a:t>
            </a:r>
            <a:r>
              <a:rPr sz="2500" spc="-5" dirty="0">
                <a:latin typeface="Arial MT"/>
                <a:cs typeface="Arial MT"/>
              </a:rPr>
              <a:t>default, </a:t>
            </a:r>
            <a:r>
              <a:rPr sz="2500" dirty="0">
                <a:latin typeface="Arial MT"/>
                <a:cs typeface="Arial MT"/>
              </a:rPr>
              <a:t>the system </a:t>
            </a:r>
            <a:r>
              <a:rPr sz="2500" spc="-5" dirty="0">
                <a:latin typeface="Arial MT"/>
                <a:cs typeface="Arial MT"/>
              </a:rPr>
              <a:t>uses </a:t>
            </a:r>
            <a:r>
              <a:rPr sz="2500" dirty="0">
                <a:latin typeface="Arial MT"/>
                <a:cs typeface="Arial MT"/>
              </a:rPr>
              <a:t>this 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button </a:t>
            </a:r>
            <a:r>
              <a:rPr sz="2500" dirty="0">
                <a:latin typeface="Arial MT"/>
                <a:cs typeface="Arial MT"/>
              </a:rPr>
              <a:t>for either a </a:t>
            </a:r>
            <a:r>
              <a:rPr sz="2500" b="1" spc="-5" dirty="0">
                <a:latin typeface="Arial"/>
                <a:cs typeface="Arial"/>
              </a:rPr>
              <a:t>Next </a:t>
            </a:r>
            <a:r>
              <a:rPr sz="2500" spc="-5" dirty="0">
                <a:latin typeface="Arial MT"/>
                <a:cs typeface="Arial MT"/>
              </a:rPr>
              <a:t>or </a:t>
            </a:r>
            <a:r>
              <a:rPr sz="2500" b="1" dirty="0">
                <a:latin typeface="Arial"/>
                <a:cs typeface="Arial"/>
              </a:rPr>
              <a:t>Done </a:t>
            </a:r>
            <a:r>
              <a:rPr sz="2500" spc="-5" dirty="0">
                <a:latin typeface="Arial MT"/>
                <a:cs typeface="Arial MT"/>
              </a:rPr>
              <a:t>action, unless your </a:t>
            </a:r>
            <a:r>
              <a:rPr sz="2500" dirty="0">
                <a:latin typeface="Arial MT"/>
                <a:cs typeface="Arial MT"/>
              </a:rPr>
              <a:t> text </a:t>
            </a:r>
            <a:r>
              <a:rPr sz="2500" spc="-5" dirty="0">
                <a:latin typeface="Arial MT"/>
                <a:cs typeface="Arial MT"/>
              </a:rPr>
              <a:t>field allows multi-line </a:t>
            </a:r>
            <a:r>
              <a:rPr sz="2500" dirty="0">
                <a:latin typeface="Arial MT"/>
                <a:cs typeface="Arial MT"/>
              </a:rPr>
              <a:t>text (such </a:t>
            </a:r>
            <a:r>
              <a:rPr sz="2500" spc="-5" dirty="0">
                <a:latin typeface="Arial MT"/>
                <a:cs typeface="Arial MT"/>
              </a:rPr>
              <a:t>as with 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android:inputType </a:t>
            </a:r>
            <a:r>
              <a:rPr sz="2500" dirty="0">
                <a:latin typeface="Arial MT"/>
                <a:cs typeface="Arial MT"/>
              </a:rPr>
              <a:t>=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"textMultiLine").</a:t>
            </a:r>
            <a:endParaRPr sz="25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3E1E76C-62E8-B347-7F7E-8861DDFD34A4}"/>
                  </a:ext>
                </a:extLst>
              </p14:cNvPr>
              <p14:cNvContentPartPr/>
              <p14:nvPr/>
            </p14:nvContentPartPr>
            <p14:xfrm>
              <a:off x="630297" y="5459795"/>
              <a:ext cx="360" cy="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3E1E76C-62E8-B347-7F7E-8861DDFD34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8297" y="53157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002316A-B4C9-BBD9-4BE8-BA05D8C779C6}"/>
                  </a:ext>
                </a:extLst>
              </p14:cNvPr>
              <p14:cNvContentPartPr/>
              <p14:nvPr/>
            </p14:nvContentPartPr>
            <p14:xfrm>
              <a:off x="611577" y="1662875"/>
              <a:ext cx="285840" cy="39214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002316A-B4C9-BBD9-4BE8-BA05D8C779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9577" y="1518875"/>
                <a:ext cx="429480" cy="420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4237" y="266477"/>
            <a:ext cx="57873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SOFT-KEYBOARD</a:t>
            </a:r>
            <a:r>
              <a:rPr spc="-90" dirty="0"/>
              <a:t> </a:t>
            </a:r>
            <a:r>
              <a:rPr spc="-5" dirty="0"/>
              <a:t>VISIBILITY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5013"/>
            <a:ext cx="8049895" cy="3912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marR="114300" indent="-342900" algn="just">
              <a:lnSpc>
                <a:spcPct val="80000"/>
              </a:lnSpc>
              <a:spcBef>
                <a:spcPts val="70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spc="-5" dirty="0">
                <a:latin typeface="Arial MT"/>
                <a:cs typeface="Arial MT"/>
              </a:rPr>
              <a:t>When input </a:t>
            </a:r>
            <a:r>
              <a:rPr sz="2500" dirty="0">
                <a:latin typeface="Arial MT"/>
                <a:cs typeface="Arial MT"/>
              </a:rPr>
              <a:t>focus </a:t>
            </a:r>
            <a:r>
              <a:rPr sz="2500" spc="-5" dirty="0">
                <a:latin typeface="Arial MT"/>
                <a:cs typeface="Arial MT"/>
              </a:rPr>
              <a:t>moves into or out of an editable </a:t>
            </a:r>
            <a:r>
              <a:rPr sz="2500" dirty="0">
                <a:latin typeface="Arial MT"/>
                <a:cs typeface="Arial MT"/>
              </a:rPr>
              <a:t>text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field, </a:t>
            </a:r>
            <a:r>
              <a:rPr sz="2500" dirty="0">
                <a:latin typeface="Arial MT"/>
                <a:cs typeface="Arial MT"/>
              </a:rPr>
              <a:t>Android </a:t>
            </a:r>
            <a:r>
              <a:rPr sz="2500" spc="-5" dirty="0">
                <a:latin typeface="Arial MT"/>
                <a:cs typeface="Arial MT"/>
              </a:rPr>
              <a:t>shows or hides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on-screen keyboard 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as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appropriate.</a:t>
            </a:r>
            <a:endParaRPr sz="2500">
              <a:latin typeface="Arial MT"/>
              <a:cs typeface="Arial MT"/>
            </a:endParaRPr>
          </a:p>
          <a:p>
            <a:pPr marL="355600" marR="5080" indent="-342900">
              <a:lnSpc>
                <a:spcPts val="2400"/>
              </a:lnSpc>
              <a:spcBef>
                <a:spcPts val="58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dirty="0">
                <a:latin typeface="Arial MT"/>
                <a:cs typeface="Arial MT"/>
              </a:rPr>
              <a:t>In </a:t>
            </a:r>
            <a:r>
              <a:rPr sz="2500" spc="-5" dirty="0">
                <a:latin typeface="Arial MT"/>
                <a:cs typeface="Arial MT"/>
              </a:rPr>
              <a:t>some </a:t>
            </a:r>
            <a:r>
              <a:rPr sz="2500" dirty="0">
                <a:latin typeface="Arial MT"/>
                <a:cs typeface="Arial MT"/>
              </a:rPr>
              <a:t>cases though, </a:t>
            </a:r>
            <a:r>
              <a:rPr sz="2500" spc="-5" dirty="0">
                <a:latin typeface="Arial MT"/>
                <a:cs typeface="Arial MT"/>
              </a:rPr>
              <a:t>you might want </a:t>
            </a:r>
            <a:r>
              <a:rPr sz="2500" dirty="0">
                <a:latin typeface="Arial MT"/>
                <a:cs typeface="Arial MT"/>
              </a:rPr>
              <a:t>to </a:t>
            </a:r>
            <a:r>
              <a:rPr sz="2500" spc="-5" dirty="0">
                <a:latin typeface="Arial MT"/>
                <a:cs typeface="Arial MT"/>
              </a:rPr>
              <a:t>more </a:t>
            </a:r>
            <a:r>
              <a:rPr sz="2500" dirty="0">
                <a:latin typeface="Arial MT"/>
                <a:cs typeface="Arial MT"/>
              </a:rPr>
              <a:t>directly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control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visibility of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input method. </a:t>
            </a:r>
            <a:r>
              <a:rPr sz="2500" dirty="0">
                <a:latin typeface="Arial MT"/>
                <a:cs typeface="Arial MT"/>
              </a:rPr>
              <a:t>You </a:t>
            </a:r>
            <a:r>
              <a:rPr sz="2500" spc="-5" dirty="0">
                <a:latin typeface="Arial MT"/>
                <a:cs typeface="Arial MT"/>
              </a:rPr>
              <a:t>can use </a:t>
            </a:r>
            <a:r>
              <a:rPr sz="2500" dirty="0">
                <a:latin typeface="Arial MT"/>
                <a:cs typeface="Arial MT"/>
              </a:rPr>
              <a:t> the</a:t>
            </a:r>
            <a:r>
              <a:rPr sz="2500" spc="-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500" u="heavy" spc="-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InputMethodManager</a:t>
            </a:r>
            <a:r>
              <a:rPr sz="2500" spc="-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show/hide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it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by code.</a:t>
            </a:r>
            <a:endParaRPr sz="2500">
              <a:latin typeface="Arial MT"/>
              <a:cs typeface="Arial MT"/>
            </a:endParaRPr>
          </a:p>
          <a:p>
            <a:pPr marL="354965" marR="9525" indent="-342900">
              <a:lnSpc>
                <a:spcPct val="80000"/>
              </a:lnSpc>
              <a:spcBef>
                <a:spcPts val="620"/>
              </a:spcBef>
              <a:buClr>
                <a:srgbClr val="2C7BAC"/>
              </a:buClr>
              <a:buFont typeface="Wingdings"/>
              <a:buChar char=""/>
              <a:tabLst>
                <a:tab pos="355600" algn="l"/>
              </a:tabLst>
            </a:pPr>
            <a:r>
              <a:rPr sz="2500" spc="-5" dirty="0">
                <a:latin typeface="Arial MT"/>
                <a:cs typeface="Arial MT"/>
              </a:rPr>
              <a:t>When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input method appears on </a:t>
            </a:r>
            <a:r>
              <a:rPr sz="2500" dirty="0">
                <a:latin typeface="Arial MT"/>
                <a:cs typeface="Arial MT"/>
              </a:rPr>
              <a:t>the screen, it 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reduces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amount of</a:t>
            </a:r>
            <a:r>
              <a:rPr sz="2500" spc="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space </a:t>
            </a:r>
            <a:r>
              <a:rPr sz="2500" spc="-10" dirty="0">
                <a:latin typeface="Arial MT"/>
                <a:cs typeface="Arial MT"/>
              </a:rPr>
              <a:t>available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for </a:t>
            </a:r>
            <a:r>
              <a:rPr sz="2500" spc="-5" dirty="0">
                <a:latin typeface="Arial MT"/>
                <a:cs typeface="Arial MT"/>
              </a:rPr>
              <a:t>your app's 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UI.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 </a:t>
            </a:r>
            <a:r>
              <a:rPr sz="2500" spc="-5" dirty="0">
                <a:latin typeface="Arial MT"/>
                <a:cs typeface="Arial MT"/>
              </a:rPr>
              <a:t>declare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your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preferred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treatment</a:t>
            </a:r>
            <a:r>
              <a:rPr sz="2500" spc="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 </a:t>
            </a:r>
            <a:r>
              <a:rPr sz="2500" spc="-5" dirty="0">
                <a:latin typeface="Arial MT"/>
                <a:cs typeface="Arial MT"/>
              </a:rPr>
              <a:t>an activity, 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use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500" u="heavy" spc="-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android:windowSoftInputMode</a:t>
            </a:r>
            <a:r>
              <a:rPr sz="2500" spc="-5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attribute </a:t>
            </a:r>
            <a:r>
              <a:rPr sz="2500" dirty="0">
                <a:latin typeface="Arial MT"/>
                <a:cs typeface="Arial MT"/>
              </a:rPr>
              <a:t>in </a:t>
            </a:r>
            <a:r>
              <a:rPr sz="2500" spc="-5" dirty="0">
                <a:latin typeface="Arial MT"/>
                <a:cs typeface="Arial MT"/>
              </a:rPr>
              <a:t>your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manifest's </a:t>
            </a:r>
            <a:r>
              <a:rPr sz="2500" dirty="0">
                <a:latin typeface="Arial MT"/>
                <a:cs typeface="Arial MT"/>
              </a:rPr>
              <a:t>&lt;activity&gt; </a:t>
            </a:r>
            <a:r>
              <a:rPr sz="2500" spc="-5" dirty="0">
                <a:latin typeface="Arial MT"/>
                <a:cs typeface="Arial MT"/>
              </a:rPr>
              <a:t>element with one of </a:t>
            </a:r>
            <a:r>
              <a:rPr sz="2500" dirty="0">
                <a:latin typeface="Arial MT"/>
                <a:cs typeface="Arial MT"/>
              </a:rPr>
              <a:t>the </a:t>
            </a:r>
            <a:r>
              <a:rPr sz="2500" spc="-5" dirty="0">
                <a:latin typeface="Arial MT"/>
                <a:cs typeface="Arial MT"/>
              </a:rPr>
              <a:t>"adjust" 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values.</a:t>
            </a:r>
            <a:endParaRPr sz="25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2A94783C-B89F-EDFF-7BFA-BBC1EDEA5C2B}"/>
                  </a:ext>
                </a:extLst>
              </p14:cNvPr>
              <p14:cNvContentPartPr/>
              <p14:nvPr/>
            </p14:nvContentPartPr>
            <p14:xfrm>
              <a:off x="616977" y="1585950"/>
              <a:ext cx="140040" cy="40251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2A94783C-B89F-EDFF-7BFA-BBC1EDEA5C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977" y="1441950"/>
                <a:ext cx="283680" cy="431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34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</a:t>
            </a:r>
            <a:r>
              <a:rPr dirty="0"/>
              <a:t>R</a:t>
            </a:r>
            <a:r>
              <a:rPr spc="-5" dirty="0"/>
              <a:t>CI</a:t>
            </a:r>
            <a:r>
              <a:rPr spc="-15" dirty="0"/>
              <a:t>S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690"/>
            <a:ext cx="7644130" cy="2561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Try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to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understand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composition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layout: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e_messages</a:t>
            </a:r>
            <a:endParaRPr sz="3200">
              <a:latin typeface="Arial"/>
              <a:cs typeface="Arial"/>
            </a:endParaRPr>
          </a:p>
          <a:p>
            <a:pPr marL="354965" marR="652145" indent="-342900">
              <a:lnSpc>
                <a:spcPct val="100000"/>
              </a:lnSpc>
              <a:spcBef>
                <a:spcPts val="770"/>
              </a:spcBef>
              <a:buClr>
                <a:srgbClr val="2C7BAC"/>
              </a:buClr>
              <a:buSzPct val="96875"/>
              <a:buFont typeface="Wingdings"/>
              <a:buChar char=""/>
              <a:tabLst>
                <a:tab pos="375285" algn="l"/>
              </a:tabLst>
            </a:pPr>
            <a:r>
              <a:rPr sz="3200" spc="-5" dirty="0">
                <a:latin typeface="Arial MT"/>
                <a:cs typeface="Arial MT"/>
              </a:rPr>
              <a:t>Try to understand the coding of </a:t>
            </a:r>
            <a:r>
              <a:rPr sz="3200" spc="-10" dirty="0">
                <a:latin typeface="Arial MT"/>
                <a:cs typeface="Arial MT"/>
              </a:rPr>
              <a:t>the </a:t>
            </a:r>
            <a:r>
              <a:rPr sz="3200" spc="-5" dirty="0">
                <a:latin typeface="Arial MT"/>
                <a:cs typeface="Arial MT"/>
              </a:rPr>
              <a:t> method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setup_input_text()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activity: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e_MessagesActivity</a:t>
            </a:r>
            <a:endParaRPr sz="32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60042CFC-CF1B-564F-1608-4E1FA36CC1DB}"/>
                  </a:ext>
                </a:extLst>
              </p14:cNvPr>
              <p14:cNvContentPartPr/>
              <p14:nvPr/>
            </p14:nvContentPartPr>
            <p14:xfrm>
              <a:off x="954657" y="2818230"/>
              <a:ext cx="6255360" cy="2419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60042CFC-CF1B-564F-1608-4E1FA36CC1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3017" y="2674230"/>
                <a:ext cx="639900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BA30D04E-F988-D15E-47B2-852555E23961}"/>
                  </a:ext>
                </a:extLst>
              </p14:cNvPr>
              <p14:cNvContentPartPr/>
              <p14:nvPr/>
            </p14:nvContentPartPr>
            <p14:xfrm>
              <a:off x="1072017" y="3304950"/>
              <a:ext cx="6089040" cy="1818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BA30D04E-F988-D15E-47B2-852555E239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0017" y="3161310"/>
                <a:ext cx="623268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ADEE0382-F3DF-DCC3-656B-B09EC724B0A9}"/>
                  </a:ext>
                </a:extLst>
              </p14:cNvPr>
              <p14:cNvContentPartPr/>
              <p14:nvPr/>
            </p14:nvContentPartPr>
            <p14:xfrm>
              <a:off x="863577" y="3749910"/>
              <a:ext cx="3586680" cy="1486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ADEE0382-F3DF-DCC3-656B-B09EC724B0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1577" y="3606270"/>
                <a:ext cx="373032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06E61F85-B1B2-821D-CD2F-602BDE50365F}"/>
                  </a:ext>
                </a:extLst>
              </p14:cNvPr>
              <p14:cNvContentPartPr/>
              <p14:nvPr/>
            </p14:nvContentPartPr>
            <p14:xfrm>
              <a:off x="970497" y="2248350"/>
              <a:ext cx="3507480" cy="770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06E61F85-B1B2-821D-CD2F-602BDE50365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8857" y="2104350"/>
                <a:ext cx="36511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97EE0C82-209E-294A-93BB-83DB3D296148}"/>
                  </a:ext>
                </a:extLst>
              </p14:cNvPr>
              <p14:cNvContentPartPr/>
              <p14:nvPr/>
            </p14:nvContentPartPr>
            <p14:xfrm>
              <a:off x="915417" y="1827510"/>
              <a:ext cx="7235280" cy="13032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97EE0C82-209E-294A-93BB-83DB3D2961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3417" y="1683870"/>
                <a:ext cx="7378920" cy="41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348</Words>
  <Application>Microsoft Office PowerPoint</Application>
  <PresentationFormat>Presentación en pantalla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Arial MT</vt:lpstr>
      <vt:lpstr>Calibri</vt:lpstr>
      <vt:lpstr>Wingdings</vt:lpstr>
      <vt:lpstr>Office Theme</vt:lpstr>
      <vt:lpstr>Mobile Apps Design</vt:lpstr>
      <vt:lpstr>EVENT LISTENERS</vt:lpstr>
      <vt:lpstr>SPECIFYING THE INPUT  METHOD TYPE</vt:lpstr>
      <vt:lpstr>SOFT-KEYBOARD VISIBILITY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POSTGRAU DE DISSENY I CREACIÓ DE VIDEOJOCS</dc:title>
  <dc:creator>Jesús Alonso</dc:creator>
  <cp:lastModifiedBy>Sergi Salvà</cp:lastModifiedBy>
  <cp:revision>1</cp:revision>
  <dcterms:created xsi:type="dcterms:W3CDTF">2023-11-28T14:41:25Z</dcterms:created>
  <dcterms:modified xsi:type="dcterms:W3CDTF">2023-12-12T15:04:11Z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2023-11-24T00:00:00Z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2023-11-28T00:00:00Z</vt:filetime>
  </property>
</Properties>
</file>