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9144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35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8T15:59:10.2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660 0 5016 0 0,'9'33'261'0'0,"-8"-27"-163"0"0,0 0 0 0 0,-1 0-1 0 0,1 0 1 0 0,-1-1 0 0 0,-1 1-1 0 0,-1 10 1 0 0,-1 8 121 0 0,2 1-1 0 0,0 27 1 0 0,-1 25 372 0 0,-27 517 601 0 0,11-334-1125 0 0,4-86-33 0 0,15 82-31 0 0,1-180-3 0 0,16 215 0 0 0,-7-148 0 0 0,-11 236 0 0 0,-12-217 0 0 0,-18 166 0 0 0,-12 19 0 0 0,15-101 0 0 0,-9 26-1 0 0,-19 164 3 0 0,5-93 22 0 0,7-55-8 0 0,41-268-13 0 0,-3 30 15 0 0,-15 59 0 0 0,4-32 14 0 0,-12 131 1 0 0,3-13 3 0 0,0 13 23 0 0,-15 169 93 0 0,-16 621 230 0 0,57-552-173 0 0,0-11 66 0 0,-5 36 45 0 0,-42 451 170 0 0,-2 40 4 0 0,45-793-399 0 0,-12 199 134 0 0,8-315-195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8T15:59:39.3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669 1 7936 0 0,'-2'11'0'0'0,"3"6"4"0"0,3-1 3 0 0,7 7 12 0 0,3 6 19 0 0,-10-16-11 0 0,-1 1 1 0 0,0 0 0 0 0,-1-1-1 0 0,-1 1 1 0 0,0 0-1 0 0,-1 18 1 0 0,-12 85 106 0 0,10-104-121 0 0,-26 175 341 0 0,-20 159 219 0 0,38-232-317 0 0,4 122 1 0 0,7-222-242 0 0,0 200 164 0 0,1 62 31 0 0,2-99-140 0 0,-4-22-16 0 0,-12 441 58 0 0,6-505-95 0 0,-56 674 103 0 0,40-569-91 0 0,-38 315 23 0 0,-46 182 32 0 0,35-188-42 0 0,-7 60 9 0 0,44-303-37 0 0,-17 197 26 0 0,30-255-17 0 0,-35 465 17 0 0,54-643-38 0 0,-25 1100 109 0 0,28-933-96 0 0,-6 7 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8T16:00:07.76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435 0 3000 0 0,'-5'19'3'0'0,"-1"11"14"0"0,2 0 11 0 0,0 15 26 0 0,-7 41 48 0 0,-3-30-66 0 0,8-38-13 0 0,1 1 1 0 0,1 0-1 0 0,1 0 1 0 0,-1 32-1 0 0,7 77 133 0 0,0-30-54 0 0,-2-75-72 0 0,1-1 1 0 0,6 25-1 0 0,-4-24 2 0 0,-1-1 0 0 0,1 26 1 0 0,-11 78 58 0 0,-5-1 1 0 0,-31 139-1 0 0,36-228-80 0 0,-43 192 58 0 0,0 0-9 0 0,-15 97 27 0 0,13 50 12 0 0,2 325 321 0 0,39-429-168 0 0,-4 205 117 0 0,10 417 556 0 0,-15-319-492 0 0,10-333-291 0 0,13 452 299 0 0,7-328-225 0 0,-6-149-47 0 0,-3-48-43 0 0,5 461 245 0 0,2 109 44 0 0,-1-558-348 0 0,13 277 176 0 0,-8-127-23 0 0,-2-58-64 0 0,-4-31-11 0 0,0-67-77 0 0,5 369 88 0 0,-10-391-96 0 0,-1 68 71 0 0,-9-117-59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8T16:05:16.62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21 0 9648 0 0,'-13'349'1406'0'0,"8"-177"-723"0"0,2-81-337 0 0,4-40-200 0 0,-1-50-143 0 0,9 151 299 0 0,4 208 381 0 0,-11-228-527 0 0,0 25-11 0 0,-12 245 110 0 0,19 294-13 0 0,-7-663-233 0 0,41 619 143 0 0,-22-388-103 0 0,-9-11 20 0 0,-6-74-27 0 0,14 668 298 0 0,-23 92 210 0 0,18-415-150 0 0,1-40-4 0 0,-12-207-184 0 0,-2 283 193 0 0,-27-46-18 0 0,5-129-180 0 0,15-251-137 0 0,-17 291 201 0 0,15-341-225 0 0,-27 239 247 0 0,28-283-255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71622" y="297005"/>
            <a:ext cx="5786627" cy="69224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99872" y="429005"/>
            <a:ext cx="1783067" cy="49987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30915" y="266477"/>
            <a:ext cx="6682168" cy="635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579690"/>
            <a:ext cx="8072119" cy="3536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505" y="2811756"/>
            <a:ext cx="7143749" cy="159186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9302" y="879601"/>
            <a:ext cx="3948429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5C072C"/>
                </a:solidFill>
                <a:latin typeface="Arial"/>
                <a:cs typeface="Arial"/>
              </a:rPr>
              <a:t>Distributed</a:t>
            </a:r>
            <a:r>
              <a:rPr sz="3200" spc="-95" dirty="0">
                <a:solidFill>
                  <a:srgbClr val="5C072C"/>
                </a:solidFill>
                <a:latin typeface="Arial"/>
                <a:cs typeface="Arial"/>
              </a:rPr>
              <a:t> </a:t>
            </a:r>
            <a:r>
              <a:rPr sz="3200" spc="-5" dirty="0">
                <a:solidFill>
                  <a:srgbClr val="5C072C"/>
                </a:solidFill>
                <a:latin typeface="Arial"/>
                <a:cs typeface="Arial"/>
              </a:rPr>
              <a:t>Systems </a:t>
            </a:r>
            <a:r>
              <a:rPr sz="3200" spc="-875" dirty="0">
                <a:solidFill>
                  <a:srgbClr val="5C072C"/>
                </a:solidFill>
                <a:latin typeface="Arial"/>
                <a:cs typeface="Arial"/>
              </a:rPr>
              <a:t> </a:t>
            </a:r>
            <a:r>
              <a:rPr sz="3200" spc="-5" dirty="0">
                <a:solidFill>
                  <a:srgbClr val="5C072C"/>
                </a:solidFill>
                <a:latin typeface="Arial"/>
                <a:cs typeface="Arial"/>
              </a:rPr>
              <a:t>and Internet </a:t>
            </a:r>
            <a:r>
              <a:rPr sz="3200" dirty="0">
                <a:solidFill>
                  <a:srgbClr val="5C072C"/>
                </a:solidFill>
                <a:latin typeface="Arial"/>
                <a:cs typeface="Arial"/>
              </a:rPr>
              <a:t> </a:t>
            </a:r>
            <a:r>
              <a:rPr sz="3200" spc="-5" dirty="0">
                <a:solidFill>
                  <a:srgbClr val="5C072C"/>
                </a:solidFill>
                <a:latin typeface="Arial"/>
                <a:cs typeface="Arial"/>
              </a:rPr>
              <a:t>technologies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4755" y="785621"/>
            <a:ext cx="2674619" cy="5714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4755" y="1500378"/>
            <a:ext cx="2642615" cy="74142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049145" y="3175190"/>
            <a:ext cx="50438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5" dirty="0">
                <a:solidFill>
                  <a:srgbClr val="404040"/>
                </a:solidFill>
                <a:latin typeface="Calibri"/>
                <a:cs typeface="Calibri"/>
              </a:rPr>
              <a:t>COMMUNICATIONS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56833" y="5094414"/>
            <a:ext cx="342963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latin typeface="Arial MT"/>
                <a:cs typeface="Arial MT"/>
              </a:rPr>
              <a:t>Juan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Luis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Gorricho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36940" y="648804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539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COMMUNICATIONS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530921"/>
            <a:ext cx="7809230" cy="422021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4965" marR="144145" indent="-342900" algn="just">
              <a:lnSpc>
                <a:spcPts val="3460"/>
              </a:lnSpc>
              <a:spcBef>
                <a:spcPts val="530"/>
              </a:spcBef>
              <a:buClr>
                <a:srgbClr val="2C7BAC"/>
              </a:buClr>
              <a:buSzPct val="96875"/>
              <a:buFont typeface="Wingdings"/>
              <a:buChar char=""/>
              <a:tabLst>
                <a:tab pos="375285" algn="l"/>
              </a:tabLst>
            </a:pPr>
            <a:r>
              <a:rPr sz="3200" spc="-5" dirty="0">
                <a:latin typeface="Arial MT"/>
                <a:cs typeface="Arial MT"/>
              </a:rPr>
              <a:t>We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will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use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conventional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communication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tools / </a:t>
            </a:r>
            <a:r>
              <a:rPr sz="3200" spc="-10" dirty="0">
                <a:latin typeface="Arial MT"/>
                <a:cs typeface="Arial MT"/>
              </a:rPr>
              <a:t>libraries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from Java.</a:t>
            </a:r>
            <a:endParaRPr sz="3200">
              <a:latin typeface="Arial MT"/>
              <a:cs typeface="Arial MT"/>
            </a:endParaRPr>
          </a:p>
          <a:p>
            <a:pPr marL="354965" marR="1296035" indent="-342900" algn="just">
              <a:lnSpc>
                <a:spcPts val="3460"/>
              </a:lnSpc>
              <a:spcBef>
                <a:spcPts val="760"/>
              </a:spcBef>
              <a:buClr>
                <a:srgbClr val="2C7BAC"/>
              </a:buClr>
              <a:buSzPct val="96875"/>
              <a:buFont typeface="Wingdings"/>
              <a:buChar char=""/>
              <a:tabLst>
                <a:tab pos="375920" algn="l"/>
              </a:tabLst>
            </a:pPr>
            <a:r>
              <a:rPr sz="3200" spc="-5" dirty="0">
                <a:latin typeface="Arial MT"/>
                <a:cs typeface="Arial MT"/>
              </a:rPr>
              <a:t>Android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does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not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provide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any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web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services library. To use third-party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providers.</a:t>
            </a:r>
            <a:endParaRPr sz="3200">
              <a:latin typeface="Arial MT"/>
              <a:cs typeface="Arial MT"/>
            </a:endParaRPr>
          </a:p>
          <a:p>
            <a:pPr marL="354965" marR="5080" indent="-342900">
              <a:lnSpc>
                <a:spcPts val="3460"/>
              </a:lnSpc>
              <a:spcBef>
                <a:spcPts val="760"/>
              </a:spcBef>
              <a:buClr>
                <a:srgbClr val="2C7BAC"/>
              </a:buClr>
              <a:buSzPct val="96875"/>
              <a:buFont typeface="Wingdings"/>
              <a:buChar char=""/>
              <a:tabLst>
                <a:tab pos="375920" algn="l"/>
              </a:tabLst>
            </a:pPr>
            <a:r>
              <a:rPr sz="3200" spc="-5" dirty="0">
                <a:latin typeface="Arial MT"/>
                <a:cs typeface="Arial MT"/>
              </a:rPr>
              <a:t>For local communications between </a:t>
            </a:r>
            <a:r>
              <a:rPr sz="3200" spc="-10" dirty="0">
                <a:latin typeface="Arial MT"/>
                <a:cs typeface="Arial MT"/>
              </a:rPr>
              <a:t>the 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emulator </a:t>
            </a:r>
            <a:r>
              <a:rPr sz="3200" spc="-5" dirty="0">
                <a:latin typeface="Arial MT"/>
                <a:cs typeface="Arial MT"/>
              </a:rPr>
              <a:t>and a server </a:t>
            </a:r>
            <a:r>
              <a:rPr sz="3200" spc="-10" dirty="0">
                <a:latin typeface="Arial MT"/>
                <a:cs typeface="Arial MT"/>
              </a:rPr>
              <a:t>running </a:t>
            </a:r>
            <a:r>
              <a:rPr sz="3200" spc="-5" dirty="0">
                <a:latin typeface="Arial MT"/>
                <a:cs typeface="Arial MT"/>
              </a:rPr>
              <a:t>on </a:t>
            </a:r>
            <a:r>
              <a:rPr sz="3200" spc="-10" dirty="0">
                <a:latin typeface="Arial MT"/>
                <a:cs typeface="Arial MT"/>
              </a:rPr>
              <a:t>the </a:t>
            </a:r>
            <a:r>
              <a:rPr sz="3200" spc="-5" dirty="0">
                <a:latin typeface="Arial MT"/>
                <a:cs typeface="Arial MT"/>
              </a:rPr>
              <a:t> localhost, the server will be accessible </a:t>
            </a:r>
            <a:r>
              <a:rPr sz="3200" spc="-10" dirty="0">
                <a:latin typeface="Arial MT"/>
                <a:cs typeface="Arial MT"/>
              </a:rPr>
              <a:t>on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IP:</a:t>
            </a:r>
            <a:r>
              <a:rPr sz="3200" spc="-10" dirty="0">
                <a:latin typeface="Arial MT"/>
                <a:cs typeface="Arial MT"/>
              </a:rPr>
              <a:t> 10.0.2.2</a:t>
            </a:r>
            <a:endParaRPr sz="32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CF372D62-9C2B-CAFE-FA02-F1C24B34DEC2}"/>
                  </a:ext>
                </a:extLst>
              </p14:cNvPr>
              <p14:cNvContentPartPr/>
              <p14:nvPr/>
            </p14:nvContentPartPr>
            <p14:xfrm>
              <a:off x="619497" y="1752623"/>
              <a:ext cx="242280" cy="393336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CF372D62-9C2B-CAFE-FA02-F1C24B34DEC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5497" y="1644623"/>
                <a:ext cx="349920" cy="4149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539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COMMUNICATIONS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2540"/>
            <a:ext cx="7781925" cy="4202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lr>
                <a:srgbClr val="2C7BAC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-5" dirty="0">
                <a:latin typeface="Arial MT"/>
                <a:cs typeface="Arial MT"/>
              </a:rPr>
              <a:t>Example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HTTP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communication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using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package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b="1" spc="-5" dirty="0">
                <a:latin typeface="Arial"/>
                <a:cs typeface="Arial"/>
              </a:rPr>
              <a:t>java.net</a:t>
            </a:r>
            <a:r>
              <a:rPr sz="2000" spc="-5" dirty="0"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50">
              <a:latin typeface="Arial MT"/>
              <a:cs typeface="Arial MT"/>
            </a:endParaRPr>
          </a:p>
          <a:p>
            <a:pPr marL="469900" marR="508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URL url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 new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URL("http://localhost:8080/ServiceExample/login.jsp");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HttpURLConnection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ucon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(HttpURLConnection)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url.openConnection();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ucon.setRequestMethod("POST");</a:t>
            </a:r>
            <a:endParaRPr sz="1800">
              <a:latin typeface="Arial MT"/>
              <a:cs typeface="Arial MT"/>
            </a:endParaRPr>
          </a:p>
          <a:p>
            <a:pPr marL="469900" marR="48514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ucon.setDoInput(true);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ucon.setDoOutput(true);</a:t>
            </a:r>
            <a:endParaRPr sz="1800">
              <a:latin typeface="Arial MT"/>
              <a:cs typeface="Arial MT"/>
            </a:endParaRPr>
          </a:p>
          <a:p>
            <a:pPr marL="469900" marR="1097280" indent="-635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ucon.setRequestProperty("Content-Type",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"application/json");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ucon.setRequestProperty("Accept", "application/json");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OutputStream </a:t>
            </a:r>
            <a:r>
              <a:rPr sz="1800" dirty="0">
                <a:latin typeface="Arial MT"/>
                <a:cs typeface="Arial MT"/>
              </a:rPr>
              <a:t>os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5" dirty="0">
                <a:latin typeface="Arial MT"/>
                <a:cs typeface="Arial MT"/>
              </a:rPr>
              <a:t> ucon.getOutputStream();</a:t>
            </a:r>
            <a:endParaRPr sz="18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...</a:t>
            </a:r>
            <a:endParaRPr sz="18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ucon.connect();</a:t>
            </a:r>
            <a:endParaRPr sz="18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InputStream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 </a:t>
            </a:r>
            <a:r>
              <a:rPr sz="1800" spc="-5" dirty="0">
                <a:latin typeface="Arial MT"/>
                <a:cs typeface="Arial MT"/>
              </a:rPr>
              <a:t>ucon.getInputStream();</a:t>
            </a:r>
            <a:endParaRPr sz="1800">
              <a:latin typeface="Arial MT"/>
              <a:cs typeface="Arial MT"/>
            </a:endParaRPr>
          </a:p>
          <a:p>
            <a:pPr marL="469900" marR="543496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… 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</a:t>
            </a:r>
            <a:r>
              <a:rPr sz="1800" spc="-5" dirty="0">
                <a:latin typeface="Arial MT"/>
                <a:cs typeface="Arial MT"/>
              </a:rPr>
              <a:t>c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5" dirty="0">
                <a:latin typeface="Arial MT"/>
                <a:cs typeface="Arial MT"/>
              </a:rPr>
              <a:t>.</a:t>
            </a:r>
            <a:r>
              <a:rPr sz="1800" dirty="0">
                <a:latin typeface="Arial MT"/>
                <a:cs typeface="Arial MT"/>
              </a:rPr>
              <a:t>di</a:t>
            </a:r>
            <a:r>
              <a:rPr sz="1800" spc="-5" dirty="0">
                <a:latin typeface="Arial MT"/>
                <a:cs typeface="Arial MT"/>
              </a:rPr>
              <a:t>s</a:t>
            </a:r>
            <a:r>
              <a:rPr sz="1800" dirty="0">
                <a:latin typeface="Arial MT"/>
                <a:cs typeface="Arial MT"/>
              </a:rPr>
              <a:t>conne</a:t>
            </a:r>
            <a:r>
              <a:rPr sz="1800" spc="-5" dirty="0">
                <a:latin typeface="Arial MT"/>
                <a:cs typeface="Arial MT"/>
              </a:rPr>
              <a:t>ct</a:t>
            </a:r>
            <a:r>
              <a:rPr sz="1800" dirty="0">
                <a:latin typeface="Arial MT"/>
                <a:cs typeface="Arial MT"/>
              </a:rPr>
              <a:t>();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539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COMMUNICATIONS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79690"/>
            <a:ext cx="7560309" cy="3536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341630" indent="-342900">
              <a:lnSpc>
                <a:spcPct val="100000"/>
              </a:lnSpc>
              <a:spcBef>
                <a:spcPts val="95"/>
              </a:spcBef>
              <a:buClr>
                <a:srgbClr val="2C7BAC"/>
              </a:buClr>
              <a:buSzPct val="96875"/>
              <a:buFont typeface="Wingdings"/>
              <a:buChar char=""/>
              <a:tabLst>
                <a:tab pos="375285" algn="l"/>
              </a:tabLst>
            </a:pPr>
            <a:r>
              <a:rPr sz="3200" spc="-5" dirty="0">
                <a:latin typeface="Arial MT"/>
                <a:cs typeface="Arial MT"/>
              </a:rPr>
              <a:t>Transmission and reception of data </a:t>
            </a:r>
            <a:r>
              <a:rPr sz="3200" spc="-10" dirty="0">
                <a:latin typeface="Arial MT"/>
                <a:cs typeface="Arial MT"/>
              </a:rPr>
              <a:t>is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most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commonly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done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in JSON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format.</a:t>
            </a:r>
            <a:endParaRPr sz="3200">
              <a:latin typeface="Arial MT"/>
              <a:cs typeface="Arial MT"/>
            </a:endParaRPr>
          </a:p>
          <a:p>
            <a:pPr marL="354965" marR="5080" indent="-342900">
              <a:lnSpc>
                <a:spcPct val="100000"/>
              </a:lnSpc>
              <a:spcBef>
                <a:spcPts val="770"/>
              </a:spcBef>
              <a:buClr>
                <a:srgbClr val="2C7BAC"/>
              </a:buClr>
              <a:buSzPct val="96875"/>
              <a:buFont typeface="Wingdings"/>
              <a:buChar char=""/>
              <a:tabLst>
                <a:tab pos="375285" algn="l"/>
              </a:tabLst>
            </a:pPr>
            <a:r>
              <a:rPr sz="3200" spc="-5" dirty="0">
                <a:latin typeface="Arial MT"/>
                <a:cs typeface="Arial MT"/>
              </a:rPr>
              <a:t>The </a:t>
            </a:r>
            <a:r>
              <a:rPr sz="3200" b="1" spc="-5" dirty="0">
                <a:latin typeface="Arial"/>
                <a:cs typeface="Arial"/>
              </a:rPr>
              <a:t>gson </a:t>
            </a:r>
            <a:r>
              <a:rPr sz="3200" spc="-10" dirty="0">
                <a:latin typeface="Arial MT"/>
                <a:cs typeface="Arial MT"/>
              </a:rPr>
              <a:t>library </a:t>
            </a:r>
            <a:r>
              <a:rPr sz="3200" spc="-5" dirty="0">
                <a:latin typeface="Arial MT"/>
                <a:cs typeface="Arial MT"/>
              </a:rPr>
              <a:t>from Google easily 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translates any Java object to its </a:t>
            </a:r>
            <a:r>
              <a:rPr sz="3200" b="1" spc="-5" dirty="0">
                <a:latin typeface="Arial"/>
                <a:cs typeface="Arial"/>
              </a:rPr>
              <a:t>JSON 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spc="-5" dirty="0">
                <a:latin typeface="Arial MT"/>
                <a:cs typeface="Arial MT"/>
              </a:rPr>
              <a:t>content and the other way </a:t>
            </a:r>
            <a:r>
              <a:rPr sz="3200" spc="-10" dirty="0">
                <a:latin typeface="Arial MT"/>
                <a:cs typeface="Arial MT"/>
              </a:rPr>
              <a:t>around. </a:t>
            </a:r>
            <a:r>
              <a:rPr sz="3200" spc="-5" dirty="0">
                <a:latin typeface="Arial MT"/>
                <a:cs typeface="Arial MT"/>
              </a:rPr>
              <a:t>This 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way,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we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can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send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a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plain text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content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to </a:t>
            </a:r>
            <a:r>
              <a:rPr sz="3200" spc="-869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rebuild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the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Java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object at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destination.</a:t>
            </a:r>
            <a:endParaRPr sz="32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39BCF8BE-E7F2-A706-833D-4E9A1F53DCAC}"/>
                  </a:ext>
                </a:extLst>
              </p14:cNvPr>
              <p14:cNvContentPartPr/>
              <p14:nvPr/>
            </p14:nvContentPartPr>
            <p14:xfrm>
              <a:off x="667737" y="1777110"/>
              <a:ext cx="255960" cy="329292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39BCF8BE-E7F2-A706-833D-4E9A1F53DCA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4097" y="1669470"/>
                <a:ext cx="363600" cy="3508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18443" y="266477"/>
            <a:ext cx="197802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EXE</a:t>
            </a:r>
            <a:r>
              <a:rPr dirty="0"/>
              <a:t>R</a:t>
            </a:r>
            <a:r>
              <a:rPr spc="-5" dirty="0"/>
              <a:t>CI</a:t>
            </a:r>
            <a:r>
              <a:rPr spc="-15" dirty="0"/>
              <a:t>S</a:t>
            </a:r>
            <a:r>
              <a:rPr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5013"/>
            <a:ext cx="8046720" cy="39884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4965" marR="80645" indent="-342900">
              <a:lnSpc>
                <a:spcPct val="80000"/>
              </a:lnSpc>
              <a:spcBef>
                <a:spcPts val="700"/>
              </a:spcBef>
              <a:buClr>
                <a:srgbClr val="2C7BAC"/>
              </a:buClr>
              <a:buFont typeface="Wingdings"/>
              <a:buChar char=""/>
              <a:tabLst>
                <a:tab pos="355600" algn="l"/>
              </a:tabLst>
            </a:pPr>
            <a:r>
              <a:rPr sz="2500" dirty="0">
                <a:latin typeface="Arial MT"/>
                <a:cs typeface="Arial MT"/>
              </a:rPr>
              <a:t>For the </a:t>
            </a:r>
            <a:r>
              <a:rPr sz="2500" spc="-5" dirty="0">
                <a:latin typeface="Arial MT"/>
                <a:cs typeface="Arial MT"/>
              </a:rPr>
              <a:t>RPC calls we will use </a:t>
            </a:r>
            <a:r>
              <a:rPr sz="2500" dirty="0">
                <a:latin typeface="Arial MT"/>
                <a:cs typeface="Arial MT"/>
              </a:rPr>
              <a:t>the </a:t>
            </a:r>
            <a:r>
              <a:rPr sz="2500" b="1" spc="-5" dirty="0">
                <a:latin typeface="Arial"/>
                <a:cs typeface="Arial"/>
              </a:rPr>
              <a:t>ProgressDialog </a:t>
            </a:r>
            <a:r>
              <a:rPr sz="2500" b="1" dirty="0">
                <a:latin typeface="Arial"/>
                <a:cs typeface="Arial"/>
              </a:rPr>
              <a:t> </a:t>
            </a:r>
            <a:r>
              <a:rPr sz="2500" spc="-5" dirty="0">
                <a:latin typeface="Arial MT"/>
                <a:cs typeface="Arial MT"/>
              </a:rPr>
              <a:t>class </a:t>
            </a:r>
            <a:r>
              <a:rPr sz="2500" dirty="0">
                <a:latin typeface="Arial MT"/>
                <a:cs typeface="Arial MT"/>
              </a:rPr>
              <a:t>to </a:t>
            </a:r>
            <a:r>
              <a:rPr sz="2500" spc="-5" dirty="0">
                <a:latin typeface="Arial MT"/>
                <a:cs typeface="Arial MT"/>
              </a:rPr>
              <a:t>indicate </a:t>
            </a:r>
            <a:r>
              <a:rPr sz="2500" dirty="0">
                <a:latin typeface="Arial MT"/>
                <a:cs typeface="Arial MT"/>
              </a:rPr>
              <a:t>a </a:t>
            </a:r>
            <a:r>
              <a:rPr sz="2500" spc="-5" dirty="0">
                <a:latin typeface="Arial MT"/>
                <a:cs typeface="Arial MT"/>
              </a:rPr>
              <a:t>communication in progress, and we </a:t>
            </a:r>
            <a:r>
              <a:rPr sz="2500" spc="-680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will use an </a:t>
            </a:r>
            <a:r>
              <a:rPr sz="2500" spc="-10" dirty="0">
                <a:latin typeface="Arial MT"/>
                <a:cs typeface="Arial MT"/>
              </a:rPr>
              <a:t>independent </a:t>
            </a:r>
            <a:r>
              <a:rPr sz="2500" spc="-5" dirty="0">
                <a:latin typeface="Arial MT"/>
                <a:cs typeface="Arial MT"/>
              </a:rPr>
              <a:t>executing </a:t>
            </a:r>
            <a:r>
              <a:rPr sz="2500" dirty="0">
                <a:latin typeface="Arial MT"/>
                <a:cs typeface="Arial MT"/>
              </a:rPr>
              <a:t>thread to </a:t>
            </a:r>
            <a:r>
              <a:rPr sz="2500" spc="-5" dirty="0">
                <a:latin typeface="Arial MT"/>
                <a:cs typeface="Arial MT"/>
              </a:rPr>
              <a:t>program </a:t>
            </a:r>
            <a:r>
              <a:rPr sz="2500" dirty="0">
                <a:latin typeface="Arial MT"/>
                <a:cs typeface="Arial MT"/>
              </a:rPr>
              <a:t> the</a:t>
            </a:r>
            <a:r>
              <a:rPr sz="2500" spc="-5" dirty="0">
                <a:latin typeface="Arial MT"/>
                <a:cs typeface="Arial MT"/>
              </a:rPr>
              <a:t> connection </a:t>
            </a:r>
            <a:r>
              <a:rPr sz="2500" dirty="0">
                <a:latin typeface="Arial MT"/>
                <a:cs typeface="Arial MT"/>
              </a:rPr>
              <a:t>to</a:t>
            </a:r>
            <a:r>
              <a:rPr sz="2500" spc="-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the</a:t>
            </a:r>
            <a:r>
              <a:rPr sz="2500" spc="-5" dirty="0">
                <a:latin typeface="Arial MT"/>
                <a:cs typeface="Arial MT"/>
              </a:rPr>
              <a:t> remote</a:t>
            </a:r>
            <a:r>
              <a:rPr sz="2500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server</a:t>
            </a:r>
            <a:endParaRPr sz="2500">
              <a:latin typeface="Arial MT"/>
              <a:cs typeface="Arial MT"/>
            </a:endParaRPr>
          </a:p>
          <a:p>
            <a:pPr marL="354965" marR="43815" indent="-342900">
              <a:lnSpc>
                <a:spcPct val="80000"/>
              </a:lnSpc>
              <a:spcBef>
                <a:spcPts val="600"/>
              </a:spcBef>
              <a:buClr>
                <a:srgbClr val="2C7BAC"/>
              </a:buClr>
              <a:buFont typeface="Wingdings"/>
              <a:buChar char=""/>
              <a:tabLst>
                <a:tab pos="355600" algn="l"/>
              </a:tabLst>
            </a:pPr>
            <a:r>
              <a:rPr sz="2500" spc="-5" dirty="0">
                <a:latin typeface="Arial MT"/>
                <a:cs typeface="Arial MT"/>
              </a:rPr>
              <a:t>Analyze </a:t>
            </a:r>
            <a:r>
              <a:rPr sz="2500" dirty="0">
                <a:latin typeface="Arial MT"/>
                <a:cs typeface="Arial MT"/>
              </a:rPr>
              <a:t>the </a:t>
            </a:r>
            <a:r>
              <a:rPr sz="2500" spc="-5" dirty="0">
                <a:latin typeface="Arial MT"/>
                <a:cs typeface="Arial MT"/>
              </a:rPr>
              <a:t>coding of b_LoginActivity, intended </a:t>
            </a:r>
            <a:r>
              <a:rPr sz="2500" dirty="0">
                <a:latin typeface="Arial MT"/>
                <a:cs typeface="Arial MT"/>
              </a:rPr>
              <a:t>for the </a:t>
            </a:r>
            <a:r>
              <a:rPr sz="2500" spc="-680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remote</a:t>
            </a:r>
            <a:r>
              <a:rPr sz="2500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call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of</a:t>
            </a:r>
            <a:r>
              <a:rPr sz="2500" spc="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the </a:t>
            </a:r>
            <a:r>
              <a:rPr sz="2500" spc="-5" dirty="0">
                <a:latin typeface="Arial MT"/>
                <a:cs typeface="Arial MT"/>
              </a:rPr>
              <a:t>method</a:t>
            </a:r>
            <a:r>
              <a:rPr sz="2500" spc="-10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login().</a:t>
            </a:r>
            <a:endParaRPr sz="2500">
              <a:latin typeface="Arial MT"/>
              <a:cs typeface="Arial MT"/>
            </a:endParaRPr>
          </a:p>
          <a:p>
            <a:pPr marL="354965" marR="5080" indent="-342900">
              <a:lnSpc>
                <a:spcPct val="80000"/>
              </a:lnSpc>
              <a:spcBef>
                <a:spcPts val="605"/>
              </a:spcBef>
              <a:buClr>
                <a:srgbClr val="2C7BAC"/>
              </a:buClr>
              <a:buFont typeface="Wingdings"/>
              <a:buChar char=""/>
              <a:tabLst>
                <a:tab pos="355600" algn="l"/>
              </a:tabLst>
            </a:pPr>
            <a:r>
              <a:rPr sz="2500" dirty="0">
                <a:latin typeface="Arial MT"/>
                <a:cs typeface="Arial MT"/>
              </a:rPr>
              <a:t>Try </a:t>
            </a:r>
            <a:r>
              <a:rPr sz="2500" spc="-5" dirty="0">
                <a:latin typeface="Arial MT"/>
                <a:cs typeface="Arial MT"/>
              </a:rPr>
              <a:t>and understand </a:t>
            </a:r>
            <a:r>
              <a:rPr sz="2500" dirty="0">
                <a:latin typeface="Arial MT"/>
                <a:cs typeface="Arial MT"/>
              </a:rPr>
              <a:t>the </a:t>
            </a:r>
            <a:r>
              <a:rPr sz="2500" spc="-5" dirty="0">
                <a:latin typeface="Arial MT"/>
                <a:cs typeface="Arial MT"/>
              </a:rPr>
              <a:t>use of Handler and </a:t>
            </a:r>
            <a:r>
              <a:rPr sz="2500" dirty="0">
                <a:latin typeface="Arial MT"/>
                <a:cs typeface="Arial MT"/>
              </a:rPr>
              <a:t> </a:t>
            </a:r>
            <a:r>
              <a:rPr sz="2500" b="1" spc="-5" dirty="0">
                <a:latin typeface="Arial"/>
                <a:cs typeface="Arial"/>
              </a:rPr>
              <a:t>OperationPerformer</a:t>
            </a:r>
            <a:r>
              <a:rPr sz="2500" spc="-5" dirty="0">
                <a:latin typeface="Arial MT"/>
                <a:cs typeface="Arial MT"/>
              </a:rPr>
              <a:t>; and </a:t>
            </a:r>
            <a:r>
              <a:rPr sz="2500" dirty="0">
                <a:latin typeface="Arial MT"/>
                <a:cs typeface="Arial MT"/>
              </a:rPr>
              <a:t>the </a:t>
            </a:r>
            <a:r>
              <a:rPr sz="2500" spc="-5" dirty="0">
                <a:latin typeface="Arial MT"/>
                <a:cs typeface="Arial MT"/>
              </a:rPr>
              <a:t>way </a:t>
            </a:r>
            <a:r>
              <a:rPr sz="2500" dirty="0">
                <a:latin typeface="Arial MT"/>
                <a:cs typeface="Arial MT"/>
              </a:rPr>
              <a:t>the </a:t>
            </a:r>
            <a:r>
              <a:rPr sz="2500" spc="-5" dirty="0">
                <a:latin typeface="Arial MT"/>
                <a:cs typeface="Arial MT"/>
              </a:rPr>
              <a:t>auxiliary </a:t>
            </a:r>
            <a:r>
              <a:rPr sz="2500" dirty="0">
                <a:latin typeface="Arial MT"/>
                <a:cs typeface="Arial MT"/>
              </a:rPr>
              <a:t>thread </a:t>
            </a:r>
            <a:r>
              <a:rPr sz="2500" spc="-680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sends</a:t>
            </a:r>
            <a:r>
              <a:rPr sz="2500" spc="-10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data</a:t>
            </a:r>
            <a:r>
              <a:rPr sz="2500" spc="-2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to</a:t>
            </a:r>
            <a:r>
              <a:rPr sz="2500" spc="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the </a:t>
            </a:r>
            <a:r>
              <a:rPr sz="2500" spc="-5" dirty="0">
                <a:latin typeface="Arial MT"/>
                <a:cs typeface="Arial MT"/>
              </a:rPr>
              <a:t>UI </a:t>
            </a:r>
            <a:r>
              <a:rPr sz="2500" dirty="0">
                <a:latin typeface="Arial MT"/>
                <a:cs typeface="Arial MT"/>
              </a:rPr>
              <a:t>thread.</a:t>
            </a:r>
            <a:endParaRPr sz="2500">
              <a:latin typeface="Arial MT"/>
              <a:cs typeface="Arial MT"/>
            </a:endParaRPr>
          </a:p>
          <a:p>
            <a:pPr marL="355600" marR="43180" indent="-343535">
              <a:lnSpc>
                <a:spcPct val="80000"/>
              </a:lnSpc>
              <a:spcBef>
                <a:spcPts val="600"/>
              </a:spcBef>
              <a:buClr>
                <a:srgbClr val="2C7BAC"/>
              </a:buClr>
              <a:buFont typeface="Wingdings"/>
              <a:buChar char=""/>
              <a:tabLst>
                <a:tab pos="355600" algn="l"/>
              </a:tabLst>
            </a:pPr>
            <a:r>
              <a:rPr sz="2500" dirty="0">
                <a:latin typeface="Arial MT"/>
                <a:cs typeface="Arial MT"/>
              </a:rPr>
              <a:t>The </a:t>
            </a:r>
            <a:r>
              <a:rPr sz="2500" spc="-5" dirty="0">
                <a:latin typeface="Arial MT"/>
                <a:cs typeface="Arial MT"/>
              </a:rPr>
              <a:t>alternative: </a:t>
            </a:r>
            <a:r>
              <a:rPr sz="2500" dirty="0">
                <a:latin typeface="Arial MT"/>
                <a:cs typeface="Arial MT"/>
              </a:rPr>
              <a:t>the </a:t>
            </a:r>
            <a:r>
              <a:rPr sz="2500" spc="-5" dirty="0">
                <a:latin typeface="Arial MT"/>
                <a:cs typeface="Arial MT"/>
              </a:rPr>
              <a:t>use of </a:t>
            </a:r>
            <a:r>
              <a:rPr sz="2500" dirty="0">
                <a:latin typeface="Arial MT"/>
                <a:cs typeface="Arial MT"/>
              </a:rPr>
              <a:t>the </a:t>
            </a:r>
            <a:r>
              <a:rPr sz="2500" b="1" spc="-5" dirty="0">
                <a:latin typeface="Arial"/>
                <a:cs typeface="Arial"/>
              </a:rPr>
              <a:t>AsyncTask </a:t>
            </a:r>
            <a:r>
              <a:rPr sz="2500" spc="-5" dirty="0">
                <a:latin typeface="Arial MT"/>
                <a:cs typeface="Arial MT"/>
              </a:rPr>
              <a:t>class </a:t>
            </a:r>
            <a:r>
              <a:rPr sz="2500" dirty="0">
                <a:latin typeface="Arial MT"/>
                <a:cs typeface="Arial MT"/>
              </a:rPr>
              <a:t>to </a:t>
            </a:r>
            <a:r>
              <a:rPr sz="2500" spc="5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implement </a:t>
            </a:r>
            <a:r>
              <a:rPr sz="2500" dirty="0">
                <a:latin typeface="Arial MT"/>
                <a:cs typeface="Arial MT"/>
              </a:rPr>
              <a:t>the </a:t>
            </a:r>
            <a:r>
              <a:rPr sz="2500" spc="-5" dirty="0">
                <a:latin typeface="Arial MT"/>
                <a:cs typeface="Arial MT"/>
              </a:rPr>
              <a:t>same behavior. </a:t>
            </a:r>
            <a:r>
              <a:rPr sz="2500" dirty="0">
                <a:latin typeface="Arial MT"/>
                <a:cs typeface="Arial MT"/>
              </a:rPr>
              <a:t>This is </a:t>
            </a:r>
            <a:r>
              <a:rPr sz="2500" spc="-10" dirty="0">
                <a:latin typeface="Arial MT"/>
                <a:cs typeface="Arial MT"/>
              </a:rPr>
              <a:t>what </a:t>
            </a:r>
            <a:r>
              <a:rPr sz="2500" spc="-5" dirty="0">
                <a:latin typeface="Arial MT"/>
                <a:cs typeface="Arial MT"/>
              </a:rPr>
              <a:t>we will use </a:t>
            </a:r>
            <a:r>
              <a:rPr sz="2500" spc="-68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to </a:t>
            </a:r>
            <a:r>
              <a:rPr sz="2500" spc="-5" dirty="0">
                <a:latin typeface="Arial MT"/>
                <a:cs typeface="Arial MT"/>
              </a:rPr>
              <a:t>code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the </a:t>
            </a:r>
            <a:r>
              <a:rPr sz="2500" spc="-5" dirty="0">
                <a:latin typeface="Arial MT"/>
                <a:cs typeface="Arial MT"/>
              </a:rPr>
              <a:t>d_UsersListActivity.</a:t>
            </a:r>
            <a:endParaRPr sz="25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EF209DD9-78A7-C60E-0E68-31B509CB1BF4}"/>
                  </a:ext>
                </a:extLst>
              </p14:cNvPr>
              <p14:cNvContentPartPr/>
              <p14:nvPr/>
            </p14:nvContentPartPr>
            <p14:xfrm>
              <a:off x="697977" y="1648590"/>
              <a:ext cx="156960" cy="401292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EF209DD9-78A7-C60E-0E68-31B509CB1BF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3977" y="1540590"/>
                <a:ext cx="264600" cy="4228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18443" y="266477"/>
            <a:ext cx="197802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EXE</a:t>
            </a:r>
            <a:r>
              <a:rPr dirty="0"/>
              <a:t>R</a:t>
            </a:r>
            <a:r>
              <a:rPr spc="-5" dirty="0"/>
              <a:t>CI</a:t>
            </a:r>
            <a:r>
              <a:rPr spc="-15" dirty="0"/>
              <a:t>S</a:t>
            </a:r>
            <a:r>
              <a:rPr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79690"/>
            <a:ext cx="8009890" cy="3536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buClr>
                <a:srgbClr val="2C7BAC"/>
              </a:buClr>
              <a:buSzPct val="96875"/>
              <a:buFont typeface="Wingdings"/>
              <a:buChar char=""/>
              <a:tabLst>
                <a:tab pos="375285" algn="l"/>
              </a:tabLst>
            </a:pPr>
            <a:r>
              <a:rPr sz="3200" spc="-5" dirty="0">
                <a:latin typeface="Arial MT"/>
                <a:cs typeface="Arial MT"/>
              </a:rPr>
              <a:t>Complete</a:t>
            </a:r>
            <a:r>
              <a:rPr sz="3200" spc="12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the</a:t>
            </a:r>
            <a:r>
              <a:rPr sz="3200" spc="12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code</a:t>
            </a:r>
            <a:r>
              <a:rPr sz="3200" spc="114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of</a:t>
            </a:r>
            <a:r>
              <a:rPr sz="3200" spc="12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the 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b="1" spc="-5" dirty="0">
                <a:latin typeface="Arial"/>
                <a:cs typeface="Arial"/>
              </a:rPr>
              <a:t>b_LoginActivity </a:t>
            </a:r>
            <a:r>
              <a:rPr sz="3200" spc="-5" dirty="0">
                <a:latin typeface="Arial MT"/>
                <a:cs typeface="Arial MT"/>
              </a:rPr>
              <a:t>using 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OperationPerformer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to log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into the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system.</a:t>
            </a:r>
            <a:endParaRPr sz="3200">
              <a:latin typeface="Arial MT"/>
              <a:cs typeface="Arial MT"/>
            </a:endParaRPr>
          </a:p>
          <a:p>
            <a:pPr marL="354965" marR="954405" indent="-342900">
              <a:lnSpc>
                <a:spcPct val="100000"/>
              </a:lnSpc>
              <a:spcBef>
                <a:spcPts val="770"/>
              </a:spcBef>
              <a:buClr>
                <a:srgbClr val="2C7BAC"/>
              </a:buClr>
              <a:buSzPct val="96875"/>
              <a:buFont typeface="Wingdings"/>
              <a:buChar char=""/>
              <a:tabLst>
                <a:tab pos="375285" algn="l"/>
              </a:tabLst>
            </a:pPr>
            <a:r>
              <a:rPr sz="3200" spc="-5" dirty="0">
                <a:latin typeface="Arial MT"/>
                <a:cs typeface="Arial MT"/>
              </a:rPr>
              <a:t>Complete the code of </a:t>
            </a:r>
            <a:r>
              <a:rPr sz="3200" spc="-10" dirty="0">
                <a:latin typeface="Arial MT"/>
                <a:cs typeface="Arial MT"/>
              </a:rPr>
              <a:t>the 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b="1" spc="-5" dirty="0">
                <a:latin typeface="Arial"/>
                <a:cs typeface="Arial"/>
              </a:rPr>
              <a:t>c_RegistrationActivity </a:t>
            </a:r>
            <a:r>
              <a:rPr sz="3200" spc="-5" dirty="0">
                <a:latin typeface="Arial MT"/>
                <a:cs typeface="Arial MT"/>
              </a:rPr>
              <a:t>using 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OperationPerformer </a:t>
            </a:r>
            <a:r>
              <a:rPr sz="3200" spc="-5" dirty="0">
                <a:latin typeface="Arial MT"/>
                <a:cs typeface="Arial MT"/>
              </a:rPr>
              <a:t>to register a </a:t>
            </a:r>
            <a:r>
              <a:rPr sz="3200" spc="-10" dirty="0">
                <a:latin typeface="Arial MT"/>
                <a:cs typeface="Arial MT"/>
              </a:rPr>
              <a:t>new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user.</a:t>
            </a:r>
            <a:endParaRPr sz="32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6361BD0E-4A7D-F03B-0202-3361FB9BBADB}"/>
                  </a:ext>
                </a:extLst>
              </p14:cNvPr>
              <p14:cNvContentPartPr/>
              <p14:nvPr/>
            </p14:nvContentPartPr>
            <p14:xfrm>
              <a:off x="620217" y="1988790"/>
              <a:ext cx="59040" cy="341316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6361BD0E-4A7D-F03B-0202-3361FB9BBA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6217" y="1880790"/>
                <a:ext cx="166680" cy="3628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351</Words>
  <Application>Microsoft Office PowerPoint</Application>
  <PresentationFormat>Presentación en pantalla (4:3)</PresentationFormat>
  <Paragraphs>29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Arial MT</vt:lpstr>
      <vt:lpstr>Calibri</vt:lpstr>
      <vt:lpstr>Wingdings</vt:lpstr>
      <vt:lpstr>Office Theme</vt:lpstr>
      <vt:lpstr>Distributed Systems  and Internet  technologies</vt:lpstr>
      <vt:lpstr>COMMUNICATIONS</vt:lpstr>
      <vt:lpstr>COMMUNICATIONS</vt:lpstr>
      <vt:lpstr>COMMUNICATIONS</vt:lpstr>
      <vt:lpstr>EXERCISE</vt:lpstr>
      <vt:lpstr>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 DE POSTGRAU DE DISSENY I CREACIÓ DE VIDEOJOCS</dc:title>
  <dc:creator>Jesús Alonso</dc:creator>
  <cp:lastModifiedBy>Sergi Salvà</cp:lastModifiedBy>
  <cp:revision>1</cp:revision>
  <dcterms:created xsi:type="dcterms:W3CDTF">2023-11-28T14:40:42Z</dcterms:created>
  <dcterms:modified xsi:type="dcterms:W3CDTF">2023-11-28T16:07:56Z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2023-11-24T00:00:00Z</vt:filetime>
  </property>
  <property fmtid="{D5CDD505-2E9C-101B-9397-08002B2CF9AE}" pid="3" name="Creator">
    <vt:lpwstr>Acrobat PDFMaker 22 for PowerPoint</vt:lpwstr>
  </property>
  <property fmtid="{D5CDD505-2E9C-101B-9397-08002B2CF9AE}" pid="4" name="LastSaved">
    <vt:filetime>2023-11-28T00:00:00Z</vt:filetime>
  </property>
</Properties>
</file>