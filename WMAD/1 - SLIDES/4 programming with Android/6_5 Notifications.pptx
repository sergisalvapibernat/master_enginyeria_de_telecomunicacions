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7840" y="299811"/>
            <a:ext cx="5786429" cy="6918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7832" y="287832"/>
            <a:ext cx="2143118" cy="6524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512" y="6405562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9350" y="265715"/>
            <a:ext cx="5825299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7052" y="1365313"/>
            <a:ext cx="8049894" cy="2951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7" y="2818406"/>
            <a:ext cx="7143748" cy="1591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895" y="837107"/>
            <a:ext cx="3357557" cy="10223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302" y="881126"/>
            <a:ext cx="18421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5C082C"/>
                </a:solidFill>
                <a:latin typeface="Arial MT"/>
                <a:cs typeface="Arial MT"/>
              </a:rPr>
              <a:t>Postgrado</a:t>
            </a:r>
            <a:r>
              <a:rPr dirty="0" sz="2400" spc="-65">
                <a:solidFill>
                  <a:srgbClr val="5C082C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C08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4422"/>
            <a:ext cx="3884929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Mobile</a:t>
            </a:r>
            <a:r>
              <a:rPr dirty="0" sz="3200" spc="-14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35">
                <a:solidFill>
                  <a:srgbClr val="5C082C"/>
                </a:solidFill>
                <a:latin typeface="Arial"/>
                <a:cs typeface="Arial"/>
              </a:rPr>
              <a:t>Apps</a:t>
            </a:r>
            <a:r>
              <a:rPr dirty="0" sz="3200" spc="8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69591" y="3174428"/>
            <a:ext cx="400240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" b="1">
                <a:solidFill>
                  <a:srgbClr val="3E3E3E"/>
                </a:solidFill>
                <a:latin typeface="Calibri"/>
                <a:cs typeface="Calibri"/>
              </a:rPr>
              <a:t>NOTIFICATIONS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7595" y="5095938"/>
            <a:ext cx="342900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5">
                <a:latin typeface="Arial MT"/>
                <a:cs typeface="Arial MT"/>
              </a:rPr>
              <a:t>Juan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Luis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36940" y="6488048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8268" y="254603"/>
            <a:ext cx="456819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USER</a:t>
            </a:r>
            <a:r>
              <a:rPr dirty="0" spc="-75"/>
              <a:t> </a:t>
            </a:r>
            <a:r>
              <a:rPr dirty="0"/>
              <a:t>NOTIFICATIONS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7365" y="1881250"/>
            <a:ext cx="6972300" cy="3608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There are</a:t>
            </a:r>
            <a:r>
              <a:rPr dirty="0" sz="3200" spc="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situations</a:t>
            </a:r>
            <a:r>
              <a:rPr dirty="0" sz="3200" spc="-40">
                <a:latin typeface="Arial MT"/>
                <a:cs typeface="Arial MT"/>
              </a:rPr>
              <a:t> </a:t>
            </a:r>
            <a:r>
              <a:rPr dirty="0" sz="3200" spc="-15">
                <a:latin typeface="Arial MT"/>
                <a:cs typeface="Arial MT"/>
              </a:rPr>
              <a:t>where</a:t>
            </a:r>
            <a:r>
              <a:rPr dirty="0" sz="3200" spc="45">
                <a:latin typeface="Arial MT"/>
                <a:cs typeface="Arial MT"/>
              </a:rPr>
              <a:t> </a:t>
            </a:r>
            <a:r>
              <a:rPr dirty="0" sz="3200">
                <a:latin typeface="Arial MT"/>
                <a:cs typeface="Arial MT"/>
              </a:rPr>
              <a:t>it’s </a:t>
            </a:r>
            <a:r>
              <a:rPr dirty="0" sz="3200" spc="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necessary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to notify</a:t>
            </a:r>
            <a:r>
              <a:rPr dirty="0" sz="3200" spc="-20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the user</a:t>
            </a:r>
            <a:r>
              <a:rPr dirty="0" sz="3200" spc="-1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of a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new </a:t>
            </a:r>
            <a:r>
              <a:rPr dirty="0" sz="3200" spc="-869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event</a:t>
            </a:r>
            <a:endParaRPr sz="3200">
              <a:latin typeface="Arial MT"/>
              <a:cs typeface="Arial MT"/>
            </a:endParaRPr>
          </a:p>
          <a:p>
            <a:pPr marL="375285" indent="-363220">
              <a:lnSpc>
                <a:spcPct val="100000"/>
              </a:lnSpc>
              <a:spcBef>
                <a:spcPts val="770"/>
              </a:spcBef>
              <a:buClr>
                <a:srgbClr val="2D7CAD"/>
              </a:buClr>
              <a:buSzPct val="96875"/>
              <a:buFont typeface="Wingdings"/>
              <a:buChar char=""/>
              <a:tabLst>
                <a:tab pos="375920" algn="l"/>
              </a:tabLst>
            </a:pPr>
            <a:r>
              <a:rPr dirty="0" sz="3200" spc="-10">
                <a:latin typeface="Arial MT"/>
                <a:cs typeface="Arial MT"/>
              </a:rPr>
              <a:t>Three</a:t>
            </a:r>
            <a:r>
              <a:rPr dirty="0" sz="3200" spc="-5">
                <a:latin typeface="Arial MT"/>
                <a:cs typeface="Arial MT"/>
              </a:rPr>
              <a:t> notification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15">
                <a:latin typeface="Arial MT"/>
                <a:cs typeface="Arial MT"/>
              </a:rPr>
              <a:t>types</a:t>
            </a:r>
            <a:r>
              <a:rPr dirty="0" sz="3200" spc="40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are</a:t>
            </a:r>
            <a:r>
              <a:rPr dirty="0" sz="3200" spc="-5">
                <a:latin typeface="Arial MT"/>
                <a:cs typeface="Arial MT"/>
              </a:rPr>
              <a:t> defined:</a:t>
            </a:r>
            <a:endParaRPr sz="32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65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Toast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Notification</a:t>
            </a:r>
            <a:endParaRPr sz="2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 spc="-5">
                <a:latin typeface="Arial MT"/>
                <a:cs typeface="Arial MT"/>
              </a:rPr>
              <a:t>Dialog </a:t>
            </a:r>
            <a:r>
              <a:rPr dirty="0" sz="2800">
                <a:latin typeface="Arial MT"/>
                <a:cs typeface="Arial MT"/>
              </a:rPr>
              <a:t>Notification</a:t>
            </a:r>
            <a:endParaRPr sz="2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670"/>
              </a:spcBef>
              <a:buClr>
                <a:srgbClr val="2D7CAD"/>
              </a:buClr>
              <a:buFont typeface="Wingdings"/>
              <a:buChar char=""/>
              <a:tabLst>
                <a:tab pos="756920" algn="l"/>
              </a:tabLst>
            </a:pPr>
            <a:r>
              <a:rPr dirty="0" sz="2800">
                <a:latin typeface="Arial MT"/>
                <a:cs typeface="Arial MT"/>
              </a:rPr>
              <a:t>Status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Bar</a:t>
            </a:r>
            <a:r>
              <a:rPr dirty="0" sz="2800" spc="-1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Notification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634" y="4369436"/>
            <a:ext cx="1820862" cy="12350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96759" y="4224973"/>
            <a:ext cx="1866898" cy="1493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9200">
              <a:lnSpc>
                <a:spcPct val="100000"/>
              </a:lnSpc>
              <a:spcBef>
                <a:spcPts val="105"/>
              </a:spcBef>
            </a:pPr>
            <a:r>
              <a:rPr dirty="0"/>
              <a:t>NOTIFICATIONS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1965"/>
            <a:ext cx="7995284" cy="4065904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56870" marR="15240" indent="-344805">
              <a:lnSpc>
                <a:spcPts val="2500"/>
              </a:lnSpc>
              <a:spcBef>
                <a:spcPts val="69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600" spc="-10" b="1">
                <a:latin typeface="Arial"/>
                <a:cs typeface="Arial"/>
              </a:rPr>
              <a:t>Toast</a:t>
            </a:r>
            <a:r>
              <a:rPr dirty="0" sz="2600" spc="20" b="1">
                <a:latin typeface="Arial"/>
                <a:cs typeface="Arial"/>
              </a:rPr>
              <a:t> </a:t>
            </a:r>
            <a:r>
              <a:rPr dirty="0" sz="2600" spc="-5" b="1">
                <a:latin typeface="Arial"/>
                <a:cs typeface="Arial"/>
              </a:rPr>
              <a:t>Notification</a:t>
            </a:r>
            <a:r>
              <a:rPr dirty="0" sz="2600" spc="-5">
                <a:latin typeface="Arial MT"/>
                <a:cs typeface="Arial MT"/>
              </a:rPr>
              <a:t>: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temporal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“pop-up”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message,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no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interaction</a:t>
            </a:r>
            <a:r>
              <a:rPr dirty="0" sz="2600" spc="8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is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possible,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it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fits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the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size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of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the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content, </a:t>
            </a:r>
            <a:r>
              <a:rPr dirty="0" sz="260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it doesn't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block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the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current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activity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visibility,</a:t>
            </a:r>
            <a:r>
              <a:rPr dirty="0" sz="2600" spc="9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it</a:t>
            </a:r>
            <a:r>
              <a:rPr dirty="0" sz="26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can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be </a:t>
            </a:r>
            <a:r>
              <a:rPr dirty="0" sz="2600" spc="-70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fired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from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a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service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5">
                <a:latin typeface="Arial MT"/>
                <a:cs typeface="Arial MT"/>
              </a:rPr>
              <a:t>even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if</a:t>
            </a:r>
            <a:r>
              <a:rPr dirty="0" sz="260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the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app.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is</a:t>
            </a:r>
            <a:r>
              <a:rPr dirty="0" sz="260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not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visible.</a:t>
            </a:r>
            <a:endParaRPr sz="2600">
              <a:latin typeface="Arial MT"/>
              <a:cs typeface="Arial MT"/>
            </a:endParaRPr>
          </a:p>
          <a:p>
            <a:pPr marL="356870" marR="782955" indent="-344805">
              <a:lnSpc>
                <a:spcPts val="2500"/>
              </a:lnSpc>
              <a:spcBef>
                <a:spcPts val="61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600" spc="-5" b="1">
                <a:latin typeface="Arial"/>
                <a:cs typeface="Arial"/>
              </a:rPr>
              <a:t>Dialog</a:t>
            </a:r>
            <a:r>
              <a:rPr dirty="0" sz="2600" spc="15" b="1">
                <a:latin typeface="Arial"/>
                <a:cs typeface="Arial"/>
              </a:rPr>
              <a:t> </a:t>
            </a:r>
            <a:r>
              <a:rPr dirty="0" sz="2600" spc="-5" b="1">
                <a:latin typeface="Arial"/>
                <a:cs typeface="Arial"/>
              </a:rPr>
              <a:t>Notification</a:t>
            </a:r>
            <a:r>
              <a:rPr dirty="0" sz="2600" spc="-5">
                <a:latin typeface="Arial MT"/>
                <a:cs typeface="Arial MT"/>
              </a:rPr>
              <a:t>: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this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is </a:t>
            </a:r>
            <a:r>
              <a:rPr dirty="0" sz="2600" spc="-10">
                <a:latin typeface="Arial MT"/>
                <a:cs typeface="Arial MT"/>
              </a:rPr>
              <a:t>the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pop-up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dialog 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15">
                <a:latin typeface="Arial MT"/>
                <a:cs typeface="Arial MT"/>
              </a:rPr>
              <a:t>window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used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in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previous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exercises,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current </a:t>
            </a:r>
            <a:r>
              <a:rPr dirty="0" sz="2600" spc="-7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activity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losses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the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focus.</a:t>
            </a:r>
            <a:endParaRPr sz="2600">
              <a:latin typeface="Arial MT"/>
              <a:cs typeface="Arial MT"/>
            </a:endParaRPr>
          </a:p>
          <a:p>
            <a:pPr marL="356870" marR="5080" indent="-344805">
              <a:lnSpc>
                <a:spcPts val="2500"/>
              </a:lnSpc>
              <a:spcBef>
                <a:spcPts val="61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600" spc="-5" b="1">
                <a:latin typeface="Arial"/>
                <a:cs typeface="Arial"/>
              </a:rPr>
              <a:t>Status</a:t>
            </a:r>
            <a:r>
              <a:rPr dirty="0" sz="2600" spc="15" b="1">
                <a:latin typeface="Arial"/>
                <a:cs typeface="Arial"/>
              </a:rPr>
              <a:t> </a:t>
            </a:r>
            <a:r>
              <a:rPr dirty="0" sz="2600" spc="-5" b="1">
                <a:latin typeface="Arial"/>
                <a:cs typeface="Arial"/>
              </a:rPr>
              <a:t>Bar</a:t>
            </a:r>
            <a:r>
              <a:rPr dirty="0" sz="2600" spc="20" b="1">
                <a:latin typeface="Arial"/>
                <a:cs typeface="Arial"/>
              </a:rPr>
              <a:t> </a:t>
            </a:r>
            <a:r>
              <a:rPr dirty="0" sz="2600" spc="-5" b="1">
                <a:latin typeface="Arial"/>
                <a:cs typeface="Arial"/>
              </a:rPr>
              <a:t>Notification</a:t>
            </a:r>
            <a:r>
              <a:rPr dirty="0" sz="2600" spc="-5">
                <a:latin typeface="Arial MT"/>
                <a:cs typeface="Arial MT"/>
              </a:rPr>
              <a:t>: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adds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an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icon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on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</a:t>
            </a:r>
            <a:r>
              <a:rPr dirty="0" sz="2600" spc="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status </a:t>
            </a:r>
            <a:r>
              <a:rPr dirty="0" sz="2600" spc="-70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bar.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Unfolding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status</a:t>
            </a:r>
            <a:r>
              <a:rPr dirty="0" sz="2600" spc="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bar,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icon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can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be</a:t>
            </a:r>
            <a:r>
              <a:rPr dirty="0" sz="2600" spc="25">
                <a:latin typeface="Arial MT"/>
                <a:cs typeface="Arial MT"/>
              </a:rPr>
              <a:t> </a:t>
            </a:r>
            <a:r>
              <a:rPr dirty="0" sz="2600" spc="-15">
                <a:latin typeface="Arial MT"/>
                <a:cs typeface="Arial MT"/>
              </a:rPr>
              <a:t>shown </a:t>
            </a:r>
            <a:r>
              <a:rPr dirty="0" sz="2600" spc="-71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with</a:t>
            </a:r>
            <a:r>
              <a:rPr dirty="0" sz="2600" spc="3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an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associated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text;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clicking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on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that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entry, 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Android</a:t>
            </a:r>
            <a:r>
              <a:rPr dirty="0" sz="2600" spc="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fires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an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intent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previously</a:t>
            </a:r>
            <a:r>
              <a:rPr dirty="0" sz="2600" spc="6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defined</a:t>
            </a:r>
            <a:r>
              <a:rPr dirty="0" sz="2600" spc="7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by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the </a:t>
            </a:r>
            <a:r>
              <a:rPr dirty="0" sz="2600" spc="-5">
                <a:latin typeface="Arial MT"/>
                <a:cs typeface="Arial MT"/>
              </a:rPr>
              <a:t> notification,</a:t>
            </a:r>
            <a:r>
              <a:rPr dirty="0" sz="2600" spc="60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usually</a:t>
            </a:r>
            <a:r>
              <a:rPr dirty="0" sz="2600" spc="4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to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5">
                <a:latin typeface="Arial MT"/>
                <a:cs typeface="Arial MT"/>
              </a:rPr>
              <a:t>start</a:t>
            </a:r>
            <a:r>
              <a:rPr dirty="0" sz="2600" spc="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an</a:t>
            </a:r>
            <a:r>
              <a:rPr dirty="0" sz="2600" spc="1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Activity.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36294" y="0"/>
            <a:ext cx="3348354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 indent="35052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STATUS </a:t>
            </a:r>
            <a:r>
              <a:rPr dirty="0"/>
              <a:t>BAR </a:t>
            </a:r>
            <a:r>
              <a:rPr dirty="0" spc="5"/>
              <a:t> </a:t>
            </a:r>
            <a:r>
              <a:rPr dirty="0" spc="5"/>
              <a:t>NO</a:t>
            </a:r>
            <a:r>
              <a:rPr dirty="0" spc="5"/>
              <a:t>T</a:t>
            </a:r>
            <a:r>
              <a:rPr dirty="0" spc="10"/>
              <a:t>I</a:t>
            </a:r>
            <a:r>
              <a:rPr dirty="0" spc="5"/>
              <a:t>F</a:t>
            </a:r>
            <a:r>
              <a:rPr dirty="0" spc="10"/>
              <a:t>I</a:t>
            </a:r>
            <a:r>
              <a:rPr dirty="0" spc="-10"/>
              <a:t>C</a:t>
            </a:r>
            <a:r>
              <a:rPr dirty="0" spc="-5"/>
              <a:t>A</a:t>
            </a:r>
            <a:r>
              <a:rPr dirty="0" spc="-20"/>
              <a:t>T</a:t>
            </a:r>
            <a:r>
              <a:rPr dirty="0" spc="-15"/>
              <a:t>I</a:t>
            </a:r>
            <a:r>
              <a:rPr dirty="0"/>
              <a:t>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4157"/>
            <a:ext cx="7992109" cy="351409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56870" marR="469900" indent="-344805">
              <a:lnSpc>
                <a:spcPct val="80000"/>
              </a:lnSpc>
              <a:spcBef>
                <a:spcPts val="63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200" spc="5">
                <a:latin typeface="Arial MT"/>
                <a:cs typeface="Arial MT"/>
              </a:rPr>
              <a:t>It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is </a:t>
            </a:r>
            <a:r>
              <a:rPr dirty="0" sz="2200">
                <a:latin typeface="Arial MT"/>
                <a:cs typeface="Arial MT"/>
              </a:rPr>
              <a:t>recommended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spc="5">
                <a:latin typeface="Arial MT"/>
                <a:cs typeface="Arial MT"/>
              </a:rPr>
              <a:t>to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use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 b="1">
                <a:latin typeface="Arial"/>
                <a:cs typeface="Arial"/>
              </a:rPr>
              <a:t>NotificationCompat.Builder</a:t>
            </a:r>
            <a:r>
              <a:rPr dirty="0" sz="2200" spc="-50" b="1">
                <a:latin typeface="Arial"/>
                <a:cs typeface="Arial"/>
              </a:rPr>
              <a:t> </a:t>
            </a:r>
            <a:r>
              <a:rPr dirty="0" sz="2200" spc="5">
                <a:latin typeface="Arial MT"/>
                <a:cs typeface="Arial MT"/>
              </a:rPr>
              <a:t>to </a:t>
            </a:r>
            <a:r>
              <a:rPr dirty="0" sz="2200" spc="-5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create a notification. Invoking at least:</a:t>
            </a:r>
            <a:r>
              <a:rPr dirty="0" sz="220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22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setSmallIcon()</a:t>
            </a:r>
            <a:r>
              <a:rPr dirty="0" sz="2200">
                <a:latin typeface="Arial MT"/>
                <a:cs typeface="Arial MT"/>
              </a:rPr>
              <a:t>, </a:t>
            </a:r>
            <a:r>
              <a:rPr dirty="0" sz="2200" spc="5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22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setContentTitle()</a:t>
            </a:r>
            <a:r>
              <a:rPr dirty="0" sz="2200">
                <a:latin typeface="Arial MT"/>
                <a:cs typeface="Arial MT"/>
              </a:rPr>
              <a:t>,</a:t>
            </a:r>
            <a:r>
              <a:rPr dirty="0" sz="2200" spc="-45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dirty="0" u="heavy" sz="220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Arial MT"/>
                <a:cs typeface="Arial MT"/>
              </a:rPr>
              <a:t>setContentText()</a:t>
            </a:r>
            <a:r>
              <a:rPr dirty="0" sz="220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  <a:p>
            <a:pPr marL="356870" marR="5080" indent="-344805">
              <a:lnSpc>
                <a:spcPts val="2110"/>
              </a:lnSpc>
              <a:spcBef>
                <a:spcPts val="509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200" spc="10">
                <a:latin typeface="Arial MT"/>
                <a:cs typeface="Arial MT"/>
              </a:rPr>
              <a:t>To </a:t>
            </a:r>
            <a:r>
              <a:rPr dirty="0" sz="2200">
                <a:latin typeface="Arial MT"/>
                <a:cs typeface="Arial MT"/>
              </a:rPr>
              <a:t>add </a:t>
            </a:r>
            <a:r>
              <a:rPr dirty="0" sz="2200" spc="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action </a:t>
            </a:r>
            <a:r>
              <a:rPr dirty="0" sz="2200" spc="5">
                <a:latin typeface="Arial MT"/>
                <a:cs typeface="Arial MT"/>
              </a:rPr>
              <a:t>to start </a:t>
            </a:r>
            <a:r>
              <a:rPr dirty="0" sz="2200">
                <a:latin typeface="Arial MT"/>
                <a:cs typeface="Arial MT"/>
              </a:rPr>
              <a:t>an </a:t>
            </a:r>
            <a:r>
              <a:rPr dirty="0" sz="2200" spc="-5">
                <a:latin typeface="Arial MT"/>
                <a:cs typeface="Arial MT"/>
              </a:rPr>
              <a:t>activity </a:t>
            </a:r>
            <a:r>
              <a:rPr dirty="0" sz="2200" spc="10">
                <a:latin typeface="Arial MT"/>
                <a:cs typeface="Arial MT"/>
              </a:rPr>
              <a:t>from </a:t>
            </a:r>
            <a:r>
              <a:rPr dirty="0" sz="2200" spc="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notification </a:t>
            </a:r>
            <a:r>
              <a:rPr dirty="0" sz="2200" spc="-15">
                <a:latin typeface="Arial MT"/>
                <a:cs typeface="Arial MT"/>
              </a:rPr>
              <a:t>we 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must use a </a:t>
            </a:r>
            <a:r>
              <a:rPr dirty="0" sz="2200" b="1">
                <a:latin typeface="Arial"/>
                <a:cs typeface="Arial"/>
              </a:rPr>
              <a:t>PendingIntent </a:t>
            </a:r>
            <a:r>
              <a:rPr dirty="0" sz="2200">
                <a:latin typeface="Arial MT"/>
                <a:cs typeface="Arial MT"/>
              </a:rPr>
              <a:t>object. </a:t>
            </a:r>
            <a:r>
              <a:rPr dirty="0" sz="2200" spc="5">
                <a:latin typeface="Arial MT"/>
                <a:cs typeface="Arial MT"/>
              </a:rPr>
              <a:t>The </a:t>
            </a:r>
            <a:r>
              <a:rPr dirty="0" sz="2200" spc="-5">
                <a:latin typeface="Arial MT"/>
                <a:cs typeface="Arial MT"/>
              </a:rPr>
              <a:t>activity is </a:t>
            </a:r>
            <a:r>
              <a:rPr dirty="0" sz="2200">
                <a:latin typeface="Arial MT"/>
                <a:cs typeface="Arial MT"/>
              </a:rPr>
              <a:t>added </a:t>
            </a:r>
            <a:r>
              <a:rPr dirty="0" sz="2200" spc="5">
                <a:latin typeface="Arial MT"/>
                <a:cs typeface="Arial MT"/>
              </a:rPr>
              <a:t>to </a:t>
            </a:r>
            <a:r>
              <a:rPr dirty="0" sz="2200">
                <a:latin typeface="Arial MT"/>
                <a:cs typeface="Arial MT"/>
              </a:rPr>
              <a:t>the </a:t>
            </a:r>
            <a:r>
              <a:rPr dirty="0" sz="2200" spc="-60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stack of </a:t>
            </a:r>
            <a:r>
              <a:rPr dirty="0" sz="2200" spc="-5">
                <a:latin typeface="Arial MT"/>
                <a:cs typeface="Arial MT"/>
              </a:rPr>
              <a:t>activities </a:t>
            </a:r>
            <a:r>
              <a:rPr dirty="0" sz="2200">
                <a:latin typeface="Arial MT"/>
                <a:cs typeface="Arial MT"/>
              </a:rPr>
              <a:t>of </a:t>
            </a:r>
            <a:r>
              <a:rPr dirty="0" sz="2200" spc="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app. </a:t>
            </a:r>
            <a:r>
              <a:rPr dirty="0" sz="2200" spc="-5">
                <a:latin typeface="Arial MT"/>
                <a:cs typeface="Arial MT"/>
              </a:rPr>
              <a:t>unless </a:t>
            </a:r>
            <a:r>
              <a:rPr dirty="0" sz="2200">
                <a:latin typeface="Arial MT"/>
                <a:cs typeface="Arial MT"/>
              </a:rPr>
              <a:t>a specific technique </a:t>
            </a:r>
            <a:r>
              <a:rPr dirty="0" sz="2200" spc="-5">
                <a:latin typeface="Arial MT"/>
                <a:cs typeface="Arial MT"/>
              </a:rPr>
              <a:t>is 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used.</a:t>
            </a:r>
            <a:endParaRPr sz="2200">
              <a:latin typeface="Arial MT"/>
              <a:cs typeface="Arial MT"/>
            </a:endParaRPr>
          </a:p>
          <a:p>
            <a:pPr marL="356870" marR="450215" indent="-344805">
              <a:lnSpc>
                <a:spcPts val="2110"/>
              </a:lnSpc>
              <a:spcBef>
                <a:spcPts val="53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200" spc="10">
                <a:latin typeface="Arial MT"/>
                <a:cs typeface="Arial MT"/>
              </a:rPr>
              <a:t>To </a:t>
            </a:r>
            <a:r>
              <a:rPr dirty="0" sz="2200">
                <a:latin typeface="Arial MT"/>
                <a:cs typeface="Arial MT"/>
              </a:rPr>
              <a:t>send </a:t>
            </a:r>
            <a:r>
              <a:rPr dirty="0" sz="2200" spc="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notification </a:t>
            </a:r>
            <a:r>
              <a:rPr dirty="0" sz="2200" spc="-15">
                <a:latin typeface="Arial MT"/>
                <a:cs typeface="Arial MT"/>
              </a:rPr>
              <a:t>we </a:t>
            </a:r>
            <a:r>
              <a:rPr dirty="0" sz="2200">
                <a:latin typeface="Arial MT"/>
                <a:cs typeface="Arial MT"/>
              </a:rPr>
              <a:t>use </a:t>
            </a:r>
            <a:r>
              <a:rPr dirty="0" sz="2200" spc="5">
                <a:latin typeface="Arial MT"/>
                <a:cs typeface="Arial MT"/>
              </a:rPr>
              <a:t>the </a:t>
            </a:r>
            <a:r>
              <a:rPr dirty="0" sz="2200" b="1">
                <a:latin typeface="Arial"/>
                <a:cs typeface="Arial"/>
              </a:rPr>
              <a:t>NotificationManager</a:t>
            </a:r>
            <a:r>
              <a:rPr dirty="0" sz="2200">
                <a:latin typeface="Arial MT"/>
                <a:cs typeface="Arial MT"/>
              </a:rPr>
              <a:t>, </a:t>
            </a:r>
            <a:r>
              <a:rPr dirty="0" sz="2200" spc="-60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passing </a:t>
            </a:r>
            <a:r>
              <a:rPr dirty="0" sz="2200">
                <a:latin typeface="Arial MT"/>
                <a:cs typeface="Arial MT"/>
              </a:rPr>
              <a:t>as parameters: an </a:t>
            </a:r>
            <a:r>
              <a:rPr dirty="0" sz="2200" spc="-5">
                <a:latin typeface="Arial MT"/>
                <a:cs typeface="Arial MT"/>
              </a:rPr>
              <a:t>id </a:t>
            </a:r>
            <a:r>
              <a:rPr dirty="0" sz="2200">
                <a:latin typeface="Arial MT"/>
                <a:cs typeface="Arial MT"/>
              </a:rPr>
              <a:t>and </a:t>
            </a:r>
            <a:r>
              <a:rPr dirty="0" sz="2200" spc="5">
                <a:latin typeface="Arial MT"/>
                <a:cs typeface="Arial MT"/>
              </a:rPr>
              <a:t>the </a:t>
            </a:r>
            <a:r>
              <a:rPr dirty="0" sz="2200">
                <a:latin typeface="Arial MT"/>
                <a:cs typeface="Arial MT"/>
              </a:rPr>
              <a:t>notification itself. </a:t>
            </a:r>
            <a:r>
              <a:rPr dirty="0" sz="2200" spc="5">
                <a:latin typeface="Arial MT"/>
                <a:cs typeface="Arial MT"/>
              </a:rPr>
              <a:t> Different</a:t>
            </a:r>
            <a:r>
              <a:rPr dirty="0" sz="2200" spc="-8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ids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mean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 spc="5">
                <a:latin typeface="Arial MT"/>
                <a:cs typeface="Arial MT"/>
              </a:rPr>
              <a:t>different</a:t>
            </a:r>
            <a:r>
              <a:rPr dirty="0" sz="2200" spc="-5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notifications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on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 spc="5">
                <a:latin typeface="Arial MT"/>
                <a:cs typeface="Arial MT"/>
              </a:rPr>
              <a:t>the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 spc="5">
                <a:latin typeface="Arial MT"/>
                <a:cs typeface="Arial MT"/>
              </a:rPr>
              <a:t>status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bar.</a:t>
            </a:r>
            <a:endParaRPr sz="2200">
              <a:latin typeface="Arial MT"/>
              <a:cs typeface="Arial MT"/>
            </a:endParaRPr>
          </a:p>
          <a:p>
            <a:pPr marL="356870" marR="693420" indent="-344805">
              <a:lnSpc>
                <a:spcPts val="2110"/>
              </a:lnSpc>
              <a:spcBef>
                <a:spcPts val="53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200" spc="5">
                <a:latin typeface="Arial MT"/>
                <a:cs typeface="Arial MT"/>
              </a:rPr>
              <a:t>The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notification</a:t>
            </a:r>
            <a:r>
              <a:rPr dirty="0" sz="2200" spc="-4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 set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as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auto-cancelable or</a:t>
            </a:r>
            <a:r>
              <a:rPr dirty="0" sz="2200" spc="-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can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be </a:t>
            </a:r>
            <a:r>
              <a:rPr dirty="0" sz="2200" spc="-60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cancelled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code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(individually</a:t>
            </a:r>
            <a:r>
              <a:rPr dirty="0" sz="2200" spc="6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by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spc="5">
                <a:latin typeface="Arial MT"/>
                <a:cs typeface="Arial MT"/>
              </a:rPr>
              <a:t>ID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5">
                <a:latin typeface="Arial MT"/>
                <a:cs typeface="Arial MT"/>
              </a:rPr>
              <a:t> all</a:t>
            </a:r>
            <a:r>
              <a:rPr dirty="0" sz="2200" spc="2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of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 spc="5">
                <a:latin typeface="Arial MT"/>
                <a:cs typeface="Arial MT"/>
              </a:rPr>
              <a:t>them).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2138362"/>
            <a:ext cx="4076699" cy="14573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36294" y="0"/>
            <a:ext cx="3348354" cy="1245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 indent="350520">
              <a:lnSpc>
                <a:spcPct val="100000"/>
              </a:lnSpc>
              <a:spcBef>
                <a:spcPts val="105"/>
              </a:spcBef>
            </a:pPr>
            <a:r>
              <a:rPr dirty="0" spc="5"/>
              <a:t>STATUS </a:t>
            </a:r>
            <a:r>
              <a:rPr dirty="0"/>
              <a:t>BAR </a:t>
            </a:r>
            <a:r>
              <a:rPr dirty="0" spc="5"/>
              <a:t> </a:t>
            </a:r>
            <a:r>
              <a:rPr dirty="0" spc="5"/>
              <a:t>NO</a:t>
            </a:r>
            <a:r>
              <a:rPr dirty="0" spc="5"/>
              <a:t>T</a:t>
            </a:r>
            <a:r>
              <a:rPr dirty="0" spc="10"/>
              <a:t>I</a:t>
            </a:r>
            <a:r>
              <a:rPr dirty="0" spc="5"/>
              <a:t>F</a:t>
            </a:r>
            <a:r>
              <a:rPr dirty="0" spc="10"/>
              <a:t>I</a:t>
            </a:r>
            <a:r>
              <a:rPr dirty="0" spc="-10"/>
              <a:t>C</a:t>
            </a:r>
            <a:r>
              <a:rPr dirty="0" spc="-5"/>
              <a:t>A</a:t>
            </a:r>
            <a:r>
              <a:rPr dirty="0" spc="-20"/>
              <a:t>T</a:t>
            </a:r>
            <a:r>
              <a:rPr dirty="0" spc="-15"/>
              <a:t>I</a:t>
            </a:r>
            <a:r>
              <a:rPr dirty="0"/>
              <a:t>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7052" y="1365313"/>
            <a:ext cx="7852409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6870" marR="166370" indent="-344805">
              <a:lnSpc>
                <a:spcPct val="100000"/>
              </a:lnSpc>
              <a:spcBef>
                <a:spcPts val="10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400" spc="-5">
                <a:latin typeface="Arial MT"/>
                <a:cs typeface="Arial MT"/>
              </a:rPr>
              <a:t>Two </a:t>
            </a:r>
            <a:r>
              <a:rPr dirty="0" sz="2400">
                <a:latin typeface="Arial MT"/>
                <a:cs typeface="Arial MT"/>
              </a:rPr>
              <a:t>notification </a:t>
            </a:r>
            <a:r>
              <a:rPr dirty="0" sz="2400" spc="-15">
                <a:latin typeface="Arial MT"/>
                <a:cs typeface="Arial MT"/>
              </a:rPr>
              <a:t>views </a:t>
            </a:r>
            <a:r>
              <a:rPr dirty="0" sz="2400" spc="-5">
                <a:latin typeface="Arial MT"/>
                <a:cs typeface="Arial MT"/>
              </a:rPr>
              <a:t>are </a:t>
            </a:r>
            <a:r>
              <a:rPr dirty="0" sz="2400" spc="5">
                <a:latin typeface="Arial MT"/>
                <a:cs typeface="Arial MT"/>
              </a:rPr>
              <a:t>defined: </a:t>
            </a:r>
            <a:r>
              <a:rPr dirty="0" sz="2400">
                <a:latin typeface="Arial MT"/>
                <a:cs typeface="Arial MT"/>
              </a:rPr>
              <a:t>normal and </a:t>
            </a:r>
            <a:r>
              <a:rPr dirty="0" sz="2400" spc="-5">
                <a:latin typeface="Arial MT"/>
                <a:cs typeface="Arial MT"/>
              </a:rPr>
              <a:t>big. </a:t>
            </a:r>
            <a:r>
              <a:rPr dirty="0" sz="2400" spc="10">
                <a:latin typeface="Arial MT"/>
                <a:cs typeface="Arial MT"/>
              </a:rPr>
              <a:t>To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a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big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notification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it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list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you</a:t>
            </a:r>
            <a:r>
              <a:rPr dirty="0" sz="2400" spc="5">
                <a:latin typeface="Arial MT"/>
                <a:cs typeface="Arial MT"/>
              </a:rPr>
              <a:t> must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click</a:t>
            </a:r>
            <a:r>
              <a:rPr dirty="0" sz="2400" spc="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it.</a:t>
            </a:r>
            <a:endParaRPr sz="2400">
              <a:latin typeface="Arial MT"/>
              <a:cs typeface="Arial MT"/>
            </a:endParaRPr>
          </a:p>
          <a:p>
            <a:pPr algn="just" marL="356870" indent="-344805">
              <a:lnSpc>
                <a:spcPct val="100000"/>
              </a:lnSpc>
              <a:spcBef>
                <a:spcPts val="57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400">
                <a:latin typeface="Arial MT"/>
                <a:cs typeface="Arial MT"/>
              </a:rPr>
              <a:t>Normal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View: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2D7CAD"/>
              </a:buClr>
              <a:buFont typeface="Wingdings"/>
              <a:buChar char=""/>
            </a:pPr>
            <a:endParaRPr sz="2700">
              <a:latin typeface="Arial MT"/>
              <a:cs typeface="Arial MT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208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400" spc="-5">
                <a:latin typeface="Arial MT"/>
                <a:cs typeface="Arial MT"/>
              </a:rPr>
              <a:t>Big </a:t>
            </a:r>
            <a:r>
              <a:rPr dirty="0" sz="2400" spc="-10">
                <a:latin typeface="Arial MT"/>
                <a:cs typeface="Arial MT"/>
              </a:rPr>
              <a:t>View: </a:t>
            </a:r>
            <a:r>
              <a:rPr dirty="0" sz="2400">
                <a:latin typeface="Arial MT"/>
                <a:cs typeface="Arial MT"/>
              </a:rPr>
              <a:t>Each </a:t>
            </a:r>
            <a:r>
              <a:rPr dirty="0" sz="2400" spc="-5">
                <a:latin typeface="Arial MT"/>
                <a:cs typeface="Arial MT"/>
              </a:rPr>
              <a:t>big </a:t>
            </a:r>
            <a:r>
              <a:rPr dirty="0" sz="2400" spc="-10">
                <a:latin typeface="Arial MT"/>
                <a:cs typeface="Arial MT"/>
              </a:rPr>
              <a:t>view style </a:t>
            </a:r>
            <a:r>
              <a:rPr dirty="0" sz="2400">
                <a:latin typeface="Arial MT"/>
                <a:cs typeface="Arial MT"/>
              </a:rPr>
              <a:t>sets </a:t>
            </a:r>
            <a:r>
              <a:rPr dirty="0" sz="2400" spc="-5">
                <a:latin typeface="Arial MT"/>
                <a:cs typeface="Arial MT"/>
              </a:rPr>
              <a:t>area </a:t>
            </a:r>
            <a:r>
              <a:rPr dirty="0" sz="2400">
                <a:latin typeface="Arial MT"/>
                <a:cs typeface="Arial MT"/>
              </a:rPr>
              <a:t>#7 </a:t>
            </a:r>
            <a:r>
              <a:rPr dirty="0" sz="2400" spc="-5">
                <a:latin typeface="Arial MT"/>
                <a:cs typeface="Arial MT"/>
              </a:rPr>
              <a:t>in a </a:t>
            </a:r>
            <a:r>
              <a:rPr dirty="0" sz="2400">
                <a:latin typeface="Arial MT"/>
                <a:cs typeface="Arial MT"/>
              </a:rPr>
              <a:t>different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15">
                <a:latin typeface="Arial MT"/>
                <a:cs typeface="Arial MT"/>
              </a:rPr>
              <a:t>way:</a:t>
            </a:r>
            <a:r>
              <a:rPr dirty="0" sz="2400" spc="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Big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picture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style,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Big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text</a:t>
            </a:r>
            <a:r>
              <a:rPr dirty="0" sz="2400" spc="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style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Inbox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style.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8337" y="4360862"/>
            <a:ext cx="4076699" cy="2285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Jesús Alonso</dc:creator>
  <dc:title>PROGRAMA DE POSTGRAU DE DISSENY I CREACIÓ DE VIDEOJOCS</dc:title>
  <dcterms:created xsi:type="dcterms:W3CDTF">2023-11-28T14:43:18Z</dcterms:created>
  <dcterms:modified xsi:type="dcterms:W3CDTF">2023-11-28T14:43:18Z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2018-03-19T00:00:00Z</vt:filetime>
  </property>
  <property fmtid="{D5CDD505-2E9C-101B-9397-08002B2CF9AE}" pid="3" name="Creator">
    <vt:lpwstr>Acrobat PDFMaker 11 para PowerPoint</vt:lpwstr>
  </property>
  <property fmtid="{D5CDD505-2E9C-101B-9397-08002B2CF9AE}" pid="4" name="LastSaved">
    <vt:filetime>2023-11-28T00:00:00Z</vt:filetime>
  </property>
</Properties>
</file>