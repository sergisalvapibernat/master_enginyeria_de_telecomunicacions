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060" y="434060"/>
            <a:ext cx="1782762" cy="500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3721" y="265715"/>
            <a:ext cx="4456556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81213"/>
            <a:ext cx="8072119" cy="441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7" y="2818406"/>
            <a:ext cx="7143748" cy="15913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9302" y="881125"/>
            <a:ext cx="3938270" cy="1487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Distributed </a:t>
            </a:r>
            <a:r>
              <a:rPr dirty="0" sz="3200" spc="-20">
                <a:solidFill>
                  <a:srgbClr val="5C082C"/>
                </a:solidFill>
                <a:latin typeface="Arial"/>
                <a:cs typeface="Arial"/>
              </a:rPr>
              <a:t>Systems </a:t>
            </a:r>
            <a:r>
              <a:rPr dirty="0" sz="3200" spc="-87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and Internet </a:t>
            </a:r>
            <a:r>
              <a:rPr dirty="0" sz="3200" spc="-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technologies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374" y="933691"/>
            <a:ext cx="2339966" cy="5000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563" y="1650258"/>
            <a:ext cx="2357436" cy="6619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92710" y="3174428"/>
            <a:ext cx="33559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E3E3E"/>
                </a:solidFill>
                <a:latin typeface="Calibri"/>
                <a:cs typeface="Calibri"/>
              </a:rPr>
              <a:t>PERSISTENCE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7595" y="5095938"/>
            <a:ext cx="342900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latin typeface="Arial MT"/>
                <a:cs typeface="Arial MT"/>
              </a:rPr>
              <a:t>Juan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Luis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7598" y="265715"/>
            <a:ext cx="280098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</a:t>
            </a:r>
            <a:r>
              <a:rPr dirty="0" spc="-15"/>
              <a:t>E</a:t>
            </a:r>
            <a:r>
              <a:rPr dirty="0"/>
              <a:t>RS</a:t>
            </a:r>
            <a:r>
              <a:rPr dirty="0" spc="10"/>
              <a:t>I</a:t>
            </a:r>
            <a:r>
              <a:rPr dirty="0"/>
              <a:t>S</a:t>
            </a:r>
            <a:r>
              <a:rPr dirty="0" spc="5"/>
              <a:t>T</a:t>
            </a:r>
            <a:r>
              <a:rPr dirty="0" spc="-15"/>
              <a:t>E</a:t>
            </a:r>
            <a:r>
              <a:rPr dirty="0" spc="5"/>
              <a:t>N</a:t>
            </a:r>
            <a:r>
              <a:rPr dirty="0" spc="-10"/>
              <a:t>C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86275"/>
            <a:ext cx="7877175" cy="409384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84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There are</a:t>
            </a:r>
            <a:r>
              <a:rPr dirty="0" sz="3200" spc="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three</a:t>
            </a:r>
            <a:r>
              <a:rPr dirty="0" sz="3200" spc="-5">
                <a:latin typeface="Arial MT"/>
                <a:cs typeface="Arial MT"/>
              </a:rPr>
              <a:t> persistence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mechanisms:</a:t>
            </a:r>
            <a:endParaRPr sz="32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6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Preferences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Files:</a:t>
            </a:r>
            <a:endParaRPr sz="2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590"/>
              </a:spcBef>
              <a:buClr>
                <a:srgbClr val="DADADA"/>
              </a:buClr>
              <a:buFont typeface="Wingdings"/>
              <a:buChar char=""/>
              <a:tabLst>
                <a:tab pos="1155700" algn="l"/>
              </a:tabLst>
            </a:pPr>
            <a:r>
              <a:rPr dirty="0" sz="2400">
                <a:latin typeface="Arial MT"/>
                <a:cs typeface="Arial MT"/>
              </a:rPr>
              <a:t>Internal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files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(phone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575"/>
              </a:spcBef>
              <a:buClr>
                <a:srgbClr val="DADADA"/>
              </a:buClr>
              <a:buFont typeface="Wingdings"/>
              <a:buChar char=""/>
              <a:tabLst>
                <a:tab pos="1155700" algn="l"/>
              </a:tabLst>
            </a:pPr>
            <a:r>
              <a:rPr dirty="0" sz="2400" spc="-5">
                <a:latin typeface="Arial MT"/>
                <a:cs typeface="Arial MT"/>
              </a:rPr>
              <a:t>External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files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(external </a:t>
            </a:r>
            <a:r>
              <a:rPr dirty="0" sz="240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6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bases</a:t>
            </a:r>
            <a:endParaRPr sz="2800">
              <a:latin typeface="Arial MT"/>
              <a:cs typeface="Arial MT"/>
            </a:endParaRPr>
          </a:p>
          <a:p>
            <a:pPr marL="356870" marR="544195" indent="-344805">
              <a:lnSpc>
                <a:spcPct val="100000"/>
              </a:lnSpc>
              <a:spcBef>
                <a:spcPts val="775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The </a:t>
            </a:r>
            <a:r>
              <a:rPr dirty="0" sz="3200" spc="-5">
                <a:latin typeface="Arial MT"/>
                <a:cs typeface="Arial MT"/>
              </a:rPr>
              <a:t>information </a:t>
            </a:r>
            <a:r>
              <a:rPr dirty="0" sz="3200">
                <a:latin typeface="Arial MT"/>
                <a:cs typeface="Arial MT"/>
              </a:rPr>
              <a:t>is </a:t>
            </a:r>
            <a:r>
              <a:rPr dirty="0" sz="3200" spc="-5">
                <a:latin typeface="Arial MT"/>
                <a:cs typeface="Arial MT"/>
              </a:rPr>
              <a:t>not shared among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different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apps,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except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for</a:t>
            </a:r>
            <a:r>
              <a:rPr dirty="0" sz="3200" spc="1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external</a:t>
            </a:r>
            <a:r>
              <a:rPr dirty="0" sz="3200">
                <a:latin typeface="Arial MT"/>
                <a:cs typeface="Arial MT"/>
              </a:rPr>
              <a:t> files.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0510" y="265715"/>
            <a:ext cx="29349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PREFERENCES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2445"/>
            <a:ext cx="7900034" cy="421894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56870" marR="930275" indent="-344805">
              <a:lnSpc>
                <a:spcPts val="3460"/>
              </a:lnSpc>
              <a:spcBef>
                <a:spcPts val="525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Tool </a:t>
            </a:r>
            <a:r>
              <a:rPr dirty="0" sz="3200" spc="-5">
                <a:latin typeface="Arial MT"/>
                <a:cs typeface="Arial MT"/>
              </a:rPr>
              <a:t>to </a:t>
            </a:r>
            <a:r>
              <a:rPr dirty="0" sz="3200">
                <a:latin typeface="Arial MT"/>
                <a:cs typeface="Arial MT"/>
              </a:rPr>
              <a:t>save </a:t>
            </a:r>
            <a:r>
              <a:rPr dirty="0" sz="3200" spc="-5">
                <a:latin typeface="Arial MT"/>
                <a:cs typeface="Arial MT"/>
              </a:rPr>
              <a:t>pairs of key-value using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native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Java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15">
                <a:latin typeface="Arial MT"/>
                <a:cs typeface="Arial MT"/>
              </a:rPr>
              <a:t>types</a:t>
            </a:r>
            <a:r>
              <a:rPr dirty="0" sz="3200" spc="5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for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values.</a:t>
            </a:r>
            <a:endParaRPr sz="3200">
              <a:latin typeface="Arial MT"/>
              <a:cs typeface="Arial MT"/>
            </a:endParaRPr>
          </a:p>
          <a:p>
            <a:pPr marL="356870" marR="120650" indent="-344805">
              <a:lnSpc>
                <a:spcPts val="3460"/>
              </a:lnSpc>
              <a:spcBef>
                <a:spcPts val="76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Preferences </a:t>
            </a:r>
            <a:r>
              <a:rPr dirty="0" sz="3200" spc="-10">
                <a:latin typeface="Arial MT"/>
                <a:cs typeface="Arial MT"/>
              </a:rPr>
              <a:t>with </a:t>
            </a:r>
            <a:r>
              <a:rPr dirty="0" sz="3200">
                <a:latin typeface="Arial MT"/>
                <a:cs typeface="Arial MT"/>
              </a:rPr>
              <a:t>Application </a:t>
            </a:r>
            <a:r>
              <a:rPr dirty="0" sz="3200" spc="-5">
                <a:latin typeface="Arial MT"/>
                <a:cs typeface="Arial MT"/>
              </a:rPr>
              <a:t>scope: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15" b="1">
                <a:latin typeface="Arial"/>
                <a:cs typeface="Arial"/>
              </a:rPr>
              <a:t>g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15" b="1">
                <a:latin typeface="Arial"/>
                <a:cs typeface="Arial"/>
              </a:rPr>
              <a:t>t</a:t>
            </a:r>
            <a:r>
              <a:rPr dirty="0" sz="3200" spc="-5" b="1">
                <a:latin typeface="Arial"/>
                <a:cs typeface="Arial"/>
              </a:rPr>
              <a:t>S</a:t>
            </a:r>
            <a:r>
              <a:rPr dirty="0" sz="3200" spc="-15" b="1">
                <a:latin typeface="Arial"/>
                <a:cs typeface="Arial"/>
              </a:rPr>
              <a:t>h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b="1">
                <a:latin typeface="Arial"/>
                <a:cs typeface="Arial"/>
              </a:rPr>
              <a:t>r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15" b="1">
                <a:latin typeface="Arial"/>
                <a:cs typeface="Arial"/>
              </a:rPr>
              <a:t>d</a:t>
            </a:r>
            <a:r>
              <a:rPr dirty="0" sz="3200" spc="-5" b="1">
                <a:latin typeface="Arial"/>
                <a:cs typeface="Arial"/>
              </a:rPr>
              <a:t>P</a:t>
            </a:r>
            <a:r>
              <a:rPr dirty="0" sz="3200" b="1">
                <a:latin typeface="Arial"/>
                <a:cs typeface="Arial"/>
              </a:rPr>
              <a:t>r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15" b="1">
                <a:latin typeface="Arial"/>
                <a:cs typeface="Arial"/>
              </a:rPr>
              <a:t>f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b="1">
                <a:latin typeface="Arial"/>
                <a:cs typeface="Arial"/>
              </a:rPr>
              <a:t>r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15" b="1">
                <a:latin typeface="Arial"/>
                <a:cs typeface="Arial"/>
              </a:rPr>
              <a:t>n</a:t>
            </a:r>
            <a:r>
              <a:rPr dirty="0" sz="3200" spc="-5" b="1">
                <a:latin typeface="Arial"/>
                <a:cs typeface="Arial"/>
              </a:rPr>
              <a:t>ces</a:t>
            </a:r>
            <a:r>
              <a:rPr dirty="0" sz="3200" spc="-5">
                <a:latin typeface="Arial MT"/>
                <a:cs typeface="Arial MT"/>
              </a:rPr>
              <a:t>(f</a:t>
            </a:r>
            <a:r>
              <a:rPr dirty="0" sz="3200" spc="5">
                <a:latin typeface="Arial MT"/>
                <a:cs typeface="Arial MT"/>
              </a:rPr>
              <a:t>i</a:t>
            </a:r>
            <a:r>
              <a:rPr dirty="0" sz="3200" spc="5">
                <a:latin typeface="Arial MT"/>
                <a:cs typeface="Arial MT"/>
              </a:rPr>
              <a:t>l</a:t>
            </a:r>
            <a:r>
              <a:rPr dirty="0" sz="3200" spc="-10">
                <a:latin typeface="Arial MT"/>
                <a:cs typeface="Arial MT"/>
              </a:rPr>
              <a:t>eNa</a:t>
            </a:r>
            <a:r>
              <a:rPr dirty="0" sz="3200" spc="-5">
                <a:latin typeface="Arial MT"/>
                <a:cs typeface="Arial MT"/>
              </a:rPr>
              <a:t>m</a:t>
            </a:r>
            <a:r>
              <a:rPr dirty="0" sz="3200" spc="-5">
                <a:latin typeface="Arial MT"/>
                <a:cs typeface="Arial MT"/>
              </a:rPr>
              <a:t>e,</a:t>
            </a:r>
            <a:r>
              <a:rPr dirty="0" sz="3200" spc="-5">
                <a:latin typeface="Arial MT"/>
                <a:cs typeface="Arial MT"/>
              </a:rPr>
              <a:t>m</a:t>
            </a:r>
            <a:r>
              <a:rPr dirty="0" sz="3200" spc="-5">
                <a:latin typeface="Arial MT"/>
                <a:cs typeface="Arial MT"/>
              </a:rPr>
              <a:t>ode</a:t>
            </a:r>
            <a:r>
              <a:rPr dirty="0" sz="3200" spc="-15">
                <a:latin typeface="Arial MT"/>
                <a:cs typeface="Arial MT"/>
              </a:rPr>
              <a:t>);  </a:t>
            </a:r>
            <a:r>
              <a:rPr dirty="0" sz="3200" spc="-5">
                <a:latin typeface="Arial MT"/>
                <a:cs typeface="Arial MT"/>
              </a:rPr>
              <a:t>saved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at:</a:t>
            </a:r>
            <a:endParaRPr sz="3200">
              <a:latin typeface="Arial MT"/>
              <a:cs typeface="Arial MT"/>
            </a:endParaRPr>
          </a:p>
          <a:p>
            <a:pPr marL="356870">
              <a:lnSpc>
                <a:spcPts val="3400"/>
              </a:lnSpc>
            </a:pPr>
            <a:r>
              <a:rPr dirty="0" sz="3200" spc="-5">
                <a:latin typeface="Arial MT"/>
                <a:cs typeface="Arial MT"/>
              </a:rPr>
              <a:t>/data/data/package_name/shared_prefs</a:t>
            </a:r>
            <a:endParaRPr sz="3200">
              <a:latin typeface="Arial MT"/>
              <a:cs typeface="Arial MT"/>
            </a:endParaRPr>
          </a:p>
          <a:p>
            <a:pPr marL="356235" marR="5080" indent="-344170">
              <a:lnSpc>
                <a:spcPts val="3460"/>
              </a:lnSpc>
              <a:spcBef>
                <a:spcPts val="81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Preferences </a:t>
            </a:r>
            <a:r>
              <a:rPr dirty="0" sz="3200" spc="-10">
                <a:latin typeface="Arial MT"/>
                <a:cs typeface="Arial MT"/>
              </a:rPr>
              <a:t>with </a:t>
            </a:r>
            <a:r>
              <a:rPr dirty="0" sz="3200">
                <a:latin typeface="Arial MT"/>
                <a:cs typeface="Arial MT"/>
              </a:rPr>
              <a:t>Activity </a:t>
            </a:r>
            <a:r>
              <a:rPr dirty="0" sz="3200" spc="-5">
                <a:latin typeface="Arial MT"/>
                <a:cs typeface="Arial MT"/>
              </a:rPr>
              <a:t>scope: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10" b="1">
                <a:latin typeface="Arial"/>
                <a:cs typeface="Arial"/>
              </a:rPr>
              <a:t>getPreferences</a:t>
            </a:r>
            <a:r>
              <a:rPr dirty="0" sz="3200" spc="-10">
                <a:latin typeface="Arial MT"/>
                <a:cs typeface="Arial MT"/>
              </a:rPr>
              <a:t>(mode);</a:t>
            </a:r>
            <a:r>
              <a:rPr dirty="0" sz="3200" spc="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it </a:t>
            </a:r>
            <a:r>
              <a:rPr dirty="0" sz="3200" spc="-5">
                <a:latin typeface="Arial MT"/>
                <a:cs typeface="Arial MT"/>
              </a:rPr>
              <a:t>takes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name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>
                <a:latin typeface="Arial MT"/>
                <a:cs typeface="Arial MT"/>
              </a:rPr>
              <a:t>activity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for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saved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file.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0510" y="265715"/>
            <a:ext cx="29349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PREFERENCES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349490" cy="2560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To write </a:t>
            </a:r>
            <a:r>
              <a:rPr dirty="0" sz="3200" spc="-5">
                <a:latin typeface="Arial MT"/>
                <a:cs typeface="Arial MT"/>
              </a:rPr>
              <a:t>or modify a pair key-value </a:t>
            </a:r>
            <a:r>
              <a:rPr dirty="0" sz="3200" spc="-20">
                <a:latin typeface="Arial MT"/>
                <a:cs typeface="Arial MT"/>
              </a:rPr>
              <a:t>you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must first retrieve an </a:t>
            </a:r>
            <a:r>
              <a:rPr dirty="0" sz="3200" spc="-10" b="1">
                <a:latin typeface="Arial"/>
                <a:cs typeface="Arial"/>
              </a:rPr>
              <a:t>editor</a:t>
            </a:r>
            <a:r>
              <a:rPr dirty="0" sz="3200" spc="-10">
                <a:latin typeface="Arial MT"/>
                <a:cs typeface="Arial MT"/>
              </a:rPr>
              <a:t>: </a:t>
            </a:r>
            <a:r>
              <a:rPr dirty="0" sz="3200" spc="-5">
                <a:latin typeface="Arial MT"/>
                <a:cs typeface="Arial MT"/>
              </a:rPr>
              <a:t> SharedPreferences.Editor</a:t>
            </a:r>
            <a:endParaRPr sz="3200">
              <a:latin typeface="Arial MT"/>
              <a:cs typeface="Arial MT"/>
            </a:endParaRPr>
          </a:p>
          <a:p>
            <a:pPr marL="356870" marR="793115" indent="-344805">
              <a:lnSpc>
                <a:spcPct val="100000"/>
              </a:lnSpc>
              <a:spcBef>
                <a:spcPts val="77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To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read</a:t>
            </a:r>
            <a:r>
              <a:rPr dirty="0" sz="3200" spc="-5">
                <a:latin typeface="Arial MT"/>
                <a:cs typeface="Arial MT"/>
              </a:rPr>
              <a:t> a</a:t>
            </a:r>
            <a:r>
              <a:rPr dirty="0" sz="3200" spc="-10">
                <a:latin typeface="Arial MT"/>
                <a:cs typeface="Arial MT"/>
              </a:rPr>
              <a:t> preference</a:t>
            </a:r>
            <a:r>
              <a:rPr dirty="0" sz="3200" spc="-5">
                <a:latin typeface="Arial MT"/>
                <a:cs typeface="Arial MT"/>
              </a:rPr>
              <a:t> use the </a:t>
            </a:r>
            <a:r>
              <a:rPr dirty="0" sz="3200" spc="-10">
                <a:latin typeface="Arial MT"/>
                <a:cs typeface="Arial MT"/>
              </a:rPr>
              <a:t>get()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method.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5438" y="265715"/>
            <a:ext cx="332549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INTERNAL</a:t>
            </a:r>
            <a:r>
              <a:rPr dirty="0" spc="-120"/>
              <a:t> </a:t>
            </a:r>
            <a:r>
              <a:rPr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5493"/>
            <a:ext cx="7059930" cy="406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ts val="3595"/>
              </a:lnSpc>
              <a:spcBef>
                <a:spcPts val="10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15">
                <a:latin typeface="Arial MT"/>
                <a:cs typeface="Arial MT"/>
              </a:rPr>
              <a:t>Two</a:t>
            </a:r>
            <a:r>
              <a:rPr dirty="0" sz="3000" spc="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operational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directories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are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defined:</a:t>
            </a:r>
            <a:endParaRPr sz="3000">
              <a:latin typeface="Arial MT"/>
              <a:cs typeface="Arial MT"/>
            </a:endParaRPr>
          </a:p>
          <a:p>
            <a:pPr lvl="1" marL="756285" indent="-287020">
              <a:lnSpc>
                <a:spcPts val="3115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5">
                <a:latin typeface="Arial MT"/>
                <a:cs typeface="Arial MT"/>
              </a:rPr>
              <a:t>Internal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directory: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context.getFilesDir();</a:t>
            </a:r>
            <a:endParaRPr sz="26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Cache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directory: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context.getCacheDir();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ts val="3595"/>
              </a:lnSpc>
              <a:spcBef>
                <a:spcPts val="365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To </a:t>
            </a:r>
            <a:r>
              <a:rPr dirty="0" sz="3000" spc="5">
                <a:latin typeface="Arial MT"/>
                <a:cs typeface="Arial MT"/>
              </a:rPr>
              <a:t>create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a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file:</a:t>
            </a:r>
            <a:endParaRPr sz="3000">
              <a:latin typeface="Arial MT"/>
              <a:cs typeface="Arial MT"/>
            </a:endParaRPr>
          </a:p>
          <a:p>
            <a:pPr lvl="1" marL="756285" marR="501015" indent="-287020">
              <a:lnSpc>
                <a:spcPts val="2500"/>
              </a:lnSpc>
              <a:spcBef>
                <a:spcPts val="59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5">
                <a:latin typeface="Arial MT"/>
                <a:cs typeface="Arial MT"/>
              </a:rPr>
              <a:t>File file = </a:t>
            </a:r>
            <a:r>
              <a:rPr dirty="0" sz="2600" spc="-10">
                <a:latin typeface="Arial MT"/>
                <a:cs typeface="Arial MT"/>
              </a:rPr>
              <a:t>new </a:t>
            </a:r>
            <a:r>
              <a:rPr dirty="0" sz="2600" spc="-5">
                <a:latin typeface="Arial MT"/>
                <a:cs typeface="Arial MT"/>
              </a:rPr>
              <a:t>File(context.getFilesDir(),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filename);</a:t>
            </a:r>
            <a:endParaRPr sz="2600">
              <a:latin typeface="Arial MT"/>
              <a:cs typeface="Arial MT"/>
            </a:endParaRPr>
          </a:p>
          <a:p>
            <a:pPr lvl="1" marL="756285" marR="85725" indent="-287020">
              <a:lnSpc>
                <a:spcPts val="2500"/>
              </a:lnSpc>
              <a:spcBef>
                <a:spcPts val="62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5">
                <a:latin typeface="Arial MT"/>
                <a:cs typeface="Arial MT"/>
              </a:rPr>
              <a:t>File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=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File.createTempFile(prefix,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sufix, </a:t>
            </a:r>
            <a:r>
              <a:rPr dirty="0" sz="2600" spc="-70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context.getCacheDir());</a:t>
            </a:r>
            <a:endParaRPr sz="26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1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Alternatively,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for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internal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directory: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5"/>
              </a:spcBef>
              <a:buClr>
                <a:srgbClr val="DADADA"/>
              </a:buClr>
              <a:buFont typeface="Wingdings"/>
              <a:buChar char=""/>
              <a:tabLst>
                <a:tab pos="1155065" algn="l"/>
                <a:tab pos="1155700" algn="l"/>
                <a:tab pos="2712720" algn="l"/>
              </a:tabLst>
            </a:pPr>
            <a:r>
              <a:rPr dirty="0" sz="1500">
                <a:latin typeface="Arial MT"/>
                <a:cs typeface="Arial MT"/>
              </a:rPr>
              <a:t>FileInputStream	</a:t>
            </a:r>
            <a:r>
              <a:rPr dirty="0" sz="1500" spc="5">
                <a:latin typeface="Arial MT"/>
                <a:cs typeface="Arial MT"/>
              </a:rPr>
              <a:t>fis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 spc="5">
                <a:latin typeface="Arial MT"/>
                <a:cs typeface="Arial MT"/>
              </a:rPr>
              <a:t>=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context.openFileInput(filename);</a:t>
            </a:r>
            <a:endParaRPr sz="15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buClr>
                <a:srgbClr val="DADADA"/>
              </a:buClr>
              <a:buFont typeface="Wingdings"/>
              <a:buChar char=""/>
              <a:tabLst>
                <a:tab pos="1155065" algn="l"/>
                <a:tab pos="1155700" algn="l"/>
              </a:tabLst>
            </a:pPr>
            <a:r>
              <a:rPr dirty="0" sz="1500">
                <a:latin typeface="Arial MT"/>
                <a:cs typeface="Arial MT"/>
              </a:rPr>
              <a:t>FileOutputStream</a:t>
            </a:r>
            <a:r>
              <a:rPr dirty="0" sz="1500" spc="-100">
                <a:latin typeface="Arial MT"/>
                <a:cs typeface="Arial MT"/>
              </a:rPr>
              <a:t> </a:t>
            </a:r>
            <a:r>
              <a:rPr dirty="0" sz="1500" spc="5">
                <a:latin typeface="Arial MT"/>
                <a:cs typeface="Arial MT"/>
              </a:rPr>
              <a:t>fos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5">
                <a:latin typeface="Arial MT"/>
                <a:cs typeface="Arial MT"/>
              </a:rPr>
              <a:t>=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context.openFileOutput(filename);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5438" y="265715"/>
            <a:ext cx="332549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INTERNAL</a:t>
            </a:r>
            <a:r>
              <a:rPr dirty="0" spc="-120"/>
              <a:t> </a:t>
            </a:r>
            <a:r>
              <a:rPr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984490" cy="35229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Alternative to delete a </a:t>
            </a:r>
            <a:r>
              <a:rPr dirty="0" sz="3200">
                <a:latin typeface="Arial MT"/>
                <a:cs typeface="Arial MT"/>
              </a:rPr>
              <a:t>file </a:t>
            </a:r>
            <a:r>
              <a:rPr dirty="0" sz="3200" spc="-10">
                <a:latin typeface="Arial MT"/>
                <a:cs typeface="Arial MT"/>
              </a:rPr>
              <a:t>from </a:t>
            </a:r>
            <a:r>
              <a:rPr dirty="0" sz="3200" spc="-5">
                <a:latin typeface="Arial MT"/>
                <a:cs typeface="Arial MT"/>
              </a:rPr>
              <a:t>the internal </a:t>
            </a:r>
            <a:r>
              <a:rPr dirty="0" sz="3200" spc="-88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directory:</a:t>
            </a:r>
            <a:endParaRPr sz="32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6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context.deleteFile(fileName);</a:t>
            </a:r>
            <a:endParaRPr sz="2800">
              <a:latin typeface="Arial MT"/>
              <a:cs typeface="Arial MT"/>
            </a:endParaRPr>
          </a:p>
          <a:p>
            <a:pPr marL="356870" marR="141605" indent="-344805">
              <a:lnSpc>
                <a:spcPct val="100000"/>
              </a:lnSpc>
              <a:spcBef>
                <a:spcPts val="775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The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internal</a:t>
            </a:r>
            <a:r>
              <a:rPr dirty="0" sz="3200">
                <a:latin typeface="Arial MT"/>
                <a:cs typeface="Arial MT"/>
              </a:rPr>
              <a:t> files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are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stored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internal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memory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 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cell-phone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at:</a:t>
            </a:r>
            <a:endParaRPr sz="32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3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/data/data/package_name/files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3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/data/data/package_name/cache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958" y="265715"/>
            <a:ext cx="338391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EXTERNAL</a:t>
            </a:r>
            <a:r>
              <a:rPr dirty="0" spc="-114"/>
              <a:t> </a:t>
            </a:r>
            <a:r>
              <a:rPr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5493"/>
            <a:ext cx="7945755" cy="419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To</a:t>
            </a:r>
            <a:r>
              <a:rPr dirty="0" sz="3000" spc="1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check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if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external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available:</a:t>
            </a:r>
            <a:endParaRPr sz="3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415"/>
              </a:spcBef>
            </a:pPr>
            <a:r>
              <a:rPr dirty="0" sz="2000" spc="-10">
                <a:latin typeface="Arial MT"/>
                <a:cs typeface="Arial MT"/>
              </a:rPr>
              <a:t>String</a:t>
            </a:r>
            <a:r>
              <a:rPr dirty="0" sz="2000" spc="5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state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=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Environment.getExternalStorageState();</a:t>
            </a:r>
            <a:endParaRPr sz="20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if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(Environment.MEDIA_MOUNTED.equals(state))</a:t>
            </a:r>
            <a:r>
              <a:rPr dirty="0" sz="2000" spc="1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{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Okay!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Arial MT"/>
              <a:cs typeface="Arial MT"/>
            </a:endParaRPr>
          </a:p>
          <a:p>
            <a:pPr marL="356870" marR="5080" indent="-344805">
              <a:lnSpc>
                <a:spcPts val="3240"/>
              </a:lnSpc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15">
                <a:latin typeface="Arial MT"/>
                <a:cs typeface="Arial MT"/>
              </a:rPr>
              <a:t>Two</a:t>
            </a:r>
            <a:r>
              <a:rPr dirty="0" sz="3000" spc="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categories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of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files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(but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all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are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public)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are </a:t>
            </a:r>
            <a:r>
              <a:rPr dirty="0" sz="3000" spc="-819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defined:</a:t>
            </a:r>
            <a:endParaRPr sz="3000">
              <a:latin typeface="Arial MT"/>
              <a:cs typeface="Arial MT"/>
            </a:endParaRPr>
          </a:p>
          <a:p>
            <a:pPr lvl="1" marL="756285" marR="31750" indent="-286385">
              <a:lnSpc>
                <a:spcPts val="2810"/>
              </a:lnSpc>
              <a:spcBef>
                <a:spcPts val="610"/>
              </a:spcBef>
              <a:buClr>
                <a:srgbClr val="2D7CAD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dirty="0" sz="2600" spc="-10">
                <a:latin typeface="Arial MT"/>
                <a:cs typeface="Arial MT"/>
              </a:rPr>
              <a:t>Public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files,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are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not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deleted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5">
                <a:latin typeface="Arial MT"/>
                <a:cs typeface="Arial MT"/>
              </a:rPr>
              <a:t>when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uninstalling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app.</a:t>
            </a:r>
            <a:endParaRPr sz="2600">
              <a:latin typeface="Arial MT"/>
              <a:cs typeface="Arial MT"/>
            </a:endParaRPr>
          </a:p>
          <a:p>
            <a:pPr lvl="1" marL="755650" marR="1223645" indent="-286385">
              <a:lnSpc>
                <a:spcPts val="2810"/>
              </a:lnSpc>
              <a:spcBef>
                <a:spcPts val="620"/>
              </a:spcBef>
              <a:buClr>
                <a:srgbClr val="2D7CAD"/>
              </a:buClr>
              <a:buFont typeface="Wingdings"/>
              <a:buChar char=""/>
              <a:tabLst>
                <a:tab pos="755650" algn="l"/>
                <a:tab pos="756285" algn="l"/>
              </a:tabLst>
            </a:pPr>
            <a:r>
              <a:rPr dirty="0" sz="2600" spc="-10">
                <a:latin typeface="Arial MT"/>
                <a:cs typeface="Arial MT"/>
              </a:rPr>
              <a:t>Private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files,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are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deleted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15">
                <a:latin typeface="Arial MT"/>
                <a:cs typeface="Arial MT"/>
              </a:rPr>
              <a:t>when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 </a:t>
            </a:r>
            <a:r>
              <a:rPr dirty="0" sz="2600" spc="-7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uninstalled.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958" y="265715"/>
            <a:ext cx="338327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EXTERNAL</a:t>
            </a:r>
            <a:r>
              <a:rPr dirty="0" spc="-80"/>
              <a:t> </a:t>
            </a:r>
            <a:r>
              <a:rPr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997190" cy="388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176530" indent="-344805">
              <a:lnSpc>
                <a:spcPct val="100000"/>
              </a:lnSpc>
              <a:spcBef>
                <a:spcPts val="10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To work </a:t>
            </a:r>
            <a:r>
              <a:rPr dirty="0" sz="3000" spc="-10">
                <a:latin typeface="Arial MT"/>
                <a:cs typeface="Arial MT"/>
              </a:rPr>
              <a:t>with </a:t>
            </a:r>
            <a:r>
              <a:rPr dirty="0" sz="3000">
                <a:latin typeface="Arial MT"/>
                <a:cs typeface="Arial MT"/>
              </a:rPr>
              <a:t>the </a:t>
            </a:r>
            <a:r>
              <a:rPr dirty="0" sz="3000" spc="-10">
                <a:latin typeface="Arial MT"/>
                <a:cs typeface="Arial MT"/>
              </a:rPr>
              <a:t>two </a:t>
            </a:r>
            <a:r>
              <a:rPr dirty="0" sz="3000" spc="-5">
                <a:latin typeface="Arial MT"/>
                <a:cs typeface="Arial MT"/>
              </a:rPr>
              <a:t>types </a:t>
            </a:r>
            <a:r>
              <a:rPr dirty="0" sz="3000" spc="5">
                <a:latin typeface="Arial MT"/>
                <a:cs typeface="Arial MT"/>
              </a:rPr>
              <a:t>of </a:t>
            </a:r>
            <a:r>
              <a:rPr dirty="0" sz="3000">
                <a:latin typeface="Arial MT"/>
                <a:cs typeface="Arial MT"/>
              </a:rPr>
              <a:t>files make </a:t>
            </a:r>
            <a:r>
              <a:rPr dirty="0" sz="3000" spc="5">
                <a:latin typeface="Arial MT"/>
                <a:cs typeface="Arial MT"/>
              </a:rPr>
              <a:t>use </a:t>
            </a:r>
            <a:r>
              <a:rPr dirty="0" sz="3000" spc="-819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of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directories:</a:t>
            </a:r>
            <a:endParaRPr sz="3000">
              <a:latin typeface="Arial MT"/>
              <a:cs typeface="Arial MT"/>
            </a:endParaRPr>
          </a:p>
          <a:p>
            <a:pPr marL="469900" marR="5080">
              <a:lnSpc>
                <a:spcPts val="2060"/>
              </a:lnSpc>
              <a:spcBef>
                <a:spcPts val="484"/>
              </a:spcBef>
            </a:pPr>
            <a:r>
              <a:rPr dirty="0" sz="1900" spc="-5">
                <a:latin typeface="Arial MT"/>
                <a:cs typeface="Arial MT"/>
              </a:rPr>
              <a:t>Environment.getExternalStoragePublicDirectory(Environment.DIRECT </a:t>
            </a:r>
            <a:r>
              <a:rPr dirty="0" sz="1900" spc="-51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ORY_PICTURES);</a:t>
            </a:r>
            <a:endParaRPr sz="19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90"/>
              </a:spcBef>
            </a:pPr>
            <a:r>
              <a:rPr dirty="0" sz="1900" spc="-5">
                <a:latin typeface="Arial MT"/>
                <a:cs typeface="Arial MT"/>
              </a:rPr>
              <a:t>context.getExternalFilesDir(null);</a:t>
            </a:r>
            <a:endParaRPr sz="19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70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The </a:t>
            </a:r>
            <a:r>
              <a:rPr dirty="0" sz="3000">
                <a:latin typeface="Arial MT"/>
                <a:cs typeface="Arial MT"/>
              </a:rPr>
              <a:t>file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access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 </a:t>
            </a:r>
            <a:r>
              <a:rPr dirty="0" sz="3000" spc="-5">
                <a:latin typeface="Arial MT"/>
                <a:cs typeface="Arial MT"/>
              </a:rPr>
              <a:t>conventional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Java</a:t>
            </a:r>
            <a:r>
              <a:rPr dirty="0" sz="3000">
                <a:latin typeface="Arial MT"/>
                <a:cs typeface="Arial MT"/>
              </a:rPr>
              <a:t> coding:</a:t>
            </a:r>
            <a:endParaRPr sz="3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dirty="0" sz="2600" spc="-5">
                <a:latin typeface="Arial MT"/>
                <a:cs typeface="Arial MT"/>
              </a:rPr>
              <a:t>File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=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new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File(dir,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filename);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705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 spc="-5">
                <a:latin typeface="Arial MT"/>
                <a:cs typeface="Arial MT"/>
              </a:rPr>
              <a:t>The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private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files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are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saved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at:</a:t>
            </a:r>
            <a:endParaRPr sz="3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dirty="0" sz="2600" spc="-5">
                <a:latin typeface="Arial MT"/>
                <a:cs typeface="Arial MT"/>
              </a:rPr>
              <a:t>/mnt/sdcard/Android/data/package_name/files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958" y="265715"/>
            <a:ext cx="338327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EXTERNAL</a:t>
            </a:r>
            <a:r>
              <a:rPr dirty="0" spc="-80"/>
              <a:t> </a:t>
            </a:r>
            <a:r>
              <a:rPr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968615" cy="2560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It </a:t>
            </a:r>
            <a:r>
              <a:rPr dirty="0" sz="3200">
                <a:latin typeface="Arial MT"/>
                <a:cs typeface="Arial MT"/>
              </a:rPr>
              <a:t>is </a:t>
            </a:r>
            <a:r>
              <a:rPr dirty="0" sz="3200" spc="-5">
                <a:latin typeface="Arial MT"/>
                <a:cs typeface="Arial MT"/>
              </a:rPr>
              <a:t>recommended to use the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subdirectories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predefined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by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Environment.</a:t>
            </a:r>
            <a:endParaRPr sz="3200">
              <a:latin typeface="Arial MT"/>
              <a:cs typeface="Arial MT"/>
            </a:endParaRPr>
          </a:p>
          <a:p>
            <a:pPr marL="356870" marR="191135" indent="-344805">
              <a:lnSpc>
                <a:spcPct val="100000"/>
              </a:lnSpc>
              <a:spcBef>
                <a:spcPts val="77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To </a:t>
            </a:r>
            <a:r>
              <a:rPr dirty="0" sz="3200" spc="-5">
                <a:latin typeface="Arial MT"/>
                <a:cs typeface="Arial MT"/>
              </a:rPr>
              <a:t>check the </a:t>
            </a:r>
            <a:r>
              <a:rPr dirty="0" sz="3200">
                <a:latin typeface="Arial MT"/>
                <a:cs typeface="Arial MT"/>
              </a:rPr>
              <a:t>available </a:t>
            </a:r>
            <a:r>
              <a:rPr dirty="0" sz="3200" spc="-5">
                <a:latin typeface="Arial MT"/>
                <a:cs typeface="Arial MT"/>
              </a:rPr>
              <a:t>space at the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external </a:t>
            </a:r>
            <a:r>
              <a:rPr dirty="0" sz="3200" spc="-15">
                <a:latin typeface="Arial MT"/>
                <a:cs typeface="Arial MT"/>
              </a:rPr>
              <a:t>memory:</a:t>
            </a:r>
            <a:r>
              <a:rPr dirty="0" sz="3200" spc="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dir.getFreeSpace()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and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total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space: dir.getTotalSpace()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598" y="265715"/>
            <a:ext cx="280098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</a:t>
            </a:r>
            <a:r>
              <a:rPr dirty="0" spc="-15"/>
              <a:t>E</a:t>
            </a:r>
            <a:r>
              <a:rPr dirty="0"/>
              <a:t>RS</a:t>
            </a:r>
            <a:r>
              <a:rPr dirty="0" spc="10"/>
              <a:t>I</a:t>
            </a:r>
            <a:r>
              <a:rPr dirty="0"/>
              <a:t>S</a:t>
            </a:r>
            <a:r>
              <a:rPr dirty="0" spc="5"/>
              <a:t>T</a:t>
            </a:r>
            <a:r>
              <a:rPr dirty="0" spc="-15"/>
              <a:t>E</a:t>
            </a:r>
            <a:r>
              <a:rPr dirty="0" spc="5"/>
              <a:t>N</a:t>
            </a:r>
            <a:r>
              <a:rPr dirty="0" spc="-10"/>
              <a:t>C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5493"/>
            <a:ext cx="7969250" cy="410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ts val="3595"/>
              </a:lnSpc>
              <a:spcBef>
                <a:spcPts val="10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>
                <a:latin typeface="Arial MT"/>
                <a:cs typeface="Arial MT"/>
              </a:rPr>
              <a:t>Read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only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5">
                <a:latin typeface="Arial MT"/>
                <a:cs typeface="Arial MT"/>
              </a:rPr>
              <a:t>from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"resources":</a:t>
            </a:r>
            <a:endParaRPr sz="3000">
              <a:latin typeface="Arial MT"/>
              <a:cs typeface="Arial MT"/>
            </a:endParaRPr>
          </a:p>
          <a:p>
            <a:pPr lvl="1" marL="756285" marR="93980" indent="-287020">
              <a:lnSpc>
                <a:spcPts val="2500"/>
              </a:lnSpc>
              <a:spcBef>
                <a:spcPts val="59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InputStream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= 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resources.openRawResource(R.raw.mydatafile);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located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at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res/raw/mydatafile</a:t>
            </a:r>
            <a:endParaRPr sz="2600">
              <a:latin typeface="Arial MT"/>
              <a:cs typeface="Arial MT"/>
            </a:endParaRPr>
          </a:p>
          <a:p>
            <a:pPr lvl="1" marL="755650" marR="459740" indent="-286385">
              <a:lnSpc>
                <a:spcPts val="2500"/>
              </a:lnSpc>
              <a:spcBef>
                <a:spcPts val="61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10">
                <a:latin typeface="Arial MT"/>
                <a:cs typeface="Arial MT"/>
              </a:rPr>
              <a:t>InputStream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= 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context.getAssets().open(filename);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located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at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Assets</a:t>
            </a:r>
            <a:endParaRPr sz="2600">
              <a:latin typeface="Arial MT"/>
              <a:cs typeface="Arial MT"/>
            </a:endParaRPr>
          </a:p>
          <a:p>
            <a:pPr marL="356870" indent="-344805">
              <a:lnSpc>
                <a:spcPts val="3595"/>
              </a:lnSpc>
              <a:spcBef>
                <a:spcPts val="20"/>
              </a:spcBef>
              <a:buClr>
                <a:srgbClr val="2D7CAD"/>
              </a:buClr>
              <a:buSzPct val="96666"/>
              <a:buFont typeface="Wingdings"/>
              <a:buChar char=""/>
              <a:tabLst>
                <a:tab pos="357505" algn="l"/>
              </a:tabLst>
            </a:pP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10">
                <a:latin typeface="Arial MT"/>
                <a:cs typeface="Arial MT"/>
              </a:rPr>
              <a:t>bases:</a:t>
            </a:r>
            <a:endParaRPr sz="3000">
              <a:latin typeface="Arial MT"/>
              <a:cs typeface="Arial MT"/>
            </a:endParaRPr>
          </a:p>
          <a:p>
            <a:pPr lvl="1" marL="756285" indent="-287020">
              <a:lnSpc>
                <a:spcPts val="3115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 spc="-5">
                <a:latin typeface="Arial MT"/>
                <a:cs typeface="Arial MT"/>
              </a:rPr>
              <a:t>Android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supports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SQLite</a:t>
            </a:r>
            <a:endParaRPr sz="2600">
              <a:latin typeface="Arial MT"/>
              <a:cs typeface="Arial MT"/>
            </a:endParaRPr>
          </a:p>
          <a:p>
            <a:pPr lvl="1" marL="756285" marR="5080" indent="-287020">
              <a:lnSpc>
                <a:spcPts val="2500"/>
              </a:lnSpc>
              <a:spcBef>
                <a:spcPts val="60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600">
                <a:latin typeface="Arial MT"/>
                <a:cs typeface="Arial MT"/>
              </a:rPr>
              <a:t>The </a:t>
            </a:r>
            <a:r>
              <a:rPr dirty="0" sz="2600" spc="-10" b="1">
                <a:latin typeface="Arial"/>
                <a:cs typeface="Arial"/>
              </a:rPr>
              <a:t>SQLiteDatabase</a:t>
            </a:r>
            <a:r>
              <a:rPr dirty="0" sz="2600" spc="95" b="1">
                <a:latin typeface="Arial"/>
                <a:cs typeface="Arial"/>
              </a:rPr>
              <a:t> </a:t>
            </a:r>
            <a:r>
              <a:rPr dirty="0" sz="2600" spc="-5">
                <a:latin typeface="Arial MT"/>
                <a:cs typeface="Arial MT"/>
              </a:rPr>
              <a:t>class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implements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ddbb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access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logic.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793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E</a:t>
            </a:r>
            <a:r>
              <a:rPr dirty="0"/>
              <a:t>X</a:t>
            </a:r>
            <a:r>
              <a:rPr dirty="0" spc="-15"/>
              <a:t>E</a:t>
            </a:r>
            <a:r>
              <a:rPr dirty="0"/>
              <a:t>R</a:t>
            </a:r>
            <a:r>
              <a:rPr dirty="0" spc="-10"/>
              <a:t>C</a:t>
            </a:r>
            <a:r>
              <a:rPr dirty="0" spc="10"/>
              <a:t>I</a:t>
            </a:r>
            <a:r>
              <a:rPr dirty="0"/>
              <a:t>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7689850" cy="40233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Review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programming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methods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contained </a:t>
            </a:r>
            <a:r>
              <a:rPr dirty="0" sz="3200">
                <a:latin typeface="Arial MT"/>
                <a:cs typeface="Arial MT"/>
              </a:rPr>
              <a:t>in </a:t>
            </a:r>
            <a:r>
              <a:rPr dirty="0" sz="3200" spc="-5">
                <a:latin typeface="Arial MT"/>
                <a:cs typeface="Arial MT"/>
              </a:rPr>
              <a:t>the GlobalState </a:t>
            </a:r>
            <a:r>
              <a:rPr dirty="0" sz="3200">
                <a:latin typeface="Arial MT"/>
                <a:cs typeface="Arial MT"/>
              </a:rPr>
              <a:t>java class 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using the "internal </a:t>
            </a:r>
            <a:r>
              <a:rPr dirty="0" sz="3200">
                <a:latin typeface="Arial MT"/>
                <a:cs typeface="Arial MT"/>
              </a:rPr>
              <a:t>files" </a:t>
            </a:r>
            <a:r>
              <a:rPr dirty="0" sz="3200" spc="-5">
                <a:latin typeface="Arial MT"/>
                <a:cs typeface="Arial MT"/>
              </a:rPr>
              <a:t>option to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implement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persistence.</a:t>
            </a:r>
            <a:endParaRPr sz="3200">
              <a:latin typeface="Arial MT"/>
              <a:cs typeface="Arial MT"/>
            </a:endParaRPr>
          </a:p>
          <a:p>
            <a:pPr algn="just" marL="356870" marR="113030" indent="-344805">
              <a:lnSpc>
                <a:spcPct val="100000"/>
              </a:lnSpc>
              <a:spcBef>
                <a:spcPts val="77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Modify the </a:t>
            </a:r>
            <a:r>
              <a:rPr dirty="0" sz="3200" spc="-15" b="1">
                <a:latin typeface="Arial"/>
                <a:cs typeface="Arial"/>
              </a:rPr>
              <a:t>MessagesActivity </a:t>
            </a:r>
            <a:r>
              <a:rPr dirty="0" sz="3200" spc="-5">
                <a:latin typeface="Arial MT"/>
                <a:cs typeface="Arial MT"/>
              </a:rPr>
              <a:t>to </a:t>
            </a:r>
            <a:r>
              <a:rPr dirty="0" sz="3200">
                <a:latin typeface="Arial MT"/>
                <a:cs typeface="Arial MT"/>
              </a:rPr>
              <a:t>locally 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store the </a:t>
            </a:r>
            <a:r>
              <a:rPr dirty="0" sz="3200" spc="-10">
                <a:latin typeface="Arial MT"/>
                <a:cs typeface="Arial MT"/>
              </a:rPr>
              <a:t>downloaded </a:t>
            </a:r>
            <a:r>
              <a:rPr dirty="0" sz="3200" spc="-5">
                <a:latin typeface="Arial MT"/>
                <a:cs typeface="Arial MT"/>
              </a:rPr>
              <a:t>messages; and to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only request for </a:t>
            </a:r>
            <a:r>
              <a:rPr dirty="0" sz="3200" spc="-10">
                <a:latin typeface="Arial MT"/>
                <a:cs typeface="Arial MT"/>
              </a:rPr>
              <a:t>new </a:t>
            </a:r>
            <a:r>
              <a:rPr dirty="0" sz="3200" spc="-5">
                <a:latin typeface="Arial MT"/>
                <a:cs typeface="Arial MT"/>
              </a:rPr>
              <a:t>messages </a:t>
            </a:r>
            <a:r>
              <a:rPr dirty="0" sz="3200" spc="-10">
                <a:latin typeface="Arial MT"/>
                <a:cs typeface="Arial MT"/>
              </a:rPr>
              <a:t>from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remote </a:t>
            </a:r>
            <a:r>
              <a:rPr dirty="0" sz="3200" spc="-5">
                <a:latin typeface="Arial MT"/>
                <a:cs typeface="Arial MT"/>
              </a:rPr>
              <a:t>server.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793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E</a:t>
            </a:r>
            <a:r>
              <a:rPr dirty="0"/>
              <a:t>X</a:t>
            </a:r>
            <a:r>
              <a:rPr dirty="0" spc="-15"/>
              <a:t>E</a:t>
            </a:r>
            <a:r>
              <a:rPr dirty="0"/>
              <a:t>R</a:t>
            </a:r>
            <a:r>
              <a:rPr dirty="0" spc="-10"/>
              <a:t>C</a:t>
            </a:r>
            <a:r>
              <a:rPr dirty="0" spc="10"/>
              <a:t>I</a:t>
            </a:r>
            <a:r>
              <a:rPr dirty="0"/>
              <a:t>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1213"/>
            <a:ext cx="3801110" cy="4413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5">
                <a:latin typeface="Arial MT"/>
                <a:cs typeface="Arial MT"/>
              </a:rPr>
              <a:t>Modify the </a:t>
            </a:r>
            <a:r>
              <a:rPr dirty="0" sz="3200">
                <a:latin typeface="Arial MT"/>
                <a:cs typeface="Arial MT"/>
              </a:rPr>
              <a:t> WelcomeActivity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use</a:t>
            </a:r>
            <a:r>
              <a:rPr dirty="0" sz="3200" spc="14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125">
                <a:latin typeface="Arial MT"/>
                <a:cs typeface="Arial MT"/>
              </a:rPr>
              <a:t> </a:t>
            </a:r>
            <a:r>
              <a:rPr dirty="0" sz="3200" spc="-15">
                <a:latin typeface="Arial MT"/>
                <a:cs typeface="Arial MT"/>
              </a:rPr>
              <a:t>two 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buttons </a:t>
            </a:r>
            <a:r>
              <a:rPr dirty="0" sz="3200">
                <a:latin typeface="Arial MT"/>
                <a:cs typeface="Arial MT"/>
              </a:rPr>
              <a:t>in </a:t>
            </a:r>
            <a:r>
              <a:rPr dirty="0" sz="3200" spc="-5">
                <a:latin typeface="Arial MT"/>
                <a:cs typeface="Arial MT"/>
              </a:rPr>
              <a:t>a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different </a:t>
            </a:r>
            <a:r>
              <a:rPr dirty="0" sz="3200" spc="-15">
                <a:latin typeface="Arial MT"/>
                <a:cs typeface="Arial MT"/>
              </a:rPr>
              <a:t>way </a:t>
            </a:r>
            <a:r>
              <a:rPr dirty="0" sz="3200">
                <a:latin typeface="Arial MT"/>
                <a:cs typeface="Arial MT"/>
              </a:rPr>
              <a:t>if </a:t>
            </a:r>
            <a:r>
              <a:rPr dirty="0" sz="3200" spc="-5">
                <a:latin typeface="Arial MT"/>
                <a:cs typeface="Arial MT"/>
              </a:rPr>
              <a:t>a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user identity </a:t>
            </a:r>
            <a:r>
              <a:rPr dirty="0" sz="3200">
                <a:latin typeface="Arial MT"/>
                <a:cs typeface="Arial MT"/>
              </a:rPr>
              <a:t>is 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stored locally, </a:t>
            </a:r>
            <a:r>
              <a:rPr dirty="0" sz="3200">
                <a:latin typeface="Arial MT"/>
                <a:cs typeface="Arial MT"/>
              </a:rPr>
              <a:t>so 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you</a:t>
            </a:r>
            <a:r>
              <a:rPr dirty="0" sz="3200" spc="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will show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this </a:t>
            </a:r>
            <a:r>
              <a:rPr dirty="0" sz="3200">
                <a:latin typeface="Arial MT"/>
                <a:cs typeface="Arial MT"/>
              </a:rPr>
              <a:t> view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instead: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899" y="1128712"/>
            <a:ext cx="3162299" cy="5378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2023-11-28T14:43:43Z</dcterms:created>
  <dcterms:modified xsi:type="dcterms:W3CDTF">2023-11-28T14:43:43Z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</Properties>
</file>