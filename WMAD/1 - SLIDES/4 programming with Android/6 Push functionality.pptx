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9144000" cy="6858000"/>
  <p:notesSz cx="9144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404040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404040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404040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Relationship Id="rId8" Type="http://schemas.openxmlformats.org/officeDocument/2006/relationships/image" Target="../media/image2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071622" y="297005"/>
            <a:ext cx="5786627" cy="692243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99872" y="429005"/>
            <a:ext cx="1783067" cy="499871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34148" y="-38322"/>
            <a:ext cx="7275703" cy="1245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404040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5940" y="1542819"/>
            <a:ext cx="8072119" cy="43783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0505" y="2811756"/>
            <a:ext cx="7143749" cy="159186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579302" y="879601"/>
            <a:ext cx="3948429" cy="148844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3200" spc="-5">
                <a:solidFill>
                  <a:srgbClr val="5C072C"/>
                </a:solidFill>
                <a:latin typeface="Arial"/>
                <a:cs typeface="Arial"/>
              </a:rPr>
              <a:t>Distributed</a:t>
            </a:r>
            <a:r>
              <a:rPr dirty="0" sz="3200" spc="-95">
                <a:solidFill>
                  <a:srgbClr val="5C072C"/>
                </a:solidFill>
                <a:latin typeface="Arial"/>
                <a:cs typeface="Arial"/>
              </a:rPr>
              <a:t> </a:t>
            </a:r>
            <a:r>
              <a:rPr dirty="0" sz="3200" spc="-5">
                <a:solidFill>
                  <a:srgbClr val="5C072C"/>
                </a:solidFill>
                <a:latin typeface="Arial"/>
                <a:cs typeface="Arial"/>
              </a:rPr>
              <a:t>Systems </a:t>
            </a:r>
            <a:r>
              <a:rPr dirty="0" sz="3200" spc="-875">
                <a:solidFill>
                  <a:srgbClr val="5C072C"/>
                </a:solidFill>
                <a:latin typeface="Arial"/>
                <a:cs typeface="Arial"/>
              </a:rPr>
              <a:t> </a:t>
            </a:r>
            <a:r>
              <a:rPr dirty="0" sz="3200" spc="-5">
                <a:solidFill>
                  <a:srgbClr val="5C072C"/>
                </a:solidFill>
                <a:latin typeface="Arial"/>
                <a:cs typeface="Arial"/>
              </a:rPr>
              <a:t>and Internet </a:t>
            </a:r>
            <a:r>
              <a:rPr dirty="0" sz="3200">
                <a:solidFill>
                  <a:srgbClr val="5C072C"/>
                </a:solidFill>
                <a:latin typeface="Arial"/>
                <a:cs typeface="Arial"/>
              </a:rPr>
              <a:t> </a:t>
            </a:r>
            <a:r>
              <a:rPr dirty="0" sz="3200" spc="-5">
                <a:solidFill>
                  <a:srgbClr val="5C072C"/>
                </a:solidFill>
                <a:latin typeface="Arial"/>
                <a:cs typeface="Arial"/>
              </a:rPr>
              <a:t>technologies</a:t>
            </a:r>
            <a:endParaRPr sz="32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14755" y="785621"/>
            <a:ext cx="2674619" cy="57149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14755" y="1500378"/>
            <a:ext cx="2642615" cy="74142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748186" y="3175190"/>
            <a:ext cx="5645785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 spc="-5" b="1">
                <a:solidFill>
                  <a:srgbClr val="404040"/>
                </a:solidFill>
                <a:latin typeface="Calibri"/>
                <a:cs typeface="Calibri"/>
              </a:rPr>
              <a:t>PUSH</a:t>
            </a:r>
            <a:r>
              <a:rPr dirty="0" sz="4800" spc="-65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4800" spc="-5" b="1">
                <a:solidFill>
                  <a:srgbClr val="404040"/>
                </a:solidFill>
                <a:latin typeface="Calibri"/>
                <a:cs typeface="Calibri"/>
              </a:rPr>
              <a:t>FUNCTIONALITY</a:t>
            </a:r>
            <a:endParaRPr sz="4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856833" y="5094414"/>
            <a:ext cx="3429635" cy="513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200" spc="-5">
                <a:latin typeface="Arial MT"/>
                <a:cs typeface="Arial MT"/>
              </a:rPr>
              <a:t>Juan</a:t>
            </a:r>
            <a:r>
              <a:rPr dirty="0" sz="3200" spc="-60">
                <a:latin typeface="Arial MT"/>
                <a:cs typeface="Arial MT"/>
              </a:rPr>
              <a:t> </a:t>
            </a:r>
            <a:r>
              <a:rPr dirty="0" sz="3200" spc="-5">
                <a:latin typeface="Arial MT"/>
                <a:cs typeface="Arial MT"/>
              </a:rPr>
              <a:t>Luis</a:t>
            </a:r>
            <a:r>
              <a:rPr dirty="0" sz="3200" spc="-40">
                <a:latin typeface="Arial MT"/>
                <a:cs typeface="Arial MT"/>
              </a:rPr>
              <a:t> </a:t>
            </a:r>
            <a:r>
              <a:rPr dirty="0" sz="3200" spc="-5">
                <a:latin typeface="Arial MT"/>
                <a:cs typeface="Arial MT"/>
              </a:rPr>
              <a:t>Gorricho</a:t>
            </a:r>
            <a:endParaRPr sz="3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18443" y="266477"/>
            <a:ext cx="1978025" cy="63563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EXE</a:t>
            </a:r>
            <a:r>
              <a:rPr dirty="0"/>
              <a:t>R</a:t>
            </a:r>
            <a:r>
              <a:rPr dirty="0" spc="-5"/>
              <a:t>CI</a:t>
            </a:r>
            <a:r>
              <a:rPr dirty="0" spc="-15"/>
              <a:t>S</a:t>
            </a:r>
            <a:r>
              <a:rPr dirty="0"/>
              <a:t>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79690"/>
            <a:ext cx="8030845" cy="4122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4965" marR="770890" indent="-342900">
              <a:lnSpc>
                <a:spcPct val="100000"/>
              </a:lnSpc>
              <a:spcBef>
                <a:spcPts val="95"/>
              </a:spcBef>
              <a:buClr>
                <a:srgbClr val="2C7BAC"/>
              </a:buClr>
              <a:buSzPct val="96875"/>
              <a:buFont typeface="Wingdings"/>
              <a:buChar char=""/>
              <a:tabLst>
                <a:tab pos="375285" algn="l"/>
              </a:tabLst>
            </a:pPr>
            <a:r>
              <a:rPr dirty="0" sz="3200" spc="-5">
                <a:latin typeface="Arial MT"/>
                <a:cs typeface="Arial MT"/>
              </a:rPr>
              <a:t>Modify the </a:t>
            </a:r>
            <a:r>
              <a:rPr dirty="0" sz="3200" spc="-10">
                <a:latin typeface="Arial MT"/>
                <a:cs typeface="Arial MT"/>
              </a:rPr>
              <a:t>programming of </a:t>
            </a:r>
            <a:r>
              <a:rPr dirty="0" sz="3200" spc="-5">
                <a:latin typeface="Arial MT"/>
                <a:cs typeface="Arial MT"/>
              </a:rPr>
              <a:t> </a:t>
            </a:r>
            <a:r>
              <a:rPr dirty="0" sz="3200" spc="-5" b="1">
                <a:latin typeface="Arial"/>
                <a:cs typeface="Arial"/>
              </a:rPr>
              <a:t>MessagesActivity</a:t>
            </a:r>
            <a:r>
              <a:rPr dirty="0" sz="3200" spc="-20" b="1">
                <a:latin typeface="Arial"/>
                <a:cs typeface="Arial"/>
              </a:rPr>
              <a:t> </a:t>
            </a:r>
            <a:r>
              <a:rPr dirty="0" sz="3200" spc="-5">
                <a:latin typeface="Arial MT"/>
                <a:cs typeface="Arial MT"/>
              </a:rPr>
              <a:t>to</a:t>
            </a:r>
            <a:r>
              <a:rPr dirty="0" sz="3200" spc="-30">
                <a:latin typeface="Arial MT"/>
                <a:cs typeface="Arial MT"/>
              </a:rPr>
              <a:t> </a:t>
            </a:r>
            <a:r>
              <a:rPr dirty="0" sz="3200" spc="-5">
                <a:latin typeface="Arial MT"/>
                <a:cs typeface="Arial MT"/>
              </a:rPr>
              <a:t>avoid</a:t>
            </a:r>
            <a:r>
              <a:rPr dirty="0" sz="3200" spc="-20">
                <a:latin typeface="Arial MT"/>
                <a:cs typeface="Arial MT"/>
              </a:rPr>
              <a:t> </a:t>
            </a:r>
            <a:r>
              <a:rPr dirty="0" sz="3200" spc="-5">
                <a:latin typeface="Arial MT"/>
                <a:cs typeface="Arial MT"/>
              </a:rPr>
              <a:t>the</a:t>
            </a:r>
            <a:r>
              <a:rPr dirty="0" sz="3200" spc="-20">
                <a:latin typeface="Arial MT"/>
                <a:cs typeface="Arial MT"/>
              </a:rPr>
              <a:t> </a:t>
            </a:r>
            <a:r>
              <a:rPr dirty="0" sz="3200" spc="-10">
                <a:latin typeface="Arial MT"/>
                <a:cs typeface="Arial MT"/>
              </a:rPr>
              <a:t>polling </a:t>
            </a:r>
            <a:r>
              <a:rPr dirty="0" sz="3200" spc="-869">
                <a:latin typeface="Arial MT"/>
                <a:cs typeface="Arial MT"/>
              </a:rPr>
              <a:t> </a:t>
            </a:r>
            <a:r>
              <a:rPr dirty="0" sz="3200" spc="-5">
                <a:latin typeface="Arial MT"/>
                <a:cs typeface="Arial MT"/>
              </a:rPr>
              <a:t>strategy</a:t>
            </a:r>
            <a:r>
              <a:rPr dirty="0" sz="3200" spc="-20">
                <a:latin typeface="Arial MT"/>
                <a:cs typeface="Arial MT"/>
              </a:rPr>
              <a:t> </a:t>
            </a:r>
            <a:r>
              <a:rPr dirty="0" sz="3200" spc="-5">
                <a:latin typeface="Arial MT"/>
                <a:cs typeface="Arial MT"/>
              </a:rPr>
              <a:t>requesting</a:t>
            </a:r>
            <a:r>
              <a:rPr dirty="0" sz="3200" spc="-25">
                <a:latin typeface="Arial MT"/>
                <a:cs typeface="Arial MT"/>
              </a:rPr>
              <a:t> </a:t>
            </a:r>
            <a:r>
              <a:rPr dirty="0" sz="3200" spc="-5">
                <a:latin typeface="Arial MT"/>
                <a:cs typeface="Arial MT"/>
              </a:rPr>
              <a:t>new</a:t>
            </a:r>
            <a:r>
              <a:rPr dirty="0" sz="3200" spc="-15">
                <a:latin typeface="Arial MT"/>
                <a:cs typeface="Arial MT"/>
              </a:rPr>
              <a:t> </a:t>
            </a:r>
            <a:r>
              <a:rPr dirty="0" sz="3200" spc="-5">
                <a:latin typeface="Arial MT"/>
                <a:cs typeface="Arial MT"/>
              </a:rPr>
              <a:t>messages.</a:t>
            </a:r>
            <a:endParaRPr sz="3200">
              <a:latin typeface="Arial MT"/>
              <a:cs typeface="Arial MT"/>
            </a:endParaRPr>
          </a:p>
          <a:p>
            <a:pPr marL="354965" marR="5080" indent="-342900">
              <a:lnSpc>
                <a:spcPct val="100000"/>
              </a:lnSpc>
              <a:spcBef>
                <a:spcPts val="770"/>
              </a:spcBef>
              <a:buClr>
                <a:srgbClr val="2C7BAC"/>
              </a:buClr>
              <a:buSzPct val="96875"/>
              <a:buFont typeface="Wingdings"/>
              <a:buChar char=""/>
              <a:tabLst>
                <a:tab pos="375285" algn="l"/>
              </a:tabLst>
            </a:pPr>
            <a:r>
              <a:rPr dirty="0" sz="3200" spc="-5">
                <a:latin typeface="Arial MT"/>
                <a:cs typeface="Arial MT"/>
              </a:rPr>
              <a:t>You must use the WebSockets </a:t>
            </a:r>
            <a:r>
              <a:rPr dirty="0" sz="3200" spc="-10">
                <a:latin typeface="Arial MT"/>
                <a:cs typeface="Arial MT"/>
              </a:rPr>
              <a:t>library as </a:t>
            </a:r>
            <a:r>
              <a:rPr dirty="0" sz="3200" spc="-5">
                <a:latin typeface="Arial MT"/>
                <a:cs typeface="Arial MT"/>
              </a:rPr>
              <a:t> you</a:t>
            </a:r>
            <a:r>
              <a:rPr dirty="0" sz="3200" spc="-25">
                <a:latin typeface="Arial MT"/>
                <a:cs typeface="Arial MT"/>
              </a:rPr>
              <a:t> </a:t>
            </a:r>
            <a:r>
              <a:rPr dirty="0" sz="3200" spc="-10">
                <a:latin typeface="Arial MT"/>
                <a:cs typeface="Arial MT"/>
              </a:rPr>
              <a:t>learned</a:t>
            </a:r>
            <a:r>
              <a:rPr dirty="0" sz="3200" spc="-15">
                <a:latin typeface="Arial MT"/>
                <a:cs typeface="Arial MT"/>
              </a:rPr>
              <a:t> </a:t>
            </a:r>
            <a:r>
              <a:rPr dirty="0" sz="3200" spc="-5">
                <a:latin typeface="Arial MT"/>
                <a:cs typeface="Arial MT"/>
              </a:rPr>
              <a:t>in the</a:t>
            </a:r>
            <a:r>
              <a:rPr dirty="0" sz="3200" spc="-20">
                <a:latin typeface="Arial MT"/>
                <a:cs typeface="Arial MT"/>
              </a:rPr>
              <a:t> </a:t>
            </a:r>
            <a:r>
              <a:rPr dirty="0" sz="3200" spc="-5">
                <a:latin typeface="Arial MT"/>
                <a:cs typeface="Arial MT"/>
              </a:rPr>
              <a:t>interactive</a:t>
            </a:r>
            <a:r>
              <a:rPr dirty="0" sz="3200" spc="-15">
                <a:latin typeface="Arial MT"/>
                <a:cs typeface="Arial MT"/>
              </a:rPr>
              <a:t> </a:t>
            </a:r>
            <a:r>
              <a:rPr dirty="0" sz="3200" spc="-5">
                <a:latin typeface="Arial MT"/>
                <a:cs typeface="Arial MT"/>
              </a:rPr>
              <a:t>services</a:t>
            </a:r>
            <a:r>
              <a:rPr dirty="0" sz="3200" spc="-10">
                <a:latin typeface="Arial MT"/>
                <a:cs typeface="Arial MT"/>
              </a:rPr>
              <a:t> </a:t>
            </a:r>
            <a:r>
              <a:rPr dirty="0" sz="3200" spc="-5">
                <a:latin typeface="Arial MT"/>
                <a:cs typeface="Arial MT"/>
              </a:rPr>
              <a:t>unit.</a:t>
            </a:r>
            <a:endParaRPr sz="3200">
              <a:latin typeface="Arial MT"/>
              <a:cs typeface="Arial MT"/>
            </a:endParaRPr>
          </a:p>
          <a:p>
            <a:pPr marL="354965" marR="301625" indent="-342900">
              <a:lnSpc>
                <a:spcPct val="100000"/>
              </a:lnSpc>
              <a:spcBef>
                <a:spcPts val="765"/>
              </a:spcBef>
              <a:buClr>
                <a:srgbClr val="2C7BAC"/>
              </a:buClr>
              <a:buSzPct val="96875"/>
              <a:buFont typeface="Wingdings"/>
              <a:buChar char=""/>
              <a:tabLst>
                <a:tab pos="375285" algn="l"/>
              </a:tabLst>
            </a:pPr>
            <a:r>
              <a:rPr dirty="0" sz="3200" spc="-5">
                <a:latin typeface="Arial MT"/>
                <a:cs typeface="Arial MT"/>
              </a:rPr>
              <a:t>For</a:t>
            </a:r>
            <a:r>
              <a:rPr dirty="0" sz="3200" spc="-25">
                <a:latin typeface="Arial MT"/>
                <a:cs typeface="Arial MT"/>
              </a:rPr>
              <a:t> </a:t>
            </a:r>
            <a:r>
              <a:rPr dirty="0" sz="3200" spc="-5">
                <a:latin typeface="Arial MT"/>
                <a:cs typeface="Arial MT"/>
              </a:rPr>
              <a:t>the</a:t>
            </a:r>
            <a:r>
              <a:rPr dirty="0" sz="3200" spc="-20">
                <a:latin typeface="Arial MT"/>
                <a:cs typeface="Arial MT"/>
              </a:rPr>
              <a:t> </a:t>
            </a:r>
            <a:r>
              <a:rPr dirty="0" sz="3200" spc="-5">
                <a:latin typeface="Arial MT"/>
                <a:cs typeface="Arial MT"/>
              </a:rPr>
              <a:t>Android app.</a:t>
            </a:r>
            <a:r>
              <a:rPr dirty="0" sz="3200" spc="-20">
                <a:latin typeface="Arial MT"/>
                <a:cs typeface="Arial MT"/>
              </a:rPr>
              <a:t> </a:t>
            </a:r>
            <a:r>
              <a:rPr dirty="0" sz="3200" spc="-5">
                <a:latin typeface="Arial MT"/>
                <a:cs typeface="Arial MT"/>
              </a:rPr>
              <a:t>you</a:t>
            </a:r>
            <a:r>
              <a:rPr dirty="0" sz="3200" spc="-20">
                <a:latin typeface="Arial MT"/>
                <a:cs typeface="Arial MT"/>
              </a:rPr>
              <a:t> </a:t>
            </a:r>
            <a:r>
              <a:rPr dirty="0" sz="3200" spc="-5">
                <a:latin typeface="Arial MT"/>
                <a:cs typeface="Arial MT"/>
              </a:rPr>
              <a:t>have</a:t>
            </a:r>
            <a:r>
              <a:rPr dirty="0" sz="3200" spc="-20">
                <a:latin typeface="Arial MT"/>
                <a:cs typeface="Arial MT"/>
              </a:rPr>
              <a:t> </a:t>
            </a:r>
            <a:r>
              <a:rPr dirty="0" sz="3200" spc="-5">
                <a:latin typeface="Arial MT"/>
                <a:cs typeface="Arial MT"/>
              </a:rPr>
              <a:t>to</a:t>
            </a:r>
            <a:r>
              <a:rPr dirty="0" sz="3200" spc="-15">
                <a:latin typeface="Arial MT"/>
                <a:cs typeface="Arial MT"/>
              </a:rPr>
              <a:t> </a:t>
            </a:r>
            <a:r>
              <a:rPr dirty="0" sz="3200" spc="-5">
                <a:latin typeface="Arial MT"/>
                <a:cs typeface="Arial MT"/>
              </a:rPr>
              <a:t>use</a:t>
            </a:r>
            <a:r>
              <a:rPr dirty="0" sz="3200" spc="-25">
                <a:latin typeface="Arial MT"/>
                <a:cs typeface="Arial MT"/>
              </a:rPr>
              <a:t> </a:t>
            </a:r>
            <a:r>
              <a:rPr dirty="0" sz="3200" spc="-10">
                <a:latin typeface="Arial MT"/>
                <a:cs typeface="Arial MT"/>
              </a:rPr>
              <a:t>the </a:t>
            </a:r>
            <a:r>
              <a:rPr dirty="0" sz="3200" spc="-869">
                <a:latin typeface="Arial MT"/>
                <a:cs typeface="Arial MT"/>
              </a:rPr>
              <a:t> </a:t>
            </a:r>
            <a:r>
              <a:rPr dirty="0" sz="3200" spc="-5">
                <a:latin typeface="Arial MT"/>
                <a:cs typeface="Arial MT"/>
              </a:rPr>
              <a:t>library: tyrus-standalone-client-1.3.3, </a:t>
            </a:r>
            <a:r>
              <a:rPr dirty="0" sz="3200" spc="-10">
                <a:latin typeface="Arial MT"/>
                <a:cs typeface="Arial MT"/>
              </a:rPr>
              <a:t>as </a:t>
            </a:r>
            <a:r>
              <a:rPr dirty="0" sz="3200" spc="-5">
                <a:latin typeface="Arial MT"/>
                <a:cs typeface="Arial MT"/>
              </a:rPr>
              <a:t> summarized</a:t>
            </a:r>
            <a:r>
              <a:rPr dirty="0" sz="3200" spc="-25">
                <a:latin typeface="Arial MT"/>
                <a:cs typeface="Arial MT"/>
              </a:rPr>
              <a:t> </a:t>
            </a:r>
            <a:r>
              <a:rPr dirty="0" sz="3200" spc="-5">
                <a:latin typeface="Arial MT"/>
                <a:cs typeface="Arial MT"/>
              </a:rPr>
              <a:t>on</a:t>
            </a:r>
            <a:r>
              <a:rPr dirty="0" sz="3200" spc="-15">
                <a:latin typeface="Arial MT"/>
                <a:cs typeface="Arial MT"/>
              </a:rPr>
              <a:t> </a:t>
            </a:r>
            <a:r>
              <a:rPr dirty="0" sz="3200" spc="-5">
                <a:latin typeface="Arial MT"/>
                <a:cs typeface="Arial MT"/>
              </a:rPr>
              <a:t>the</a:t>
            </a:r>
            <a:r>
              <a:rPr dirty="0" sz="3200" spc="-20">
                <a:latin typeface="Arial MT"/>
                <a:cs typeface="Arial MT"/>
              </a:rPr>
              <a:t> </a:t>
            </a:r>
            <a:r>
              <a:rPr dirty="0" sz="3200" spc="-5">
                <a:latin typeface="Arial MT"/>
                <a:cs typeface="Arial MT"/>
              </a:rPr>
              <a:t>following</a:t>
            </a:r>
            <a:r>
              <a:rPr dirty="0" sz="3200">
                <a:latin typeface="Arial MT"/>
                <a:cs typeface="Arial MT"/>
              </a:rPr>
              <a:t> </a:t>
            </a:r>
            <a:r>
              <a:rPr dirty="0" sz="3200" spc="-5">
                <a:latin typeface="Arial MT"/>
                <a:cs typeface="Arial MT"/>
              </a:rPr>
              <a:t>slides.</a:t>
            </a:r>
            <a:endParaRPr sz="3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441700" marR="5080" indent="-960119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PROGRAMMING</a:t>
            </a:r>
            <a:r>
              <a:rPr dirty="0" spc="-70"/>
              <a:t> </a:t>
            </a:r>
            <a:r>
              <a:rPr dirty="0" spc="-5"/>
              <a:t>WITH </a:t>
            </a:r>
            <a:r>
              <a:rPr dirty="0" spc="-890"/>
              <a:t> </a:t>
            </a:r>
            <a:r>
              <a:rPr dirty="0" spc="-5"/>
              <a:t>WEBSOCKETS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33969"/>
            <a:ext cx="6419215" cy="41935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2C7BAC"/>
              </a:buClr>
              <a:buSzPct val="96666"/>
              <a:buFont typeface="Wingdings"/>
              <a:buChar char=""/>
              <a:tabLst>
                <a:tab pos="355600" algn="l"/>
              </a:tabLst>
            </a:pPr>
            <a:r>
              <a:rPr dirty="0" sz="3000" spc="-5">
                <a:latin typeface="Arial MT"/>
                <a:cs typeface="Arial MT"/>
              </a:rPr>
              <a:t>Snippet</a:t>
            </a:r>
            <a:r>
              <a:rPr dirty="0" sz="3000" spc="-30">
                <a:latin typeface="Arial MT"/>
                <a:cs typeface="Arial MT"/>
              </a:rPr>
              <a:t> </a:t>
            </a:r>
            <a:r>
              <a:rPr dirty="0" sz="3000" spc="-5">
                <a:latin typeface="Arial MT"/>
                <a:cs typeface="Arial MT"/>
              </a:rPr>
              <a:t>of </a:t>
            </a:r>
            <a:r>
              <a:rPr dirty="0" sz="3000">
                <a:latin typeface="Arial MT"/>
                <a:cs typeface="Arial MT"/>
              </a:rPr>
              <a:t>code</a:t>
            </a:r>
            <a:r>
              <a:rPr dirty="0" sz="3000" spc="-35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for</a:t>
            </a:r>
            <a:r>
              <a:rPr dirty="0" sz="3000" spc="-10">
                <a:latin typeface="Arial MT"/>
                <a:cs typeface="Arial MT"/>
              </a:rPr>
              <a:t> </a:t>
            </a:r>
            <a:r>
              <a:rPr dirty="0" sz="3000" spc="-5">
                <a:latin typeface="Arial MT"/>
                <a:cs typeface="Arial MT"/>
              </a:rPr>
              <a:t>Android</a:t>
            </a:r>
            <a:r>
              <a:rPr dirty="0" sz="3000" spc="-25">
                <a:latin typeface="Arial MT"/>
                <a:cs typeface="Arial MT"/>
              </a:rPr>
              <a:t> </a:t>
            </a:r>
            <a:r>
              <a:rPr dirty="0" sz="3000" spc="-5">
                <a:latin typeface="Arial MT"/>
                <a:cs typeface="Arial MT"/>
              </a:rPr>
              <a:t>client:</a:t>
            </a:r>
            <a:endParaRPr sz="3000">
              <a:latin typeface="Arial MT"/>
              <a:cs typeface="Arial MT"/>
            </a:endParaRPr>
          </a:p>
          <a:p>
            <a:pPr marL="711200" marR="2914650" indent="-241935">
              <a:lnSpc>
                <a:spcPct val="110000"/>
              </a:lnSpc>
              <a:spcBef>
                <a:spcPts val="2285"/>
              </a:spcBef>
            </a:pPr>
            <a:r>
              <a:rPr dirty="0" sz="1700" spc="-5">
                <a:latin typeface="Arial MT"/>
                <a:cs typeface="Arial MT"/>
              </a:rPr>
              <a:t>private void connectToServer(){ </a:t>
            </a:r>
            <a:r>
              <a:rPr dirty="0" sz="1700" spc="-459">
                <a:latin typeface="Arial MT"/>
                <a:cs typeface="Arial MT"/>
              </a:rPr>
              <a:t> </a:t>
            </a:r>
            <a:r>
              <a:rPr dirty="0" sz="1700" spc="-5">
                <a:latin typeface="Arial MT"/>
                <a:cs typeface="Arial MT"/>
              </a:rPr>
              <a:t>try</a:t>
            </a:r>
            <a:r>
              <a:rPr dirty="0" sz="1700" spc="-10">
                <a:latin typeface="Arial MT"/>
                <a:cs typeface="Arial MT"/>
              </a:rPr>
              <a:t> </a:t>
            </a:r>
            <a:r>
              <a:rPr dirty="0" sz="1700" spc="-5">
                <a:latin typeface="Arial MT"/>
                <a:cs typeface="Arial MT"/>
              </a:rPr>
              <a:t>{</a:t>
            </a:r>
            <a:endParaRPr sz="1700">
              <a:latin typeface="Arial MT"/>
              <a:cs typeface="Arial MT"/>
            </a:endParaRPr>
          </a:p>
          <a:p>
            <a:pPr marL="831215">
              <a:lnSpc>
                <a:spcPct val="100000"/>
              </a:lnSpc>
              <a:spcBef>
                <a:spcPts val="200"/>
              </a:spcBef>
            </a:pPr>
            <a:r>
              <a:rPr dirty="0" sz="1700" spc="-5">
                <a:latin typeface="Arial MT"/>
                <a:cs typeface="Arial MT"/>
              </a:rPr>
              <a:t>ClientManager</a:t>
            </a:r>
            <a:r>
              <a:rPr dirty="0" sz="1700" spc="25">
                <a:latin typeface="Arial MT"/>
                <a:cs typeface="Arial MT"/>
              </a:rPr>
              <a:t> </a:t>
            </a:r>
            <a:r>
              <a:rPr dirty="0" sz="1700" spc="-5">
                <a:latin typeface="Arial MT"/>
                <a:cs typeface="Arial MT"/>
              </a:rPr>
              <a:t>client</a:t>
            </a:r>
            <a:r>
              <a:rPr dirty="0" sz="1700" spc="15">
                <a:latin typeface="Arial MT"/>
                <a:cs typeface="Arial MT"/>
              </a:rPr>
              <a:t> </a:t>
            </a:r>
            <a:r>
              <a:rPr dirty="0" sz="1700" spc="-5">
                <a:latin typeface="Arial MT"/>
                <a:cs typeface="Arial MT"/>
              </a:rPr>
              <a:t>=</a:t>
            </a:r>
            <a:r>
              <a:rPr dirty="0" sz="1700">
                <a:latin typeface="Arial MT"/>
                <a:cs typeface="Arial MT"/>
              </a:rPr>
              <a:t> </a:t>
            </a:r>
            <a:r>
              <a:rPr dirty="0" sz="1700" spc="-5">
                <a:latin typeface="Arial MT"/>
                <a:cs typeface="Arial MT"/>
              </a:rPr>
              <a:t>ClientManager.createClient();</a:t>
            </a:r>
            <a:endParaRPr sz="17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950">
              <a:latin typeface="Arial MT"/>
              <a:cs typeface="Arial MT"/>
            </a:endParaRPr>
          </a:p>
          <a:p>
            <a:pPr marL="951865" marR="5080" indent="-120650">
              <a:lnSpc>
                <a:spcPct val="110000"/>
              </a:lnSpc>
            </a:pPr>
            <a:r>
              <a:rPr dirty="0" sz="1700" spc="-5">
                <a:latin typeface="Arial MT"/>
                <a:cs typeface="Arial MT"/>
              </a:rPr>
              <a:t>client.connectToServer(new</a:t>
            </a:r>
            <a:r>
              <a:rPr dirty="0" sz="1700" spc="20">
                <a:latin typeface="Arial MT"/>
                <a:cs typeface="Arial MT"/>
              </a:rPr>
              <a:t> </a:t>
            </a:r>
            <a:r>
              <a:rPr dirty="0" sz="1700" spc="-5">
                <a:latin typeface="Arial MT"/>
                <a:cs typeface="Arial MT"/>
              </a:rPr>
              <a:t>MyEndPoint(), </a:t>
            </a:r>
            <a:r>
              <a:rPr dirty="0" sz="1700">
                <a:latin typeface="Arial MT"/>
                <a:cs typeface="Arial MT"/>
              </a:rPr>
              <a:t> </a:t>
            </a:r>
            <a:r>
              <a:rPr dirty="0" sz="1700" spc="-5">
                <a:latin typeface="Arial MT"/>
                <a:cs typeface="Arial MT"/>
              </a:rPr>
              <a:t>ClientEndpointConfig.Builder.create().build(), </a:t>
            </a:r>
            <a:r>
              <a:rPr dirty="0" sz="1700">
                <a:latin typeface="Arial MT"/>
                <a:cs typeface="Arial MT"/>
              </a:rPr>
              <a:t> </a:t>
            </a:r>
            <a:r>
              <a:rPr dirty="0" sz="1700" spc="-5">
                <a:latin typeface="Arial MT"/>
                <a:cs typeface="Arial MT"/>
              </a:rPr>
              <a:t>URI.create("ws://10.0.2.2:8080/WhatsAppServer/push"));</a:t>
            </a:r>
            <a:endParaRPr sz="1700">
              <a:latin typeface="Arial MT"/>
              <a:cs typeface="Arial MT"/>
            </a:endParaRPr>
          </a:p>
          <a:p>
            <a:pPr marL="711200">
              <a:lnSpc>
                <a:spcPct val="100000"/>
              </a:lnSpc>
              <a:spcBef>
                <a:spcPts val="204"/>
              </a:spcBef>
            </a:pPr>
            <a:r>
              <a:rPr dirty="0" sz="1700" spc="-5">
                <a:latin typeface="Arial MT"/>
                <a:cs typeface="Arial MT"/>
              </a:rPr>
              <a:t>}</a:t>
            </a:r>
            <a:endParaRPr sz="1700">
              <a:latin typeface="Arial MT"/>
              <a:cs typeface="Arial MT"/>
            </a:endParaRPr>
          </a:p>
          <a:p>
            <a:pPr marL="831850" marR="1666875" indent="-120650">
              <a:lnSpc>
                <a:spcPct val="110000"/>
              </a:lnSpc>
            </a:pPr>
            <a:r>
              <a:rPr dirty="0" sz="1700" spc="-5">
                <a:latin typeface="Arial MT"/>
                <a:cs typeface="Arial MT"/>
              </a:rPr>
              <a:t>catch</a:t>
            </a:r>
            <a:r>
              <a:rPr dirty="0" sz="1700" spc="5">
                <a:latin typeface="Arial MT"/>
                <a:cs typeface="Arial MT"/>
              </a:rPr>
              <a:t> </a:t>
            </a:r>
            <a:r>
              <a:rPr dirty="0" sz="1700" spc="-5">
                <a:latin typeface="Arial MT"/>
                <a:cs typeface="Arial MT"/>
              </a:rPr>
              <a:t>(Exception</a:t>
            </a:r>
            <a:r>
              <a:rPr dirty="0" sz="1700" spc="25">
                <a:latin typeface="Arial MT"/>
                <a:cs typeface="Arial MT"/>
              </a:rPr>
              <a:t> </a:t>
            </a:r>
            <a:r>
              <a:rPr dirty="0" sz="1700" spc="-5">
                <a:latin typeface="Arial MT"/>
                <a:cs typeface="Arial MT"/>
              </a:rPr>
              <a:t>e)</a:t>
            </a:r>
            <a:r>
              <a:rPr dirty="0" sz="1700" spc="5">
                <a:latin typeface="Arial MT"/>
                <a:cs typeface="Arial MT"/>
              </a:rPr>
              <a:t> </a:t>
            </a:r>
            <a:r>
              <a:rPr dirty="0" sz="1700" spc="-5">
                <a:latin typeface="Arial MT"/>
                <a:cs typeface="Arial MT"/>
              </a:rPr>
              <a:t>{ </a:t>
            </a:r>
            <a:r>
              <a:rPr dirty="0" sz="1700">
                <a:latin typeface="Arial MT"/>
                <a:cs typeface="Arial MT"/>
              </a:rPr>
              <a:t> </a:t>
            </a:r>
            <a:r>
              <a:rPr dirty="0" sz="1700" spc="-5">
                <a:latin typeface="Arial MT"/>
                <a:cs typeface="Arial MT"/>
              </a:rPr>
              <a:t>Log.e("WebSocketService",</a:t>
            </a:r>
            <a:r>
              <a:rPr dirty="0" sz="1700" spc="15">
                <a:latin typeface="Arial MT"/>
                <a:cs typeface="Arial MT"/>
              </a:rPr>
              <a:t> </a:t>
            </a:r>
            <a:r>
              <a:rPr dirty="0" sz="1700" spc="-5">
                <a:latin typeface="Arial MT"/>
                <a:cs typeface="Arial MT"/>
              </a:rPr>
              <a:t>e.toString());</a:t>
            </a:r>
            <a:endParaRPr sz="1700">
              <a:latin typeface="Arial MT"/>
              <a:cs typeface="Arial MT"/>
            </a:endParaRPr>
          </a:p>
          <a:p>
            <a:pPr marL="711200">
              <a:lnSpc>
                <a:spcPct val="100000"/>
              </a:lnSpc>
              <a:spcBef>
                <a:spcPts val="204"/>
              </a:spcBef>
            </a:pPr>
            <a:r>
              <a:rPr dirty="0" sz="1700" spc="-5">
                <a:latin typeface="Arial MT"/>
                <a:cs typeface="Arial MT"/>
              </a:rPr>
              <a:t>}</a:t>
            </a:r>
            <a:endParaRPr sz="1700">
              <a:latin typeface="Arial MT"/>
              <a:cs typeface="Arial MT"/>
            </a:endParaRPr>
          </a:p>
          <a:p>
            <a:pPr marL="589915">
              <a:lnSpc>
                <a:spcPct val="100000"/>
              </a:lnSpc>
              <a:spcBef>
                <a:spcPts val="204"/>
              </a:spcBef>
            </a:pPr>
            <a:r>
              <a:rPr dirty="0" sz="1700" spc="-5">
                <a:latin typeface="Arial MT"/>
                <a:cs typeface="Arial MT"/>
              </a:rPr>
              <a:t>}</a:t>
            </a:r>
            <a:endParaRPr sz="17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441700" marR="5080" indent="-960119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PROGRAMMING</a:t>
            </a:r>
            <a:r>
              <a:rPr dirty="0" spc="-70"/>
              <a:t> </a:t>
            </a:r>
            <a:r>
              <a:rPr dirty="0" spc="-5"/>
              <a:t>WITH </a:t>
            </a:r>
            <a:r>
              <a:rPr dirty="0" spc="-890"/>
              <a:t> </a:t>
            </a:r>
            <a:r>
              <a:rPr dirty="0" spc="-5"/>
              <a:t>WEBSOCKETS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42819"/>
            <a:ext cx="6124575" cy="43783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07975" marR="2652395" indent="-295910">
              <a:lnSpc>
                <a:spcPct val="120000"/>
              </a:lnSpc>
              <a:spcBef>
                <a:spcPts val="100"/>
              </a:spcBef>
            </a:pPr>
            <a:r>
              <a:rPr dirty="0" sz="1400" spc="-5">
                <a:latin typeface="Arial MT"/>
                <a:cs typeface="Arial MT"/>
              </a:rPr>
              <a:t>public class MyEndPoint extends Endpoint { </a:t>
            </a:r>
            <a:r>
              <a:rPr dirty="0" sz="1400" spc="-37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@Override</a:t>
            </a:r>
            <a:endParaRPr sz="1400">
              <a:latin typeface="Arial MT"/>
              <a:cs typeface="Arial MT"/>
            </a:endParaRPr>
          </a:p>
          <a:p>
            <a:pPr marL="602615" marR="5080" indent="-295275">
              <a:lnSpc>
                <a:spcPct val="120000"/>
              </a:lnSpc>
            </a:pPr>
            <a:r>
              <a:rPr dirty="0" sz="1400" spc="-5">
                <a:latin typeface="Arial MT"/>
                <a:cs typeface="Arial MT"/>
              </a:rPr>
              <a:t>public void onOpen(Session session, EndpointConfig EndpointConfig) { </a:t>
            </a:r>
            <a:r>
              <a:rPr dirty="0" sz="140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session.addMessageHandler(new MessageHandler.Whole&lt;String&gt;() { </a:t>
            </a:r>
            <a:r>
              <a:rPr dirty="0" sz="1400" spc="-37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@Override</a:t>
            </a:r>
            <a:endParaRPr sz="1400">
              <a:latin typeface="Arial MT"/>
              <a:cs typeface="Arial MT"/>
            </a:endParaRPr>
          </a:p>
          <a:p>
            <a:pPr marL="602615">
              <a:lnSpc>
                <a:spcPct val="100000"/>
              </a:lnSpc>
              <a:spcBef>
                <a:spcPts val="335"/>
              </a:spcBef>
            </a:pPr>
            <a:r>
              <a:rPr dirty="0" sz="1400" spc="-5">
                <a:latin typeface="Arial MT"/>
                <a:cs typeface="Arial MT"/>
              </a:rPr>
              <a:t>public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void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onMessage(String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message)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{</a:t>
            </a:r>
            <a:r>
              <a:rPr dirty="0" sz="140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...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}</a:t>
            </a:r>
            <a:r>
              <a:rPr dirty="0" sz="1400" spc="39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});</a:t>
            </a:r>
            <a:endParaRPr sz="1400">
              <a:latin typeface="Arial MT"/>
              <a:cs typeface="Arial MT"/>
            </a:endParaRPr>
          </a:p>
          <a:p>
            <a:pPr marL="617220">
              <a:lnSpc>
                <a:spcPct val="100000"/>
              </a:lnSpc>
              <a:spcBef>
                <a:spcPts val="335"/>
              </a:spcBef>
            </a:pPr>
            <a:r>
              <a:rPr dirty="0" sz="1400" spc="-5">
                <a:latin typeface="Arial MT"/>
                <a:cs typeface="Arial MT"/>
              </a:rPr>
              <a:t>...</a:t>
            </a:r>
            <a:endParaRPr sz="1400">
              <a:latin typeface="Arial MT"/>
              <a:cs typeface="Arial MT"/>
            </a:endParaRPr>
          </a:p>
          <a:p>
            <a:pPr marL="307975">
              <a:lnSpc>
                <a:spcPct val="100000"/>
              </a:lnSpc>
              <a:spcBef>
                <a:spcPts val="335"/>
              </a:spcBef>
            </a:pPr>
            <a:r>
              <a:rPr dirty="0" sz="1400" spc="-5">
                <a:latin typeface="Arial MT"/>
                <a:cs typeface="Arial MT"/>
              </a:rPr>
              <a:t>}</a:t>
            </a:r>
            <a:endParaRPr sz="1400">
              <a:latin typeface="Arial MT"/>
              <a:cs typeface="Arial MT"/>
            </a:endParaRPr>
          </a:p>
          <a:p>
            <a:pPr marL="307975">
              <a:lnSpc>
                <a:spcPct val="100000"/>
              </a:lnSpc>
              <a:spcBef>
                <a:spcPts val="335"/>
              </a:spcBef>
            </a:pPr>
            <a:r>
              <a:rPr dirty="0" sz="1400" spc="-5">
                <a:latin typeface="Arial MT"/>
                <a:cs typeface="Arial MT"/>
              </a:rPr>
              <a:t>@Override</a:t>
            </a:r>
            <a:endParaRPr sz="1400">
              <a:latin typeface="Arial MT"/>
              <a:cs typeface="Arial MT"/>
            </a:endParaRPr>
          </a:p>
          <a:p>
            <a:pPr marL="307975">
              <a:lnSpc>
                <a:spcPct val="100000"/>
              </a:lnSpc>
              <a:spcBef>
                <a:spcPts val="340"/>
              </a:spcBef>
            </a:pPr>
            <a:r>
              <a:rPr dirty="0" sz="1400" spc="-5">
                <a:latin typeface="Arial MT"/>
                <a:cs typeface="Arial MT"/>
              </a:rPr>
              <a:t>public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void onError(Session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session,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Throwable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t)</a:t>
            </a:r>
            <a:r>
              <a:rPr dirty="0" sz="140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{</a:t>
            </a:r>
            <a:endParaRPr sz="1400">
              <a:latin typeface="Arial MT"/>
              <a:cs typeface="Arial MT"/>
            </a:endParaRPr>
          </a:p>
          <a:p>
            <a:pPr marL="406400">
              <a:lnSpc>
                <a:spcPct val="100000"/>
              </a:lnSpc>
              <a:spcBef>
                <a:spcPts val="335"/>
              </a:spcBef>
            </a:pPr>
            <a:r>
              <a:rPr dirty="0" sz="1400" spc="-5">
                <a:latin typeface="Arial MT"/>
                <a:cs typeface="Arial MT"/>
              </a:rPr>
              <a:t>...</a:t>
            </a:r>
            <a:endParaRPr sz="1400">
              <a:latin typeface="Arial MT"/>
              <a:cs typeface="Arial MT"/>
            </a:endParaRPr>
          </a:p>
          <a:p>
            <a:pPr marL="307975">
              <a:lnSpc>
                <a:spcPct val="100000"/>
              </a:lnSpc>
              <a:spcBef>
                <a:spcPts val="335"/>
              </a:spcBef>
            </a:pPr>
            <a:r>
              <a:rPr dirty="0" sz="1400" spc="-5">
                <a:latin typeface="Arial MT"/>
                <a:cs typeface="Arial MT"/>
              </a:rPr>
              <a:t>}</a:t>
            </a:r>
            <a:endParaRPr sz="1400">
              <a:latin typeface="Arial MT"/>
              <a:cs typeface="Arial MT"/>
            </a:endParaRPr>
          </a:p>
          <a:p>
            <a:pPr marL="307975">
              <a:lnSpc>
                <a:spcPct val="100000"/>
              </a:lnSpc>
              <a:spcBef>
                <a:spcPts val="335"/>
              </a:spcBef>
            </a:pPr>
            <a:r>
              <a:rPr dirty="0" sz="1400" spc="-5">
                <a:latin typeface="Arial MT"/>
                <a:cs typeface="Arial MT"/>
              </a:rPr>
              <a:t>@Override</a:t>
            </a:r>
            <a:endParaRPr sz="1400">
              <a:latin typeface="Arial MT"/>
              <a:cs typeface="Arial MT"/>
            </a:endParaRPr>
          </a:p>
          <a:p>
            <a:pPr marL="307975">
              <a:lnSpc>
                <a:spcPct val="100000"/>
              </a:lnSpc>
              <a:spcBef>
                <a:spcPts val="335"/>
              </a:spcBef>
            </a:pPr>
            <a:r>
              <a:rPr dirty="0" sz="1400" spc="-5">
                <a:latin typeface="Arial MT"/>
                <a:cs typeface="Arial MT"/>
              </a:rPr>
              <a:t>public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void</a:t>
            </a:r>
            <a:r>
              <a:rPr dirty="0" sz="140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onClose(Session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session,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CloseReason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closeReason)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{</a:t>
            </a:r>
            <a:endParaRPr sz="1400">
              <a:latin typeface="Arial MT"/>
              <a:cs typeface="Arial MT"/>
            </a:endParaRPr>
          </a:p>
          <a:p>
            <a:pPr marL="406400">
              <a:lnSpc>
                <a:spcPct val="100000"/>
              </a:lnSpc>
              <a:spcBef>
                <a:spcPts val="340"/>
              </a:spcBef>
            </a:pPr>
            <a:r>
              <a:rPr dirty="0" sz="1400" spc="-5">
                <a:latin typeface="Arial MT"/>
                <a:cs typeface="Arial MT"/>
              </a:rPr>
              <a:t>...</a:t>
            </a:r>
            <a:endParaRPr sz="1400">
              <a:latin typeface="Arial MT"/>
              <a:cs typeface="Arial MT"/>
            </a:endParaRPr>
          </a:p>
          <a:p>
            <a:pPr marL="307975">
              <a:lnSpc>
                <a:spcPct val="100000"/>
              </a:lnSpc>
              <a:spcBef>
                <a:spcPts val="335"/>
              </a:spcBef>
            </a:pPr>
            <a:r>
              <a:rPr dirty="0" sz="1400" spc="-5">
                <a:latin typeface="Arial MT"/>
                <a:cs typeface="Arial MT"/>
              </a:rPr>
              <a:t>}</a:t>
            </a:r>
            <a:endParaRPr sz="1400">
              <a:latin typeface="Arial MT"/>
              <a:cs typeface="Arial MT"/>
            </a:endParaRPr>
          </a:p>
          <a:p>
            <a:pPr marL="208915">
              <a:lnSpc>
                <a:spcPct val="100000"/>
              </a:lnSpc>
              <a:spcBef>
                <a:spcPts val="335"/>
              </a:spcBef>
            </a:pPr>
            <a:r>
              <a:rPr dirty="0" sz="1400" spc="-5">
                <a:latin typeface="Arial MT"/>
                <a:cs typeface="Arial MT"/>
              </a:rPr>
              <a:t>}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Jesús Alonso</dc:creator>
  <dc:title>PROGRAMA DE POSTGRAU DE DISSENY I CREACIÓ DE VIDEOJOCS</dc:title>
  <dcterms:created xsi:type="dcterms:W3CDTF">2023-11-28T14:41:49Z</dcterms:created>
  <dcterms:modified xsi:type="dcterms:W3CDTF">2023-11-28T14:41:49Z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2023-11-24T00:00:00Z</vt:filetime>
  </property>
  <property fmtid="{D5CDD505-2E9C-101B-9397-08002B2CF9AE}" pid="3" name="Creator">
    <vt:lpwstr>Acrobat PDFMaker 22 for PowerPoint</vt:lpwstr>
  </property>
  <property fmtid="{D5CDD505-2E9C-101B-9397-08002B2CF9AE}" pid="4" name="LastSaved">
    <vt:filetime>2023-11-28T00:00:00Z</vt:filetime>
  </property>
</Properties>
</file>